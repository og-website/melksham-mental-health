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29</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Financial Stress and Mental Health</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Financial stress and mental health problems are closely intertwined, with each making the other worse. This module explores how money problems trigger anxiety and depression, how mental health problems affect financial management, and the practical and psychological support available to help people regain control.</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Understand the bidirectional relationship between financial stress and mental health</a:t>
            </a:r>
          </a:p>
          <a:p>
            <a:pPr>
              <a:spcBef>
                <a:spcPts val="400"/>
              </a:spcBef>
            </a:pPr>
            <a:r>
              <a:rPr sz="1700">
                <a:solidFill>
                  <a:srgbClr val="F0F0F0"/>
                </a:solidFill>
              </a:rPr>
              <a:t>• Identify how mental health problems affect financial management</a:t>
            </a:r>
          </a:p>
          <a:p>
            <a:pPr>
              <a:spcBef>
                <a:spcPts val="400"/>
              </a:spcBef>
            </a:pPr>
            <a:r>
              <a:rPr sz="1700">
                <a:solidFill>
                  <a:srgbClr val="F0F0F0"/>
                </a:solidFill>
              </a:rPr>
              <a:t>• Recognise the signs of financial stress and its impact on wellbeing</a:t>
            </a:r>
          </a:p>
          <a:p>
            <a:pPr>
              <a:spcBef>
                <a:spcPts val="400"/>
              </a:spcBef>
            </a:pPr>
            <a:r>
              <a:rPr sz="1700">
                <a:solidFill>
                  <a:srgbClr val="F0F0F0"/>
                </a:solidFill>
              </a:rPr>
              <a:t>• Explore evidence-based interventions: debt counselling, benefits advice, CBT</a:t>
            </a:r>
          </a:p>
          <a:p>
            <a:pPr>
              <a:spcBef>
                <a:spcPts val="400"/>
              </a:spcBef>
            </a:pPr>
            <a:r>
              <a:rPr sz="1700">
                <a:solidFill>
                  <a:srgbClr val="F0F0F0"/>
                </a:solidFill>
              </a:rPr>
              <a:t>• Develop skills for supporting someone experiencing financial stress</a:t>
            </a:r>
          </a:p>
          <a:p>
            <a:pPr>
              <a:spcBef>
                <a:spcPts val="400"/>
              </a:spcBef>
            </a:pPr>
            <a:r>
              <a:rPr sz="1700">
                <a:solidFill>
                  <a:srgbClr val="F0F0F0"/>
                </a:solidFill>
              </a:rPr>
              <a:t>• Know the financial support resources available in Wiltshire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29: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Financial stress: anxiety, panic and depression triggered by money problems</a:t>
            </a:r>
          </a:p>
          <a:p>
            <a:pPr>
              <a:spcBef>
                <a:spcPts val="400"/>
              </a:spcBef>
            </a:pPr>
            <a:r>
              <a:rPr sz="1700">
                <a:solidFill>
                  <a:srgbClr val="F0F0F0"/>
                </a:solidFill>
              </a:rPr>
              <a:t>• Mental health and money: how mental illness affects spending, saving and debt</a:t>
            </a:r>
          </a:p>
          <a:p>
            <a:pPr>
              <a:spcBef>
                <a:spcPts val="400"/>
              </a:spcBef>
            </a:pPr>
            <a:r>
              <a:rPr sz="1700">
                <a:solidFill>
                  <a:srgbClr val="F0F0F0"/>
                </a:solidFill>
              </a:rPr>
              <a:t>• Overspending: impulsivity in mania, retail therapy for depression</a:t>
            </a:r>
          </a:p>
          <a:p>
            <a:pPr>
              <a:spcBef>
                <a:spcPts val="400"/>
              </a:spcBef>
            </a:pPr>
            <a:r>
              <a:rPr sz="1700">
                <a:solidFill>
                  <a:srgbClr val="F0F0F0"/>
                </a:solidFill>
              </a:rPr>
              <a:t>• Avoidance: ignoring bills, letters and financial responsibilities</a:t>
            </a:r>
          </a:p>
          <a:p>
            <a:pPr>
              <a:spcBef>
                <a:spcPts val="400"/>
              </a:spcBef>
            </a:pPr>
            <a:r>
              <a:rPr sz="1700">
                <a:solidFill>
                  <a:srgbClr val="F0F0F0"/>
                </a:solidFill>
              </a:rPr>
              <a:t>• Reduced income: mental health problems affect work capacity and earnings</a:t>
            </a:r>
          </a:p>
          <a:p>
            <a:pPr>
              <a:spcBef>
                <a:spcPts val="400"/>
              </a:spcBef>
            </a:pPr>
            <a:r>
              <a:rPr sz="1700">
                <a:solidFill>
                  <a:srgbClr val="F0F0F0"/>
                </a:solidFill>
              </a:rPr>
              <a:t>• Social isolation: financial stress leads to withdrawal from social activities</a:t>
            </a:r>
          </a:p>
          <a:p>
            <a:pPr>
              <a:spcBef>
                <a:spcPts val="400"/>
              </a:spcBef>
            </a:pPr>
            <a:r>
              <a:rPr sz="1700">
                <a:solidFill>
                  <a:srgbClr val="F0F0F0"/>
                </a:solidFill>
              </a:rPr>
              <a:t>• Debt and mental health: a vicious cycle that can escalate to crisis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Mental health problems affect 1 in 2 people in problem debt (Money and Mental Health Policy Institute)</a:t>
            </a:r>
          </a:p>
          <a:p>
            <a:pPr>
              <a:spcBef>
                <a:spcPts val="400"/>
              </a:spcBef>
            </a:pPr>
            <a:r>
              <a:rPr sz="1700">
                <a:solidFill>
                  <a:srgbClr val="F0F0F0"/>
                </a:solidFill>
              </a:rPr>
              <a:t>• People with mental health problems are 3 times more likely to be in problem debt</a:t>
            </a:r>
          </a:p>
          <a:p>
            <a:pPr>
              <a:spcBef>
                <a:spcPts val="400"/>
              </a:spcBef>
            </a:pPr>
            <a:r>
              <a:rPr sz="1700">
                <a:solidFill>
                  <a:srgbClr val="F0F0F0"/>
                </a:solidFill>
              </a:rPr>
              <a:t>• Problem debt doubles the risk of depression (Mental Health Foundation)</a:t>
            </a:r>
          </a:p>
          <a:p>
            <a:pPr>
              <a:spcBef>
                <a:spcPts val="400"/>
              </a:spcBef>
            </a:pPr>
            <a:r>
              <a:rPr sz="1700">
                <a:solidFill>
                  <a:srgbClr val="F0F0F0"/>
                </a:solidFill>
              </a:rPr>
              <a:t>• Financial stress is the most common trigger for adjustment disorder in the UK</a:t>
            </a:r>
          </a:p>
          <a:p>
            <a:pPr>
              <a:spcBef>
                <a:spcPts val="400"/>
              </a:spcBef>
            </a:pPr>
            <a:r>
              <a:rPr sz="1700">
                <a:solidFill>
                  <a:srgbClr val="F0F0F0"/>
                </a:solidFill>
              </a:rPr>
              <a:t>• Suicide risk is significantly elevated in people with problem debt</a:t>
            </a:r>
          </a:p>
          <a:p>
            <a:pPr>
              <a:spcBef>
                <a:spcPts val="400"/>
              </a:spcBef>
            </a:pPr>
            <a:r>
              <a:rPr sz="1700">
                <a:solidFill>
                  <a:srgbClr val="F0F0F0"/>
                </a:solidFill>
              </a:rPr>
              <a:t>• Benefits take-up: £15 billion of benefits go unclaimed each year in the UK</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Integrated debt and mental health support significantly improves outcomes</a:t>
            </a:r>
          </a:p>
          <a:p>
            <a:pPr>
              <a:spcBef>
                <a:spcPts val="400"/>
              </a:spcBef>
            </a:pPr>
            <a:r>
              <a:rPr sz="1700">
                <a:solidFill>
                  <a:srgbClr val="F0F0F0"/>
                </a:solidFill>
              </a:rPr>
              <a:t>• Debt counselling (StepChange, Citizens Advice) reduces anxiety and depression</a:t>
            </a:r>
          </a:p>
          <a:p>
            <a:pPr>
              <a:spcBef>
                <a:spcPts val="400"/>
              </a:spcBef>
            </a:pPr>
            <a:r>
              <a:rPr sz="1700">
                <a:solidFill>
                  <a:srgbClr val="F0F0F0"/>
                </a:solidFill>
              </a:rPr>
              <a:t>• Benefits advice increases income and reduces financial stress</a:t>
            </a:r>
          </a:p>
          <a:p>
            <a:pPr>
              <a:spcBef>
                <a:spcPts val="400"/>
              </a:spcBef>
            </a:pPr>
            <a:r>
              <a:rPr sz="1700">
                <a:solidFill>
                  <a:srgbClr val="F0F0F0"/>
                </a:solidFill>
              </a:rPr>
              <a:t>• CBT for financial anxiety addresses avoidance and catastrophic thinking</a:t>
            </a:r>
          </a:p>
          <a:p>
            <a:pPr>
              <a:spcBef>
                <a:spcPts val="400"/>
              </a:spcBef>
            </a:pPr>
            <a:r>
              <a:rPr sz="1700">
                <a:solidFill>
                  <a:srgbClr val="F0F0F0"/>
                </a:solidFill>
              </a:rPr>
              <a:t>• Mindfulness reduces the emotional impact of financial stress</a:t>
            </a:r>
          </a:p>
          <a:p>
            <a:pPr>
              <a:spcBef>
                <a:spcPts val="400"/>
              </a:spcBef>
            </a:pPr>
            <a:r>
              <a:rPr sz="1700">
                <a:solidFill>
                  <a:srgbClr val="F0F0F0"/>
                </a:solidFill>
              </a:rPr>
              <a:t>• Peer support: shared experience groups for people with financial difficulties</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Lisa, 38, developed severe anxiety following the breakdown of her marriage and subsequent financial difficulties. She avoided opening post, stopped answering her phone and accumulated significant debt. Her mental health deteriorated further as the debt grew. With support from Citizens Advice and a mental health practitioner, Lisa developed a debt management plan and began CBT for anxiety. As her financial situation stabilised, her mental health improved significantly. Her story illustrates the importance of addressing financial and mental health needs together.</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Debt counselling: StepChange, Citizens Advice, National Debtline</a:t>
            </a:r>
          </a:p>
          <a:p>
            <a:pPr>
              <a:spcBef>
                <a:spcPts val="400"/>
              </a:spcBef>
            </a:pPr>
            <a:r>
              <a:rPr sz="1700">
                <a:solidFill>
                  <a:srgbClr val="F0F0F0"/>
                </a:solidFill>
              </a:rPr>
              <a:t>• Benefits advice: ensuring people receive all entitled benefits and support</a:t>
            </a:r>
          </a:p>
          <a:p>
            <a:pPr>
              <a:spcBef>
                <a:spcPts val="400"/>
              </a:spcBef>
            </a:pPr>
            <a:r>
              <a:rPr sz="1700">
                <a:solidFill>
                  <a:srgbClr val="F0F0F0"/>
                </a:solidFill>
              </a:rPr>
              <a:t>• Budgeting tools: apps, spreadsheets and money management courses</a:t>
            </a:r>
          </a:p>
          <a:p>
            <a:pPr>
              <a:spcBef>
                <a:spcPts val="400"/>
              </a:spcBef>
            </a:pPr>
            <a:r>
              <a:rPr sz="1700">
                <a:solidFill>
                  <a:srgbClr val="F0F0F0"/>
                </a:solidFill>
              </a:rPr>
              <a:t>• CBT for financial anxiety: addressing avoidance and catastrophic thinking</a:t>
            </a:r>
          </a:p>
          <a:p>
            <a:pPr>
              <a:spcBef>
                <a:spcPts val="400"/>
              </a:spcBef>
            </a:pPr>
            <a:r>
              <a:rPr sz="1700">
                <a:solidFill>
                  <a:srgbClr val="F0F0F0"/>
                </a:solidFill>
              </a:rPr>
              <a:t>• Mindfulness: reducing the emotional impact of financial stress</a:t>
            </a:r>
          </a:p>
          <a:p>
            <a:pPr>
              <a:spcBef>
                <a:spcPts val="400"/>
              </a:spcBef>
            </a:pPr>
            <a:r>
              <a:rPr sz="1700">
                <a:solidFill>
                  <a:srgbClr val="F0F0F0"/>
                </a:solidFill>
              </a:rPr>
              <a:t>• Peer support: shared experience groups for people with financial difficulties</a:t>
            </a:r>
          </a:p>
          <a:p>
            <a:pPr>
              <a:spcBef>
                <a:spcPts val="400"/>
              </a:spcBef>
            </a:pPr>
            <a:r>
              <a:rPr sz="1700">
                <a:solidFill>
                  <a:srgbClr val="F0F0F0"/>
                </a:solidFill>
              </a:rPr>
              <a:t>• Crisis support: emergency funds, food banks and local authority support</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Budget awareness exercise: Participants reflect on their relationship with money — what emotions does money bring up? What financial habits help or hinder your wellbeing? Discuss: How can we talk about money and mental health without shame?</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How does financial stress affect your mental health and daily life?</a:t>
            </a:r>
          </a:p>
          <a:p>
            <a:pPr>
              <a:spcBef>
                <a:spcPts val="400"/>
              </a:spcBef>
            </a:pPr>
            <a:r>
              <a:rPr sz="1700">
                <a:solidFill>
                  <a:srgbClr val="F0F0F0"/>
                </a:solidFill>
              </a:rPr>
              <a:t>• What emotions does money bring up for you?</a:t>
            </a:r>
          </a:p>
          <a:p>
            <a:pPr>
              <a:spcBef>
                <a:spcPts val="400"/>
              </a:spcBef>
            </a:pPr>
            <a:r>
              <a:rPr sz="1700">
                <a:solidFill>
                  <a:srgbClr val="F0F0F0"/>
                </a:solidFill>
              </a:rPr>
              <a:t>• How does mental illness affect financial management?</a:t>
            </a:r>
          </a:p>
          <a:p>
            <a:pPr>
              <a:spcBef>
                <a:spcPts val="400"/>
              </a:spcBef>
            </a:pPr>
            <a:r>
              <a:rPr sz="1700">
                <a:solidFill>
                  <a:srgbClr val="F0F0F0"/>
                </a:solidFill>
              </a:rPr>
              <a:t>• What practical steps can someone take when facing financial difficulties?</a:t>
            </a:r>
          </a:p>
          <a:p>
            <a:pPr>
              <a:spcBef>
                <a:spcPts val="400"/>
              </a:spcBef>
            </a:pPr>
            <a:r>
              <a:rPr sz="1700">
                <a:solidFill>
                  <a:srgbClr val="F0F0F0"/>
                </a:solidFill>
              </a:rPr>
              <a:t>• What financial support services are available in Melksham and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Money and Mental Health Policy Institute: moneyandmentalhealth.org</a:t>
            </a:r>
          </a:p>
          <a:p>
            <a:pPr>
              <a:spcBef>
                <a:spcPts val="400"/>
              </a:spcBef>
            </a:pPr>
            <a:r>
              <a:rPr sz="1400">
                <a:solidFill>
                  <a:srgbClr val="F0F0F0"/>
                </a:solidFill>
              </a:rPr>
              <a:t>• StepChange Debt Charity: stepchange.org / 0800 138 1111</a:t>
            </a:r>
          </a:p>
          <a:p>
            <a:pPr>
              <a:spcBef>
                <a:spcPts val="400"/>
              </a:spcBef>
            </a:pPr>
            <a:r>
              <a:rPr sz="1400">
                <a:solidFill>
                  <a:srgbClr val="F0F0F0"/>
                </a:solidFill>
              </a:rPr>
              <a:t>• Citizens Advice: citizensadvice.org.uk</a:t>
            </a:r>
          </a:p>
          <a:p>
            <a:pPr>
              <a:spcBef>
                <a:spcPts val="400"/>
              </a:spcBef>
            </a:pPr>
            <a:r>
              <a:rPr sz="1400">
                <a:solidFill>
                  <a:srgbClr val="F0F0F0"/>
                </a:solidFill>
              </a:rPr>
              <a:t>• Mind UK: Money and mental health (mind.org.uk)</a:t>
            </a:r>
          </a:p>
          <a:p>
            <a:pPr>
              <a:spcBef>
                <a:spcPts val="400"/>
              </a:spcBef>
            </a:pPr>
            <a:r>
              <a:rPr sz="1400">
                <a:solidFill>
                  <a:srgbClr val="F0F0F0"/>
                </a:solidFill>
              </a:rPr>
              <a:t>• Wiltshire Citizens Advice: wiltshirecab.org.uk</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29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Financial Stress and Mental Health</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29: Financial Stress and Mental Health</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
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27</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Workplace Mental Health and Burnout</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Poor working environments are a significant risk factor for mental health problems. This module explores how workplace factors — including excessive workloads, discrimination, job insecurity and lack of control — contribute to burnout and mental ill-health, and provides strategies for employers and employees to promote wellbeing.</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workplace factors that contribute to poor mental health</a:t>
            </a:r>
          </a:p>
          <a:p>
            <a:pPr>
              <a:spcBef>
                <a:spcPts val="400"/>
              </a:spcBef>
            </a:pPr>
            <a:r>
              <a:rPr sz="1700">
                <a:solidFill>
                  <a:srgbClr val="F0F0F0"/>
                </a:solidFill>
              </a:rPr>
              <a:t>• Define burnout and distinguish it from stress and depression</a:t>
            </a:r>
          </a:p>
          <a:p>
            <a:pPr>
              <a:spcBef>
                <a:spcPts val="400"/>
              </a:spcBef>
            </a:pPr>
            <a:r>
              <a:rPr sz="1700">
                <a:solidFill>
                  <a:srgbClr val="F0F0F0"/>
                </a:solidFill>
              </a:rPr>
              <a:t>• Identify the signs of burnout in yourself and colleagues</a:t>
            </a:r>
          </a:p>
          <a:p>
            <a:pPr>
              <a:spcBef>
                <a:spcPts val="400"/>
              </a:spcBef>
            </a:pPr>
            <a:r>
              <a:rPr sz="1700">
                <a:solidFill>
                  <a:srgbClr val="F0F0F0"/>
                </a:solidFill>
              </a:rPr>
              <a:t>• Explore the legal framework: employer duties under the Equality Act 2010 and HSE</a:t>
            </a:r>
          </a:p>
          <a:p>
            <a:pPr>
              <a:spcBef>
                <a:spcPts val="400"/>
              </a:spcBef>
            </a:pPr>
            <a:r>
              <a:rPr sz="1700">
                <a:solidFill>
                  <a:srgbClr val="F0F0F0"/>
                </a:solidFill>
              </a:rPr>
              <a:t>• Develop strategies for preventing burnout and promoting workplace wellbeing</a:t>
            </a:r>
          </a:p>
          <a:p>
            <a:pPr>
              <a:spcBef>
                <a:spcPts val="400"/>
              </a:spcBef>
            </a:pPr>
            <a:r>
              <a:rPr sz="1700">
                <a:solidFill>
                  <a:srgbClr val="F0F0F0"/>
                </a:solidFill>
              </a:rPr>
              <a:t>• Know the resources available for employees experiencing mental health difficulties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27: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Workplace risk factors: excessive workloads, low control, poor support, discrimination</a:t>
            </a:r>
          </a:p>
          <a:p>
            <a:pPr>
              <a:spcBef>
                <a:spcPts val="400"/>
              </a:spcBef>
            </a:pPr>
            <a:r>
              <a:rPr sz="1700">
                <a:solidFill>
                  <a:srgbClr val="F0F0F0"/>
                </a:solidFill>
              </a:rPr>
              <a:t>• Burnout: emotional exhaustion, depersonalisation and reduced personal accomplishment</a:t>
            </a:r>
          </a:p>
          <a:p>
            <a:pPr>
              <a:spcBef>
                <a:spcPts val="400"/>
              </a:spcBef>
            </a:pPr>
            <a:r>
              <a:rPr sz="1700">
                <a:solidFill>
                  <a:srgbClr val="F0F0F0"/>
                </a:solidFill>
              </a:rPr>
              <a:t>• Burnout vs stress: stress is too much pressure; burnout is depletion of resources</a:t>
            </a:r>
          </a:p>
          <a:p>
            <a:pPr>
              <a:spcBef>
                <a:spcPts val="400"/>
              </a:spcBef>
            </a:pPr>
            <a:r>
              <a:rPr sz="1700">
                <a:solidFill>
                  <a:srgbClr val="F0F0F0"/>
                </a:solidFill>
              </a:rPr>
              <a:t>• Signs of burnout: chronic fatigue, cynicism, reduced effectiveness, physical symptoms</a:t>
            </a:r>
          </a:p>
          <a:p>
            <a:pPr>
              <a:spcBef>
                <a:spcPts val="400"/>
              </a:spcBef>
            </a:pPr>
            <a:r>
              <a:rPr sz="1700">
                <a:solidFill>
                  <a:srgbClr val="F0F0F0"/>
                </a:solidFill>
              </a:rPr>
              <a:t>• Presenteeism: attending work while unwell — costs UK economy £15 billion annually</a:t>
            </a:r>
          </a:p>
          <a:p>
            <a:pPr>
              <a:spcBef>
                <a:spcPts val="400"/>
              </a:spcBef>
            </a:pPr>
            <a:r>
              <a:rPr sz="1700">
                <a:solidFill>
                  <a:srgbClr val="F0F0F0"/>
                </a:solidFill>
              </a:rPr>
              <a:t>• Legal framework: Equality Act 2010, HSE Management Standards for work-related stress</a:t>
            </a:r>
          </a:p>
          <a:p>
            <a:pPr>
              <a:spcBef>
                <a:spcPts val="400"/>
              </a:spcBef>
            </a:pPr>
            <a:r>
              <a:rPr sz="1700">
                <a:solidFill>
                  <a:srgbClr val="F0F0F0"/>
                </a:solidFill>
              </a:rPr>
              <a:t>• Reasonable adjustments: flexible working, phased return, reduced workload</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WHO: almost 60% of the world's workers are at risk of poor mental health due to workplace conditions</a:t>
            </a:r>
          </a:p>
          <a:p>
            <a:pPr>
              <a:spcBef>
                <a:spcPts val="400"/>
              </a:spcBef>
            </a:pPr>
            <a:r>
              <a:rPr sz="1700">
                <a:solidFill>
                  <a:srgbClr val="F0F0F0"/>
                </a:solidFill>
              </a:rPr>
              <a:t>• Burnout affects 67% of UK workers at some point in their careers (Deloitte, 2022)</a:t>
            </a:r>
          </a:p>
          <a:p>
            <a:pPr>
              <a:spcBef>
                <a:spcPts val="400"/>
              </a:spcBef>
            </a:pPr>
            <a:r>
              <a:rPr sz="1700">
                <a:solidFill>
                  <a:srgbClr val="F0F0F0"/>
                </a:solidFill>
              </a:rPr>
              <a:t>• Mental health problems cost UK employers £56 billion per year (Deloitte, 2020)</a:t>
            </a:r>
          </a:p>
          <a:p>
            <a:pPr>
              <a:spcBef>
                <a:spcPts val="400"/>
              </a:spcBef>
            </a:pPr>
            <a:r>
              <a:rPr sz="1700">
                <a:solidFill>
                  <a:srgbClr val="F0F0F0"/>
                </a:solidFill>
              </a:rPr>
              <a:t>• Presenteeism costs UK employers £15 billion annually — more than absenteeism</a:t>
            </a:r>
          </a:p>
          <a:p>
            <a:pPr>
              <a:spcBef>
                <a:spcPts val="400"/>
              </a:spcBef>
            </a:pPr>
            <a:r>
              <a:rPr sz="1700">
                <a:solidFill>
                  <a:srgbClr val="F0F0F0"/>
                </a:solidFill>
              </a:rPr>
              <a:t>• Only 13% of employees feel comfortable disclosing mental health problems to their employer</a:t>
            </a:r>
          </a:p>
          <a:p>
            <a:pPr>
              <a:spcBef>
                <a:spcPts val="400"/>
              </a:spcBef>
            </a:pPr>
            <a:r>
              <a:rPr sz="1700">
                <a:solidFill>
                  <a:srgbClr val="F0F0F0"/>
                </a:solidFill>
              </a:rPr>
              <a:t>• Reasonable adjustments for mental health cost employers an average of £75 (ACAS)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Mentally healthy workplaces return £5 for every £1 invested (Deloitte, 2020)</a:t>
            </a:r>
          </a:p>
          <a:p>
            <a:pPr>
              <a:spcBef>
                <a:spcPts val="400"/>
              </a:spcBef>
            </a:pPr>
            <a:r>
              <a:rPr sz="1700">
                <a:solidFill>
                  <a:srgbClr val="F0F0F0"/>
                </a:solidFill>
              </a:rPr>
              <a:t>• Line manager training in mental health awareness significantly reduces stigma</a:t>
            </a:r>
          </a:p>
          <a:p>
            <a:pPr>
              <a:spcBef>
                <a:spcPts val="400"/>
              </a:spcBef>
            </a:pPr>
            <a:r>
              <a:rPr sz="1700">
                <a:solidFill>
                  <a:srgbClr val="F0F0F0"/>
                </a:solidFill>
              </a:rPr>
              <a:t>• Employee Assistance Programmes (EAPs) reduce absenteeism and improve productivity</a:t>
            </a:r>
          </a:p>
          <a:p>
            <a:pPr>
              <a:spcBef>
                <a:spcPts val="400"/>
              </a:spcBef>
            </a:pPr>
            <a:r>
              <a:rPr sz="1700">
                <a:solidFill>
                  <a:srgbClr val="F0F0F0"/>
                </a:solidFill>
              </a:rPr>
              <a:t>• Flexible working significantly improves mental health and work-life balance</a:t>
            </a:r>
          </a:p>
          <a:p>
            <a:pPr>
              <a:spcBef>
                <a:spcPts val="400"/>
              </a:spcBef>
            </a:pPr>
            <a:r>
              <a:rPr sz="1700">
                <a:solidFill>
                  <a:srgbClr val="F0F0F0"/>
                </a:solidFill>
              </a:rPr>
              <a:t>• Psychological safety at work enables employees to speak up without fear</a:t>
            </a:r>
          </a:p>
          <a:p>
            <a:pPr>
              <a:spcBef>
                <a:spcPts val="400"/>
              </a:spcBef>
            </a:pPr>
            <a:r>
              <a:rPr sz="1700">
                <a:solidFill>
                  <a:srgbClr val="F0F0F0"/>
                </a:solidFill>
              </a:rPr>
              <a:t>• NICE (NG212): recommends workplace wellbeing programmes for all employers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Karen, 42, was a senior manager in a large organisation. Over two years, her workload doubled, her team was reduced and she received little support from senior leadership. She began experiencing chronic fatigue, cynicism and difficulty concentrating. She was diagnosed with burnout by her GP and signed off work for three months. With support from an occupational health service and a phased return to work, Karen recovered. Her employer implemented a wellbeing programme and trained line managers in mental health awareness.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Stress management: identifying and addressing workplace stressors</a:t>
            </a:r>
          </a:p>
          <a:p>
            <a:pPr>
              <a:spcBef>
                <a:spcPts val="400"/>
              </a:spcBef>
            </a:pPr>
            <a:r>
              <a:rPr sz="1700">
                <a:solidFill>
                  <a:srgbClr val="F0F0F0"/>
                </a:solidFill>
              </a:rPr>
              <a:t>• Boundaries: setting clear limits on working hours and availability</a:t>
            </a:r>
          </a:p>
          <a:p>
            <a:pPr>
              <a:spcBef>
                <a:spcPts val="400"/>
              </a:spcBef>
            </a:pPr>
            <a:r>
              <a:rPr sz="1700">
                <a:solidFill>
                  <a:srgbClr val="F0F0F0"/>
                </a:solidFill>
              </a:rPr>
              <a:t>• Recovery activities: exercise, social connection, hobbies and rest</a:t>
            </a:r>
          </a:p>
          <a:p>
            <a:pPr>
              <a:spcBef>
                <a:spcPts val="400"/>
              </a:spcBef>
            </a:pPr>
            <a:r>
              <a:rPr sz="1700">
                <a:solidFill>
                  <a:srgbClr val="F0F0F0"/>
                </a:solidFill>
              </a:rPr>
              <a:t>• Mindfulness at work: brief mindfulness practices during the working day</a:t>
            </a:r>
          </a:p>
          <a:p>
            <a:pPr>
              <a:spcBef>
                <a:spcPts val="400"/>
              </a:spcBef>
            </a:pPr>
            <a:r>
              <a:rPr sz="1700">
                <a:solidFill>
                  <a:srgbClr val="F0F0F0"/>
                </a:solidFill>
              </a:rPr>
              <a:t>• Seeking support: using EAPs, occupational health and mental health services</a:t>
            </a:r>
          </a:p>
          <a:p>
            <a:pPr>
              <a:spcBef>
                <a:spcPts val="400"/>
              </a:spcBef>
            </a:pPr>
            <a:r>
              <a:rPr sz="1700">
                <a:solidFill>
                  <a:srgbClr val="F0F0F0"/>
                </a:solidFill>
              </a:rPr>
              <a:t>• Line manager conversations: how to have supportive mental health conversations</a:t>
            </a:r>
          </a:p>
          <a:p>
            <a:pPr>
              <a:spcBef>
                <a:spcPts val="400"/>
              </a:spcBef>
            </a:pPr>
            <a:r>
              <a:rPr sz="1700">
                <a:solidFill>
                  <a:srgbClr val="F0F0F0"/>
                </a:solidFill>
              </a:rPr>
              <a:t>• Reasonable adjustments: flexible working, phased return, reduced workload</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Burnout assessment: Participants complete the Maslach Burnout Inventory (brief version) and reflect on their scores. Discuss: What workplace factors contribute most to your stress? What one change would most improve your wellbeing at work?</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workplace factors most affect your mental health?</a:t>
            </a:r>
          </a:p>
          <a:p>
            <a:pPr>
              <a:spcBef>
                <a:spcPts val="400"/>
              </a:spcBef>
            </a:pPr>
            <a:r>
              <a:rPr sz="1700">
                <a:solidFill>
                  <a:srgbClr val="F0F0F0"/>
                </a:solidFill>
              </a:rPr>
              <a:t>• How does your organisation respond to employees experiencing mental health difficulties?</a:t>
            </a:r>
          </a:p>
          <a:p>
            <a:pPr>
              <a:spcBef>
                <a:spcPts val="400"/>
              </a:spcBef>
            </a:pPr>
            <a:r>
              <a:rPr sz="1700">
                <a:solidFill>
                  <a:srgbClr val="F0F0F0"/>
                </a:solidFill>
              </a:rPr>
              <a:t>• What is the difference between stress and burnout?</a:t>
            </a:r>
          </a:p>
          <a:p>
            <a:pPr>
              <a:spcBef>
                <a:spcPts val="400"/>
              </a:spcBef>
            </a:pPr>
            <a:r>
              <a:rPr sz="1700">
                <a:solidFill>
                  <a:srgbClr val="F0F0F0"/>
                </a:solidFill>
              </a:rPr>
              <a:t>• How can line managers better support employees with mental health problems?</a:t>
            </a:r>
          </a:p>
          <a:p>
            <a:pPr>
              <a:spcBef>
                <a:spcPts val="400"/>
              </a:spcBef>
            </a:pPr>
            <a:r>
              <a:rPr sz="1700">
                <a:solidFill>
                  <a:srgbClr val="F0F0F0"/>
                </a:solidFill>
              </a:rPr>
              <a:t>• What workplace mental health resources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NG212: Mental health at work (2022)</a:t>
            </a:r>
          </a:p>
          <a:p>
            <a:pPr>
              <a:spcBef>
                <a:spcPts val="400"/>
              </a:spcBef>
            </a:pPr>
            <a:r>
              <a:rPr sz="1400">
                <a:solidFill>
                  <a:srgbClr val="F0F0F0"/>
                </a:solidFill>
              </a:rPr>
              <a:t>• Mind UK: Workplace mental health (mind.org.uk/workplace)</a:t>
            </a:r>
          </a:p>
          <a:p>
            <a:pPr>
              <a:spcBef>
                <a:spcPts val="400"/>
              </a:spcBef>
            </a:pPr>
            <a:r>
              <a:rPr sz="1400">
                <a:solidFill>
                  <a:srgbClr val="F0F0F0"/>
                </a:solidFill>
              </a:rPr>
              <a:t>• Acas: acas.org.uk/mental-health-at-work</a:t>
            </a:r>
          </a:p>
          <a:p>
            <a:pPr>
              <a:spcBef>
                <a:spcPts val="400"/>
              </a:spcBef>
            </a:pPr>
            <a:r>
              <a:rPr sz="1400">
                <a:solidFill>
                  <a:srgbClr val="F0F0F0"/>
                </a:solidFill>
              </a:rPr>
              <a:t>• HSE: Work-related stress (hse.gov.uk/stress)</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27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Workplace Mental Health and Burnout</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27: Workplace Mental Health and Burnout</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
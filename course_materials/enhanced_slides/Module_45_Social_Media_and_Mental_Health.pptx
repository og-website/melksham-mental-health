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45</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Social Media and Mental Health</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Social media has transformed how we communicate, connect and compare ourselves to others. This module explores the evidence for the impact of social media on mental health — particularly in young people — and provides practical strategies for healthy digital habits.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evidence for the relationship between social media use and mental health</a:t>
            </a:r>
          </a:p>
          <a:p>
            <a:pPr>
              <a:spcBef>
                <a:spcPts val="400"/>
              </a:spcBef>
            </a:pPr>
            <a:r>
              <a:rPr sz="1700">
                <a:solidFill>
                  <a:srgbClr val="F0F0F0"/>
                </a:solidFill>
              </a:rPr>
              <a:t>• Identify the mechanisms by which social media affects mental health: comparison, cyberbullying, sleep disruption</a:t>
            </a:r>
          </a:p>
          <a:p>
            <a:pPr>
              <a:spcBef>
                <a:spcPts val="400"/>
              </a:spcBef>
            </a:pPr>
            <a:r>
              <a:rPr sz="1700">
                <a:solidFill>
                  <a:srgbClr val="F0F0F0"/>
                </a:solidFill>
              </a:rPr>
              <a:t>• Explore the differential impact on young people, women and marginalised groups</a:t>
            </a:r>
          </a:p>
          <a:p>
            <a:pPr>
              <a:spcBef>
                <a:spcPts val="400"/>
              </a:spcBef>
            </a:pPr>
            <a:r>
              <a:rPr sz="1700">
                <a:solidFill>
                  <a:srgbClr val="F0F0F0"/>
                </a:solidFill>
              </a:rPr>
              <a:t>• Develop practical strategies for healthy social media use</a:t>
            </a:r>
          </a:p>
          <a:p>
            <a:pPr>
              <a:spcBef>
                <a:spcPts val="400"/>
              </a:spcBef>
            </a:pPr>
            <a:r>
              <a:rPr sz="1700">
                <a:solidFill>
                  <a:srgbClr val="F0F0F0"/>
                </a:solidFill>
              </a:rPr>
              <a:t>• Understand digital detox and its evidence base</a:t>
            </a:r>
          </a:p>
          <a:p>
            <a:pPr>
              <a:spcBef>
                <a:spcPts val="400"/>
              </a:spcBef>
            </a:pPr>
            <a:r>
              <a:rPr sz="1700">
                <a:solidFill>
                  <a:srgbClr val="F0F0F0"/>
                </a:solidFill>
              </a:rPr>
              <a:t>• Know the resources for supporting young people's digital wellbeing</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45: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Social comparison: comparing ourselves to curated, idealised online identities</a:t>
            </a:r>
          </a:p>
          <a:p>
            <a:pPr>
              <a:spcBef>
                <a:spcPts val="400"/>
              </a:spcBef>
            </a:pPr>
            <a:r>
              <a:rPr sz="1700">
                <a:solidFill>
                  <a:srgbClr val="F0F0F0"/>
                </a:solidFill>
              </a:rPr>
              <a:t>• Cyberbullying: online harassment with significant mental health consequences</a:t>
            </a:r>
          </a:p>
          <a:p>
            <a:pPr>
              <a:spcBef>
                <a:spcPts val="400"/>
              </a:spcBef>
            </a:pPr>
            <a:r>
              <a:rPr sz="1700">
                <a:solidFill>
                  <a:srgbClr val="F0F0F0"/>
                </a:solidFill>
              </a:rPr>
              <a:t>• FOMO (Fear of Missing Out): anxiety triggered by perceived social exclusion</a:t>
            </a:r>
          </a:p>
          <a:p>
            <a:pPr>
              <a:spcBef>
                <a:spcPts val="400"/>
              </a:spcBef>
            </a:pPr>
            <a:r>
              <a:rPr sz="1700">
                <a:solidFill>
                  <a:srgbClr val="F0F0F0"/>
                </a:solidFill>
              </a:rPr>
              <a:t>• Doomscrolling: compulsive consumption of negative news content</a:t>
            </a:r>
          </a:p>
          <a:p>
            <a:pPr>
              <a:spcBef>
                <a:spcPts val="400"/>
              </a:spcBef>
            </a:pPr>
            <a:r>
              <a:rPr sz="1700">
                <a:solidFill>
                  <a:srgbClr val="F0F0F0"/>
                </a:solidFill>
              </a:rPr>
              <a:t>• Sleep disruption: blue light and stimulating content disrupt sleep</a:t>
            </a:r>
          </a:p>
          <a:p>
            <a:pPr>
              <a:spcBef>
                <a:spcPts val="400"/>
              </a:spcBef>
            </a:pPr>
            <a:r>
              <a:rPr sz="1700">
                <a:solidFill>
                  <a:srgbClr val="F0F0F0"/>
                </a:solidFill>
              </a:rPr>
              <a:t>• Positive uses: community, support, information and connection</a:t>
            </a:r>
          </a:p>
          <a:p>
            <a:pPr>
              <a:spcBef>
                <a:spcPts val="400"/>
              </a:spcBef>
            </a:pPr>
            <a:r>
              <a:rPr sz="1700">
                <a:solidFill>
                  <a:srgbClr val="F0F0F0"/>
                </a:solidFill>
              </a:rPr>
              <a:t>• Digital wellbeing: setting boundaries around social media use</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Heavy social media use (3+ hours/day) is associated with doubled risk of depression in young people</a:t>
            </a:r>
          </a:p>
          <a:p>
            <a:pPr>
              <a:spcBef>
                <a:spcPts val="400"/>
              </a:spcBef>
            </a:pPr>
            <a:r>
              <a:rPr sz="1700">
                <a:solidFill>
                  <a:srgbClr val="F0F0F0"/>
                </a:solidFill>
              </a:rPr>
              <a:t>• Cyberbullying affects 1 in 5 young people in the UK (Ditch the Label, 2022)</a:t>
            </a:r>
          </a:p>
          <a:p>
            <a:pPr>
              <a:spcBef>
                <a:spcPts val="400"/>
              </a:spcBef>
            </a:pPr>
            <a:r>
              <a:rPr sz="1700">
                <a:solidFill>
                  <a:srgbClr val="F0F0F0"/>
                </a:solidFill>
              </a:rPr>
              <a:t>• Instagram is associated with increased body dissatisfaction in young women (Royal Society of Public Health)</a:t>
            </a:r>
          </a:p>
          <a:p>
            <a:pPr>
              <a:spcBef>
                <a:spcPts val="400"/>
              </a:spcBef>
            </a:pPr>
            <a:r>
              <a:rPr sz="1700">
                <a:solidFill>
                  <a:srgbClr val="F0F0F0"/>
                </a:solidFill>
              </a:rPr>
              <a:t>• Social media use before bed delays sleep onset by 30–60 minutes</a:t>
            </a:r>
          </a:p>
          <a:p>
            <a:pPr>
              <a:spcBef>
                <a:spcPts val="400"/>
              </a:spcBef>
            </a:pPr>
            <a:r>
              <a:rPr sz="1700">
                <a:solidFill>
                  <a:srgbClr val="F0F0F0"/>
                </a:solidFill>
              </a:rPr>
              <a:t>• Social media can provide community and support for marginalised groups</a:t>
            </a:r>
          </a:p>
          <a:p>
            <a:pPr>
              <a:spcBef>
                <a:spcPts val="400"/>
              </a:spcBef>
            </a:pPr>
            <a:r>
              <a:rPr sz="1700">
                <a:solidFill>
                  <a:srgbClr val="F0F0F0"/>
                </a:solidFill>
              </a:rPr>
              <a:t>• Screen time in under-2s is associated with developmental delays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Social comparison on social media significantly increases depression and anxiety</a:t>
            </a:r>
          </a:p>
          <a:p>
            <a:pPr>
              <a:spcBef>
                <a:spcPts val="400"/>
              </a:spcBef>
            </a:pPr>
            <a:r>
              <a:rPr sz="1700">
                <a:solidFill>
                  <a:srgbClr val="F0F0F0"/>
                </a:solidFill>
              </a:rPr>
              <a:t>• Passive social media use (scrolling) is more harmful than active use (posting, messaging)</a:t>
            </a:r>
          </a:p>
          <a:p>
            <a:pPr>
              <a:spcBef>
                <a:spcPts val="400"/>
              </a:spcBef>
            </a:pPr>
            <a:r>
              <a:rPr sz="1700">
                <a:solidFill>
                  <a:srgbClr val="F0F0F0"/>
                </a:solidFill>
              </a:rPr>
              <a:t>• Social media literacy programmes reduce the negative mental health impact</a:t>
            </a:r>
          </a:p>
          <a:p>
            <a:pPr>
              <a:spcBef>
                <a:spcPts val="400"/>
              </a:spcBef>
            </a:pPr>
            <a:r>
              <a:rPr sz="1700">
                <a:solidFill>
                  <a:srgbClr val="F0F0F0"/>
                </a:solidFill>
              </a:rPr>
              <a:t>• Digital detox (1 week) significantly reduces depression and anxiety (Hunt et al., 2018)</a:t>
            </a:r>
          </a:p>
          <a:p>
            <a:pPr>
              <a:spcBef>
                <a:spcPts val="400"/>
              </a:spcBef>
            </a:pPr>
            <a:r>
              <a:rPr sz="1700">
                <a:solidFill>
                  <a:srgbClr val="F0F0F0"/>
                </a:solidFill>
              </a:rPr>
              <a:t>• Parental monitoring and education reduce cyberbullying and its mental health impact</a:t>
            </a:r>
          </a:p>
          <a:p>
            <a:pPr>
              <a:spcBef>
                <a:spcPts val="400"/>
              </a:spcBef>
            </a:pPr>
            <a:r>
              <a:rPr sz="1700">
                <a:solidFill>
                  <a:srgbClr val="F0F0F0"/>
                </a:solidFill>
              </a:rPr>
              <a:t>• Screen-free bedrooms significantly improve sleep quality in young people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Jade, 16, spent 6+ hours per day on social media and had developed significant body image concerns and depression. She compared herself constantly to influencers and felt inadequate. Her school counsellor worked with Jade to develop a healthier relationship with social media — setting daily time limits, unfollowing accounts that made her feel bad and following body-positive accounts. Jade also implemented a 'no phone after 9pm' rule. Her mood and sleep improved significantly within four weeks.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Social media audit: reviewing accounts followed and unfollowing those that cause harm</a:t>
            </a:r>
          </a:p>
          <a:p>
            <a:pPr>
              <a:spcBef>
                <a:spcPts val="400"/>
              </a:spcBef>
            </a:pPr>
            <a:r>
              <a:rPr sz="1700">
                <a:solidFill>
                  <a:srgbClr val="F0F0F0"/>
                </a:solidFill>
              </a:rPr>
              <a:t>• Time limits: using built-in screen time tools to limit social media use</a:t>
            </a:r>
          </a:p>
          <a:p>
            <a:pPr>
              <a:spcBef>
                <a:spcPts val="400"/>
              </a:spcBef>
            </a:pPr>
            <a:r>
              <a:rPr sz="1700">
                <a:solidFill>
                  <a:srgbClr val="F0F0F0"/>
                </a:solidFill>
              </a:rPr>
              <a:t>• Notification management: turning off non-essential notifications</a:t>
            </a:r>
          </a:p>
          <a:p>
            <a:pPr>
              <a:spcBef>
                <a:spcPts val="400"/>
              </a:spcBef>
            </a:pPr>
            <a:r>
              <a:rPr sz="1700">
                <a:solidFill>
                  <a:srgbClr val="F0F0F0"/>
                </a:solidFill>
              </a:rPr>
              <a:t>• Screen-free bedroom: no phones or tablets in the bedroom after a set time</a:t>
            </a:r>
          </a:p>
          <a:p>
            <a:pPr>
              <a:spcBef>
                <a:spcPts val="400"/>
              </a:spcBef>
            </a:pPr>
            <a:r>
              <a:rPr sz="1700">
                <a:solidFill>
                  <a:srgbClr val="F0F0F0"/>
                </a:solidFill>
              </a:rPr>
              <a:t>• Digital detox: regular breaks from social media (e.g., one day per week)</a:t>
            </a:r>
          </a:p>
          <a:p>
            <a:pPr>
              <a:spcBef>
                <a:spcPts val="400"/>
              </a:spcBef>
            </a:pPr>
            <a:r>
              <a:rPr sz="1700">
                <a:solidFill>
                  <a:srgbClr val="F0F0F0"/>
                </a:solidFill>
              </a:rPr>
              <a:t>• Social media literacy: critically evaluating online content and comparison</a:t>
            </a:r>
          </a:p>
          <a:p>
            <a:pPr>
              <a:spcBef>
                <a:spcPts val="400"/>
              </a:spcBef>
            </a:pPr>
            <a:r>
              <a:rPr sz="1700">
                <a:solidFill>
                  <a:srgbClr val="F0F0F0"/>
                </a:solidFill>
              </a:rPr>
              <a:t>• Positive use: using social media for community, support and connection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Social media audit: Participants review their social media use — time spent, accounts followed, emotions triggered. Discuss: How does social media affect your mood? What accounts or habits could you change? What would a healthier relationship with social media look like?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How does social media affect your mental health — positively and negatively?</a:t>
            </a:r>
          </a:p>
          <a:p>
            <a:pPr>
              <a:spcBef>
                <a:spcPts val="400"/>
              </a:spcBef>
            </a:pPr>
            <a:r>
              <a:rPr sz="1700">
                <a:solidFill>
                  <a:srgbClr val="F0F0F0"/>
                </a:solidFill>
              </a:rPr>
              <a:t>• What is the difference between passive and active social media use?</a:t>
            </a:r>
          </a:p>
          <a:p>
            <a:pPr>
              <a:spcBef>
                <a:spcPts val="400"/>
              </a:spcBef>
            </a:pPr>
            <a:r>
              <a:rPr sz="1700">
                <a:solidFill>
                  <a:srgbClr val="F0F0F0"/>
                </a:solidFill>
              </a:rPr>
              <a:t>• How can parents support young people to develop healthy digital habits?</a:t>
            </a:r>
          </a:p>
          <a:p>
            <a:pPr>
              <a:spcBef>
                <a:spcPts val="400"/>
              </a:spcBef>
            </a:pPr>
            <a:r>
              <a:rPr sz="1700">
                <a:solidFill>
                  <a:srgbClr val="F0F0F0"/>
                </a:solidFill>
              </a:rPr>
              <a:t>• What is a digital detox and how effective is it?</a:t>
            </a:r>
          </a:p>
          <a:p>
            <a:pPr>
              <a:spcBef>
                <a:spcPts val="400"/>
              </a:spcBef>
            </a:pPr>
            <a:r>
              <a:rPr sz="1700">
                <a:solidFill>
                  <a:srgbClr val="F0F0F0"/>
                </a:solidFill>
              </a:rPr>
              <a:t>• What digital wellbeing resources are available for young people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Royal Society of Public Health: #StatusOfMind report (rsph.org.uk)</a:t>
            </a:r>
          </a:p>
          <a:p>
            <a:pPr>
              <a:spcBef>
                <a:spcPts val="400"/>
              </a:spcBef>
            </a:pPr>
            <a:r>
              <a:rPr sz="1400">
                <a:solidFill>
                  <a:srgbClr val="F0F0F0"/>
                </a:solidFill>
              </a:rPr>
              <a:t>• Young Minds: youngminds.org.uk</a:t>
            </a:r>
          </a:p>
          <a:p>
            <a:pPr>
              <a:spcBef>
                <a:spcPts val="400"/>
              </a:spcBef>
            </a:pPr>
            <a:r>
              <a:rPr sz="1400">
                <a:solidFill>
                  <a:srgbClr val="F0F0F0"/>
                </a:solidFill>
              </a:rPr>
              <a:t>• Internet Matters: internetmatters.org</a:t>
            </a:r>
          </a:p>
          <a:p>
            <a:pPr>
              <a:spcBef>
                <a:spcPts val="400"/>
              </a:spcBef>
            </a:pPr>
            <a:r>
              <a:rPr sz="1400">
                <a:solidFill>
                  <a:srgbClr val="F0F0F0"/>
                </a:solidFill>
              </a:rPr>
              <a:t>• NHS: Screen time and children (nhs.uk)</a:t>
            </a:r>
          </a:p>
          <a:p>
            <a:pPr>
              <a:spcBef>
                <a:spcPts val="400"/>
              </a:spcBef>
            </a:pPr>
            <a:r>
              <a:rPr sz="1400">
                <a:solidFill>
                  <a:srgbClr val="F0F0F0"/>
                </a:solidFill>
              </a:rPr>
              <a:t>• Childnet: childnet.com</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45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Social Media and Mental Health</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45: Social Media and Mental Health</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
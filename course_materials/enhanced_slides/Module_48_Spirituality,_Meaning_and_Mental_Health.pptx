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Rectangle 3"/>
          <p:cNvSpPr/>
          <p:nvPr/>
        </p:nvSpPr>
        <p:spPr>
          <a:xfrm>
            <a:off x="0" y="0"/>
            <a:ext cx="9144000" cy="18288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0000"/>
            <a:ext cx="7589520" cy="548640"/>
          </a:xfrm>
          <a:prstGeom prst="rect">
            <a:avLst/>
          </a:prstGeom>
          <a:noFill/>
        </p:spPr>
        <p:txBody>
          <a:bodyPr wrap="square">
            <a:spAutoFit/>
          </a:bodyPr>
          <a:lstStyle/>
          <a:p>
            <a:pPr algn="l"/>
            <a:r>
              <a:rPr sz="3600" b="1" i="0">
                <a:solidFill>
                  <a:srgbClr val="1A1A1A"/>
                </a:solidFill>
              </a:rPr>
              <a:t>Module 48</a:t>
            </a:r>
          </a:p>
        </p:txBody>
      </p:sp>
      <p:sp>
        <p:nvSpPr>
          <p:cNvPr id="6" name="TextBox 5"/>
          <p:cNvSpPr txBox="1"/>
          <p:nvPr/>
        </p:nvSpPr>
        <p:spPr>
          <a:xfrm>
            <a:off x="457200" y="640080"/>
            <a:ext cx="7589520" cy="914400"/>
          </a:xfrm>
          <a:prstGeom prst="rect">
            <a:avLst/>
          </a:prstGeom>
          <a:noFill/>
        </p:spPr>
        <p:txBody>
          <a:bodyPr wrap="square">
            <a:spAutoFit/>
          </a:bodyPr>
          <a:lstStyle/>
          <a:p>
            <a:pPr algn="l"/>
            <a:r>
              <a:rPr sz="2600" b="0" i="0">
                <a:solidFill>
                  <a:srgbClr val="1A1A1A"/>
                </a:solidFill>
              </a:rPr>
              <a:t>Spirituality, Meaning and Mental Health</a:t>
            </a:r>
          </a:p>
        </p:txBody>
      </p:sp>
      <p:sp>
        <p:nvSpPr>
          <p:cNvPr id="7" name="TextBox 6"/>
          <p:cNvSpPr txBox="1"/>
          <p:nvPr/>
        </p:nvSpPr>
        <p:spPr>
          <a:xfrm>
            <a:off x="457200" y="2100000"/>
            <a:ext cx="8229600" cy="548640"/>
          </a:xfrm>
          <a:prstGeom prst="rect">
            <a:avLst/>
          </a:prstGeom>
          <a:noFill/>
        </p:spPr>
        <p:txBody>
          <a:bodyPr wrap="square">
            <a:spAutoFit/>
          </a:bodyPr>
          <a:lstStyle/>
          <a:p>
            <a:pPr algn="l"/>
            <a:r>
              <a:rPr sz="2000" b="1" i="0">
                <a:solidFill>
                  <a:srgbClr val="FF6B00"/>
                </a:solidFill>
              </a:rPr>
              <a:t>Melksham Mental Health — Comprehensive Course</a:t>
            </a:r>
          </a:p>
        </p:txBody>
      </p:sp>
      <p:sp>
        <p:nvSpPr>
          <p:cNvPr id="8" name="TextBox 7"/>
          <p:cNvSpPr txBox="1"/>
          <p:nvPr/>
        </p:nvSpPr>
        <p:spPr>
          <a:xfrm>
            <a:off x="457200" y="2650000"/>
            <a:ext cx="8229600" cy="457200"/>
          </a:xfrm>
          <a:prstGeom prst="rect">
            <a:avLst/>
          </a:prstGeom>
          <a:noFill/>
        </p:spPr>
        <p:txBody>
          <a:bodyPr wrap="square">
            <a:spAutoFit/>
          </a:bodyPr>
          <a:lstStyle/>
          <a:p>
            <a:pPr algn="l"/>
            <a:r>
              <a:rPr sz="1600" b="0" i="0">
                <a:solidFill>
                  <a:srgbClr val="AAAAAA"/>
                </a:solidFill>
              </a:rPr>
              <a:t>2-hour session  •  Includes 30-minute group discussion</a:t>
            </a:r>
          </a:p>
        </p:txBody>
      </p:sp>
      <p:sp>
        <p:nvSpPr>
          <p:cNvPr id="9" name="TextBox 8"/>
          <p:cNvSpPr txBox="1"/>
          <p:nvPr/>
        </p:nvSpPr>
        <p:spPr>
          <a:xfrm>
            <a:off x="457200" y="5958000"/>
            <a:ext cx="8229600" cy="457200"/>
          </a:xfrm>
          <a:prstGeom prst="rect">
            <a:avLst/>
          </a:prstGeom>
          <a:noFill/>
        </p:spPr>
        <p:txBody>
          <a:bodyPr wrap="square">
            <a:spAutoFit/>
          </a:bodyPr>
          <a:lstStyle/>
          <a:p>
            <a:pPr algn="ctr"/>
            <a:r>
              <a:rPr sz="1200" b="0" i="0">
                <a:solidFill>
                  <a:srgbClr val="AAAAAA"/>
                </a:solidFill>
              </a:rPr>
              <a:t>melksham-mentalhealth.us  |  Melksham-mental-health@outlook.com</a:t>
            </a:r>
          </a:p>
        </p:txBody>
      </p:sp>
      <p:sp>
        <p:nvSpPr>
          <p:cNvPr id="10" name="TextBox 9"/>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Session Overview</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00000"/>
            <a:ext cx="8229600" cy="1400000"/>
          </a:xfrm>
          <a:prstGeom prst="rect">
            <a:avLst/>
          </a:prstGeom>
          <a:noFill/>
        </p:spPr>
        <p:txBody>
          <a:bodyPr wrap="square">
            <a:spAutoFit/>
          </a:bodyPr>
          <a:lstStyle/>
          <a:p>
            <a:pPr algn="l"/>
            <a:r>
              <a:rPr sz="1500" b="0" i="0">
                <a:solidFill>
                  <a:srgbClr val="F0F0F0"/>
                </a:solidFill>
              </a:rPr>
              <a:t>Spirituality and meaning-making are important dimensions of mental health that are often overlooked in clinical settings. This module explores the relationship between spirituality, religion, meaning and mental health, and the evidence for incorporating spiritual care into mental health practice.</a:t>
            </a:r>
          </a:p>
        </p:txBody>
      </p:sp>
      <p:sp>
        <p:nvSpPr>
          <p:cNvPr id="7" name="TextBox 6"/>
          <p:cNvSpPr txBox="1"/>
          <p:nvPr/>
        </p:nvSpPr>
        <p:spPr>
          <a:xfrm>
            <a:off x="457200" y="2700000"/>
            <a:ext cx="8229600" cy="3200000"/>
          </a:xfrm>
          <a:prstGeom prst="rect">
            <a:avLst/>
          </a:prstGeom>
          <a:noFill/>
        </p:spPr>
        <p:txBody>
          <a:bodyPr wrap="square">
            <a:spAutoFit/>
          </a:bodyPr>
          <a:lstStyle/>
          <a:p>
            <a:pPr>
              <a:spcBef>
                <a:spcPts val="400"/>
              </a:spcBef>
            </a:pPr>
            <a:r>
              <a:rPr sz="1700">
                <a:solidFill>
                  <a:srgbClr val="F0F0F0"/>
                </a:solidFill>
              </a:rPr>
              <a:t>• Introduction &amp; Objectives  (15 min)</a:t>
            </a:r>
          </a:p>
          <a:p>
            <a:pPr>
              <a:spcBef>
                <a:spcPts val="400"/>
              </a:spcBef>
            </a:pPr>
            <a:r>
              <a:rPr sz="1700">
                <a:solidFill>
                  <a:srgbClr val="F0F0F0"/>
                </a:solidFill>
              </a:rPr>
              <a:t>• Evidence-Based Content  (45 min)</a:t>
            </a:r>
          </a:p>
          <a:p>
            <a:pPr>
              <a:spcBef>
                <a:spcPts val="400"/>
              </a:spcBef>
            </a:pPr>
            <a:r>
              <a:rPr sz="1700">
                <a:solidFill>
                  <a:srgbClr val="F0F0F0"/>
                </a:solidFill>
              </a:rPr>
              <a:t>• Case Study  (15 min)</a:t>
            </a:r>
          </a:p>
          <a:p>
            <a:pPr>
              <a:spcBef>
                <a:spcPts val="400"/>
              </a:spcBef>
            </a:pPr>
            <a:r>
              <a:rPr sz="1700">
                <a:solidFill>
                  <a:srgbClr val="F0F0F0"/>
                </a:solidFill>
              </a:rPr>
              <a:t>• Interactive Activity  (30 min)</a:t>
            </a:r>
          </a:p>
          <a:p>
            <a:pPr>
              <a:spcBef>
                <a:spcPts val="400"/>
              </a:spcBef>
            </a:pPr>
            <a:r>
              <a:rPr sz="1700">
                <a:solidFill>
                  <a:srgbClr val="F0F0F0"/>
                </a:solidFill>
              </a:rPr>
              <a:t>• Group Discussion  (30 min)</a:t>
            </a:r>
          </a:p>
          <a:p>
            <a:pPr>
              <a:spcBef>
                <a:spcPts val="400"/>
              </a:spcBef>
            </a:pPr>
            <a:r>
              <a:rPr sz="1700">
                <a:solidFill>
                  <a:srgbClr val="F0F0F0"/>
                </a:solidFill>
              </a:rPr>
              <a:t>• Wrap-Up &amp; Resources  (15 min)</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Learning Objectives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Understand the relationship between spirituality, religion and mental health</a:t>
            </a:r>
          </a:p>
          <a:p>
            <a:pPr>
              <a:spcBef>
                <a:spcPts val="400"/>
              </a:spcBef>
            </a:pPr>
            <a:r>
              <a:rPr sz="1700">
                <a:solidFill>
                  <a:srgbClr val="F0F0F0"/>
                </a:solidFill>
              </a:rPr>
              <a:t>• Explore the evidence for spiritual and religious practices in mental health</a:t>
            </a:r>
          </a:p>
          <a:p>
            <a:pPr>
              <a:spcBef>
                <a:spcPts val="400"/>
              </a:spcBef>
            </a:pPr>
            <a:r>
              <a:rPr sz="1700">
                <a:solidFill>
                  <a:srgbClr val="F0F0F0"/>
                </a:solidFill>
              </a:rPr>
              <a:t>• Identify how meaning-making supports recovery and resilience</a:t>
            </a:r>
          </a:p>
          <a:p>
            <a:pPr>
              <a:spcBef>
                <a:spcPts val="400"/>
              </a:spcBef>
            </a:pPr>
            <a:r>
              <a:rPr sz="1700">
                <a:solidFill>
                  <a:srgbClr val="F0F0F0"/>
                </a:solidFill>
              </a:rPr>
              <a:t>• Develop skills for incorporating spiritual care into mental health practice</a:t>
            </a:r>
          </a:p>
          <a:p>
            <a:pPr>
              <a:spcBef>
                <a:spcPts val="400"/>
              </a:spcBef>
            </a:pPr>
            <a:r>
              <a:rPr sz="1700">
                <a:solidFill>
                  <a:srgbClr val="F0F0F0"/>
                </a:solidFill>
              </a:rPr>
              <a:t>• Understand the limits of spiritual care and the importance of respecting diversity</a:t>
            </a:r>
          </a:p>
          <a:p>
            <a:pPr>
              <a:spcBef>
                <a:spcPts val="400"/>
              </a:spcBef>
            </a:pPr>
            <a:r>
              <a:rPr sz="1700">
                <a:solidFill>
                  <a:srgbClr val="F0F0F0"/>
                </a:solidFill>
              </a:rPr>
              <a:t>• Know the spiritual care resources available in Wiltshire</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Module 48: Key Topics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Spirituality: a sense of connection to something greater than oneself</a:t>
            </a:r>
          </a:p>
          <a:p>
            <a:pPr>
              <a:spcBef>
                <a:spcPts val="400"/>
              </a:spcBef>
            </a:pPr>
            <a:r>
              <a:rPr sz="1700">
                <a:solidFill>
                  <a:srgbClr val="F0F0F0"/>
                </a:solidFill>
              </a:rPr>
              <a:t>• Religion: organised systems of belief, practice and community</a:t>
            </a:r>
          </a:p>
          <a:p>
            <a:pPr>
              <a:spcBef>
                <a:spcPts val="400"/>
              </a:spcBef>
            </a:pPr>
            <a:r>
              <a:rPr sz="1700">
                <a:solidFill>
                  <a:srgbClr val="F0F0F0"/>
                </a:solidFill>
              </a:rPr>
              <a:t>• Meaning-making: finding purpose and significance in life experiences</a:t>
            </a:r>
          </a:p>
          <a:p>
            <a:pPr>
              <a:spcBef>
                <a:spcPts val="400"/>
              </a:spcBef>
            </a:pPr>
            <a:r>
              <a:rPr sz="1700">
                <a:solidFill>
                  <a:srgbClr val="F0F0F0"/>
                </a:solidFill>
              </a:rPr>
              <a:t>• Evidence: religious practice is associated with reduced depression and suicide risk</a:t>
            </a:r>
          </a:p>
          <a:p>
            <a:pPr>
              <a:spcBef>
                <a:spcPts val="400"/>
              </a:spcBef>
            </a:pPr>
            <a:r>
              <a:rPr sz="1700">
                <a:solidFill>
                  <a:srgbClr val="F0F0F0"/>
                </a:solidFill>
              </a:rPr>
              <a:t>• Existential crisis: loss of meaning following trauma, illness or bereavement</a:t>
            </a:r>
          </a:p>
          <a:p>
            <a:pPr>
              <a:spcBef>
                <a:spcPts val="400"/>
              </a:spcBef>
            </a:pPr>
            <a:r>
              <a:rPr sz="1700">
                <a:solidFill>
                  <a:srgbClr val="F0F0F0"/>
                </a:solidFill>
              </a:rPr>
              <a:t>• Spiritual care in mental health: listening, exploring and supporting spiritual needs</a:t>
            </a:r>
          </a:p>
          <a:p>
            <a:pPr>
              <a:spcBef>
                <a:spcPts val="400"/>
              </a:spcBef>
            </a:pPr>
            <a:r>
              <a:rPr sz="1700">
                <a:solidFill>
                  <a:srgbClr val="F0F0F0"/>
                </a:solidFill>
              </a:rPr>
              <a:t>• Diversity: respecting different spiritual and religious traditions</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Key Statistics &amp; Prevalence</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Religious practice is associated with 30% reduced risk of depression (Koenig et al.)</a:t>
            </a:r>
          </a:p>
          <a:p>
            <a:pPr>
              <a:spcBef>
                <a:spcPts val="400"/>
              </a:spcBef>
            </a:pPr>
            <a:r>
              <a:rPr sz="1700">
                <a:solidFill>
                  <a:srgbClr val="F0F0F0"/>
                </a:solidFill>
              </a:rPr>
              <a:t>• Meaning-making is a key component of recovery from trauma and mental illness</a:t>
            </a:r>
          </a:p>
          <a:p>
            <a:pPr>
              <a:spcBef>
                <a:spcPts val="400"/>
              </a:spcBef>
            </a:pPr>
            <a:r>
              <a:rPr sz="1700">
                <a:solidFill>
                  <a:srgbClr val="F0F0F0"/>
                </a:solidFill>
              </a:rPr>
              <a:t>• Spiritual wellbeing is associated with improved quality of life in chronic illness</a:t>
            </a:r>
          </a:p>
          <a:p>
            <a:pPr>
              <a:spcBef>
                <a:spcPts val="400"/>
              </a:spcBef>
            </a:pPr>
            <a:r>
              <a:rPr sz="1700">
                <a:solidFill>
                  <a:srgbClr val="F0F0F0"/>
                </a:solidFill>
              </a:rPr>
              <a:t>• Existential distress affects 30–40% of people with terminal illness</a:t>
            </a:r>
          </a:p>
          <a:p>
            <a:pPr>
              <a:spcBef>
                <a:spcPts val="400"/>
              </a:spcBef>
            </a:pPr>
            <a:r>
              <a:rPr sz="1700">
                <a:solidFill>
                  <a:srgbClr val="F0F0F0"/>
                </a:solidFill>
              </a:rPr>
              <a:t>• Spiritual care reduces anxiety and improves wellbeing in palliative care</a:t>
            </a:r>
          </a:p>
          <a:p>
            <a:pPr>
              <a:spcBef>
                <a:spcPts val="400"/>
              </a:spcBef>
            </a:pPr>
            <a:r>
              <a:rPr sz="1700">
                <a:solidFill>
                  <a:srgbClr val="F0F0F0"/>
                </a:solidFill>
              </a:rPr>
              <a:t>• Chaplaincy services are available in most NHS mental health trusts</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Evidence &amp; Research</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000000"/>
          </a:xfrm>
          <a:prstGeom prst="rect">
            <a:avLst/>
          </a:prstGeom>
          <a:noFill/>
        </p:spPr>
        <p:txBody>
          <a:bodyPr wrap="square">
            <a:spAutoFit/>
          </a:bodyPr>
          <a:lstStyle/>
          <a:p>
            <a:pPr>
              <a:spcBef>
                <a:spcPts val="400"/>
              </a:spcBef>
            </a:pPr>
            <a:r>
              <a:rPr sz="1700">
                <a:solidFill>
                  <a:srgbClr val="F0F0F0"/>
                </a:solidFill>
              </a:rPr>
              <a:t>• Meaning-making therapy is effective for existential distress in terminal illness</a:t>
            </a:r>
          </a:p>
          <a:p>
            <a:pPr>
              <a:spcBef>
                <a:spcPts val="400"/>
              </a:spcBef>
            </a:pPr>
            <a:r>
              <a:rPr sz="1700">
                <a:solidFill>
                  <a:srgbClr val="F0F0F0"/>
                </a:solidFill>
              </a:rPr>
              <a:t>• Logotherapy (Viktor Frankl): finding meaning in suffering supports resilience</a:t>
            </a:r>
          </a:p>
          <a:p>
            <a:pPr>
              <a:spcBef>
                <a:spcPts val="400"/>
              </a:spcBef>
            </a:pPr>
            <a:r>
              <a:rPr sz="1700">
                <a:solidFill>
                  <a:srgbClr val="F0F0F0"/>
                </a:solidFill>
              </a:rPr>
              <a:t>• ACT incorporates values and meaning as core therapeutic components</a:t>
            </a:r>
          </a:p>
          <a:p>
            <a:pPr>
              <a:spcBef>
                <a:spcPts val="400"/>
              </a:spcBef>
            </a:pPr>
            <a:r>
              <a:rPr sz="1700">
                <a:solidFill>
                  <a:srgbClr val="F0F0F0"/>
                </a:solidFill>
              </a:rPr>
              <a:t>• Spiritual care in mental health improves patient satisfaction and wellbeing</a:t>
            </a:r>
          </a:p>
          <a:p>
            <a:pPr>
              <a:spcBef>
                <a:spcPts val="400"/>
              </a:spcBef>
            </a:pPr>
            <a:r>
              <a:rPr sz="1700">
                <a:solidFill>
                  <a:srgbClr val="F0F0F0"/>
                </a:solidFill>
              </a:rPr>
              <a:t>• Religious communities provide social support, which is a key protective factor</a:t>
            </a:r>
          </a:p>
          <a:p>
            <a:pPr>
              <a:spcBef>
                <a:spcPts val="400"/>
              </a:spcBef>
            </a:pPr>
            <a:r>
              <a:rPr sz="1700">
                <a:solidFill>
                  <a:srgbClr val="F0F0F0"/>
                </a:solidFill>
              </a:rPr>
              <a:t>• Mindfulness has roots in Buddhist meditation and supports spiritual wellbeing</a:t>
            </a:r>
          </a:p>
        </p:txBody>
      </p:sp>
      <p:sp>
        <p:nvSpPr>
          <p:cNvPr id="7" name="TextBox 6"/>
          <p:cNvSpPr txBox="1"/>
          <p:nvPr/>
        </p:nvSpPr>
        <p:spPr>
          <a:xfrm>
            <a:off x="457200" y="5400000"/>
            <a:ext cx="8229600" cy="457200"/>
          </a:xfrm>
          <a:prstGeom prst="rect">
            <a:avLst/>
          </a:prstGeom>
          <a:noFill/>
        </p:spPr>
        <p:txBody>
          <a:bodyPr wrap="square">
            <a:spAutoFit/>
          </a:bodyPr>
          <a:lstStyle/>
          <a:p>
            <a:pPr algn="l"/>
            <a:r>
              <a:rPr sz="1300" b="1" i="0">
                <a:solidFill>
                  <a:srgbClr val="FF6B00"/>
                </a:solidFill>
              </a:rPr>
              <a:t>This content does not replace professional mental health advice.</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Case Study</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200000"/>
          </a:xfrm>
          <a:prstGeom prst="rect">
            <a:avLst/>
          </a:prstGeom>
          <a:noFill/>
        </p:spPr>
        <p:txBody>
          <a:bodyPr wrap="square">
            <a:spAutoFit/>
          </a:bodyPr>
          <a:lstStyle/>
          <a:p>
            <a:pPr algn="l"/>
            <a:r>
              <a:rPr sz="1500" b="0" i="0">
                <a:solidFill>
                  <a:srgbClr val="F0F0F0"/>
                </a:solidFill>
              </a:rPr>
              <a:t>Ruth, 68, was diagnosed with terminal cancer and experienced profound existential distress — questioning the meaning of her life and fearing death. She was referred to a hospital chaplain and began meaning-making therapy. Ruth explored her life story, identified her values and found meaning in her relationships and legacy. She also reconnected with her faith community, which provided comfort and social support. Ruth described her final months as 'the most meaningful of my life'.</a:t>
            </a:r>
          </a:p>
        </p:txBody>
      </p:sp>
      <p:sp>
        <p:nvSpPr>
          <p:cNvPr id="7" name="TextBox 6"/>
          <p:cNvSpPr txBox="1"/>
          <p:nvPr/>
        </p:nvSpPr>
        <p:spPr>
          <a:xfrm>
            <a:off x="457200" y="5600000"/>
            <a:ext cx="8229600" cy="457200"/>
          </a:xfrm>
          <a:prstGeom prst="rect">
            <a:avLst/>
          </a:prstGeom>
          <a:noFill/>
        </p:spPr>
        <p:txBody>
          <a:bodyPr wrap="square">
            <a:spAutoFit/>
          </a:bodyPr>
          <a:lstStyle/>
          <a:p>
            <a:pPr algn="l"/>
            <a:r>
              <a:rPr sz="1100" b="0" i="1">
                <a:solidFill>
                  <a:srgbClr val="AAAAAA"/>
                </a:solidFill>
              </a:rPr>
              <a:t>Names and details are fictional. Any resemblance to real persons is coincidental.</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Coping Strategies &amp; Interventions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Meaning-making therapy: finding purpose and significance in life experiences</a:t>
            </a:r>
          </a:p>
          <a:p>
            <a:pPr>
              <a:spcBef>
                <a:spcPts val="400"/>
              </a:spcBef>
            </a:pPr>
            <a:r>
              <a:rPr sz="1700">
                <a:solidFill>
                  <a:srgbClr val="F0F0F0"/>
                </a:solidFill>
              </a:rPr>
              <a:t>• Logotherapy: Viktor Frankl's approach to finding meaning in suffering</a:t>
            </a:r>
          </a:p>
          <a:p>
            <a:pPr>
              <a:spcBef>
                <a:spcPts val="400"/>
              </a:spcBef>
            </a:pPr>
            <a:r>
              <a:rPr sz="1700">
                <a:solidFill>
                  <a:srgbClr val="F0F0F0"/>
                </a:solidFill>
              </a:rPr>
              <a:t>• ACT: values clarification and committed action</a:t>
            </a:r>
          </a:p>
          <a:p>
            <a:pPr>
              <a:spcBef>
                <a:spcPts val="400"/>
              </a:spcBef>
            </a:pPr>
            <a:r>
              <a:rPr sz="1700">
                <a:solidFill>
                  <a:srgbClr val="F0F0F0"/>
                </a:solidFill>
              </a:rPr>
              <a:t>• Mindfulness: present-moment awareness and spiritual wellbeing</a:t>
            </a:r>
          </a:p>
          <a:p>
            <a:pPr>
              <a:spcBef>
                <a:spcPts val="400"/>
              </a:spcBef>
            </a:pPr>
            <a:r>
              <a:rPr sz="1700">
                <a:solidFill>
                  <a:srgbClr val="F0F0F0"/>
                </a:solidFill>
              </a:rPr>
              <a:t>• Chaplaincy: spiritual care from trained chaplains in NHS settings</a:t>
            </a:r>
          </a:p>
          <a:p>
            <a:pPr>
              <a:spcBef>
                <a:spcPts val="400"/>
              </a:spcBef>
            </a:pPr>
            <a:r>
              <a:rPr sz="1700">
                <a:solidFill>
                  <a:srgbClr val="F0F0F0"/>
                </a:solidFill>
              </a:rPr>
              <a:t>• Religious community: social support, ritual and shared meaning</a:t>
            </a:r>
          </a:p>
          <a:p>
            <a:pPr>
              <a:spcBef>
                <a:spcPts val="400"/>
              </a:spcBef>
            </a:pPr>
            <a:r>
              <a:rPr sz="1700">
                <a:solidFill>
                  <a:srgbClr val="F0F0F0"/>
                </a:solidFill>
              </a:rPr>
              <a:t>• Journalling: reflecting on values, meaning and purpose</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Interactive Activity</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2800000"/>
          </a:xfrm>
          <a:prstGeom prst="rect">
            <a:avLst/>
          </a:prstGeom>
          <a:noFill/>
        </p:spPr>
        <p:txBody>
          <a:bodyPr wrap="square">
            <a:spAutoFit/>
          </a:bodyPr>
          <a:lstStyle/>
          <a:p>
            <a:pPr algn="l"/>
            <a:r>
              <a:rPr sz="1700" b="0" i="0">
                <a:solidFill>
                  <a:srgbClr val="F0F0F0"/>
                </a:solidFill>
              </a:rPr>
              <a:t>Meaning reflection: Participants reflect on the question 'What gives your life meaning?' and write a brief response. Discuss: How does meaning affect mental health and resilience? How can mental health professionals incorporate spiritual care into their practice?</a:t>
            </a:r>
          </a:p>
        </p:txBody>
      </p:sp>
      <p:sp>
        <p:nvSpPr>
          <p:cNvPr id="7" name="TextBox 6"/>
          <p:cNvSpPr txBox="1"/>
          <p:nvPr/>
        </p:nvSpPr>
        <p:spPr>
          <a:xfrm>
            <a:off x="457200" y="4200000"/>
            <a:ext cx="8229600" cy="365760"/>
          </a:xfrm>
          <a:prstGeom prst="rect">
            <a:avLst/>
          </a:prstGeom>
          <a:noFill/>
        </p:spPr>
        <p:txBody>
          <a:bodyPr wrap="square">
            <a:spAutoFit/>
          </a:bodyPr>
          <a:lstStyle/>
          <a:p>
            <a:pPr algn="l"/>
            <a:r>
              <a:rPr sz="1600" b="1" i="0">
                <a:solidFill>
                  <a:srgbClr val="FF6B00"/>
                </a:solidFill>
              </a:rPr>
              <a:t>Instructions:</a:t>
            </a:r>
          </a:p>
        </p:txBody>
      </p:sp>
      <p:sp>
        <p:nvSpPr>
          <p:cNvPr id="8" name="TextBox 7"/>
          <p:cNvSpPr txBox="1"/>
          <p:nvPr/>
        </p:nvSpPr>
        <p:spPr>
          <a:xfrm>
            <a:off x="457200" y="4600000"/>
            <a:ext cx="8229600" cy="1500000"/>
          </a:xfrm>
          <a:prstGeom prst="rect">
            <a:avLst/>
          </a:prstGeom>
          <a:noFill/>
        </p:spPr>
        <p:txBody>
          <a:bodyPr wrap="square">
            <a:spAutoFit/>
          </a:bodyPr>
          <a:lstStyle/>
          <a:p>
            <a:pPr>
              <a:spcBef>
                <a:spcPts val="400"/>
              </a:spcBef>
            </a:pPr>
            <a:r>
              <a:rPr sz="1500">
                <a:solidFill>
                  <a:srgbClr val="AAAAAA"/>
                </a:solidFill>
              </a:rPr>
              <a:t>• Take 5 minutes to reflect individually or in pairs</a:t>
            </a:r>
          </a:p>
          <a:p>
            <a:pPr>
              <a:spcBef>
                <a:spcPts val="400"/>
              </a:spcBef>
            </a:pPr>
            <a:r>
              <a:rPr sz="1500">
                <a:solidFill>
                  <a:srgbClr val="AAAAAA"/>
                </a:solidFill>
              </a:rPr>
              <a:t>• Share your thoughts with the group (optional — sharing is never required)</a:t>
            </a:r>
          </a:p>
          <a:p>
            <a:pPr>
              <a:spcBef>
                <a:spcPts val="400"/>
              </a:spcBef>
            </a:pPr>
            <a:r>
              <a:rPr sz="1500">
                <a:solidFill>
                  <a:srgbClr val="AAAAAA"/>
                </a:solidFill>
              </a:rPr>
              <a:t>• Facilitator will guide and support the discussion</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Group Discussion (30 minutes)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57200"/>
          </a:xfrm>
          <a:prstGeom prst="rect">
            <a:avLst/>
          </a:prstGeom>
          <a:noFill/>
        </p:spPr>
        <p:txBody>
          <a:bodyPr wrap="square">
            <a:spAutoFit/>
          </a:bodyPr>
          <a:lstStyle/>
          <a:p>
            <a:pPr algn="l"/>
            <a:r>
              <a:rPr sz="1800" b="1" i="0">
                <a:solidFill>
                  <a:srgbClr val="00BFBF"/>
                </a:solidFill>
              </a:rPr>
              <a:t>Reflection Questions</a:t>
            </a:r>
          </a:p>
        </p:txBody>
      </p:sp>
      <p:sp>
        <p:nvSpPr>
          <p:cNvPr id="7" name="TextBox 6"/>
          <p:cNvSpPr txBox="1"/>
          <p:nvPr/>
        </p:nvSpPr>
        <p:spPr>
          <a:xfrm>
            <a:off x="457200" y="1800000"/>
            <a:ext cx="8229600" cy="4000000"/>
          </a:xfrm>
          <a:prstGeom prst="rect">
            <a:avLst/>
          </a:prstGeom>
          <a:noFill/>
        </p:spPr>
        <p:txBody>
          <a:bodyPr wrap="square">
            <a:spAutoFit/>
          </a:bodyPr>
          <a:lstStyle/>
          <a:p>
            <a:pPr>
              <a:spcBef>
                <a:spcPts val="400"/>
              </a:spcBef>
            </a:pPr>
            <a:r>
              <a:rPr sz="1700">
                <a:solidFill>
                  <a:srgbClr val="F0F0F0"/>
                </a:solidFill>
              </a:rPr>
              <a:t>• What gives your life meaning and purpose?</a:t>
            </a:r>
          </a:p>
          <a:p>
            <a:pPr>
              <a:spcBef>
                <a:spcPts val="400"/>
              </a:spcBef>
            </a:pPr>
            <a:r>
              <a:rPr sz="1700">
                <a:solidFill>
                  <a:srgbClr val="F0F0F0"/>
                </a:solidFill>
              </a:rPr>
              <a:t>• How does spirituality or religion affect mental health — positively and negatively?</a:t>
            </a:r>
          </a:p>
          <a:p>
            <a:pPr>
              <a:spcBef>
                <a:spcPts val="400"/>
              </a:spcBef>
            </a:pPr>
            <a:r>
              <a:rPr sz="1700">
                <a:solidFill>
                  <a:srgbClr val="F0F0F0"/>
                </a:solidFill>
              </a:rPr>
              <a:t>• How can mental health professionals incorporate spiritual care sensitively?</a:t>
            </a:r>
          </a:p>
          <a:p>
            <a:pPr>
              <a:spcBef>
                <a:spcPts val="400"/>
              </a:spcBef>
            </a:pPr>
            <a:r>
              <a:rPr sz="1700">
                <a:solidFill>
                  <a:srgbClr val="F0F0F0"/>
                </a:solidFill>
              </a:rPr>
              <a:t>• What is the relationship between meaning-making and recovery?</a:t>
            </a:r>
          </a:p>
          <a:p>
            <a:pPr>
              <a:spcBef>
                <a:spcPts val="400"/>
              </a:spcBef>
            </a:pPr>
            <a:r>
              <a:rPr sz="1700">
                <a:solidFill>
                  <a:srgbClr val="F0F0F0"/>
                </a:solidFill>
              </a:rPr>
              <a:t>• What spiritual care resources are available in Wiltshire?</a:t>
            </a:r>
          </a:p>
        </p:txBody>
      </p:sp>
      <p:sp>
        <p:nvSpPr>
          <p:cNvPr id="8" name="TextBox 7"/>
          <p:cNvSpPr txBox="1"/>
          <p:nvPr/>
        </p:nvSpPr>
        <p:spPr>
          <a:xfrm>
            <a:off x="457200" y="5958000"/>
            <a:ext cx="8229600" cy="457200"/>
          </a:xfrm>
          <a:prstGeom prst="rect">
            <a:avLst/>
          </a:prstGeom>
          <a:noFill/>
        </p:spPr>
        <p:txBody>
          <a:bodyPr wrap="square">
            <a:spAutoFit/>
          </a:bodyPr>
          <a:lstStyle/>
          <a:p>
            <a:pPr algn="ctr"/>
            <a:r>
              <a:rPr sz="1400" b="1" i="0">
                <a:solidFill>
                  <a:srgbClr val="FF6B00"/>
                </a:solidFill>
              </a:rPr>
              <a:t>Remember: You are never alone. Help is always available.</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Resources &amp; Further Support</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365760"/>
          </a:xfrm>
          <a:prstGeom prst="rect">
            <a:avLst/>
          </a:prstGeom>
          <a:noFill/>
        </p:spPr>
        <p:txBody>
          <a:bodyPr wrap="square">
            <a:spAutoFit/>
          </a:bodyPr>
          <a:lstStyle/>
          <a:p>
            <a:pPr algn="l"/>
            <a:r>
              <a:rPr sz="1800" b="1" i="0">
                <a:solidFill>
                  <a:srgbClr val="00BFBF"/>
                </a:solidFill>
              </a:rPr>
              <a:t>Key References</a:t>
            </a:r>
          </a:p>
        </p:txBody>
      </p:sp>
      <p:sp>
        <p:nvSpPr>
          <p:cNvPr id="7" name="TextBox 6"/>
          <p:cNvSpPr txBox="1"/>
          <p:nvPr/>
        </p:nvSpPr>
        <p:spPr>
          <a:xfrm>
            <a:off x="457200" y="1700000"/>
            <a:ext cx="8229600" cy="2200000"/>
          </a:xfrm>
          <a:prstGeom prst="rect">
            <a:avLst/>
          </a:prstGeom>
          <a:noFill/>
        </p:spPr>
        <p:txBody>
          <a:bodyPr wrap="square">
            <a:spAutoFit/>
          </a:bodyPr>
          <a:lstStyle/>
          <a:p>
            <a:pPr>
              <a:spcBef>
                <a:spcPts val="400"/>
              </a:spcBef>
            </a:pPr>
            <a:r>
              <a:rPr sz="1400">
                <a:solidFill>
                  <a:srgbClr val="F0F0F0"/>
                </a:solidFill>
              </a:rPr>
              <a:t>• Mind UK: Spirituality and mental health (mind.org.uk)</a:t>
            </a:r>
          </a:p>
          <a:p>
            <a:pPr>
              <a:spcBef>
                <a:spcPts val="400"/>
              </a:spcBef>
            </a:pPr>
            <a:r>
              <a:rPr sz="1400">
                <a:solidFill>
                  <a:srgbClr val="F0F0F0"/>
                </a:solidFill>
              </a:rPr>
              <a:t>• Royal College of Psychiatrists: Spirituality and mental health (rcpsych.ac.uk)</a:t>
            </a:r>
          </a:p>
          <a:p>
            <a:pPr>
              <a:spcBef>
                <a:spcPts val="400"/>
              </a:spcBef>
            </a:pPr>
            <a:r>
              <a:rPr sz="1400">
                <a:solidFill>
                  <a:srgbClr val="F0F0F0"/>
                </a:solidFill>
              </a:rPr>
              <a:t>• NHS Chaplaincy: nhs.uk/conditions/social-care-and-support/chaplaincy</a:t>
            </a:r>
          </a:p>
          <a:p>
            <a:pPr>
              <a:spcBef>
                <a:spcPts val="400"/>
              </a:spcBef>
            </a:pPr>
            <a:r>
              <a:rPr sz="1400">
                <a:solidFill>
                  <a:srgbClr val="F0F0F0"/>
                </a:solidFill>
              </a:rPr>
              <a:t>• Viktor Frankl Institute: viktorfrankl.org</a:t>
            </a:r>
          </a:p>
          <a:p>
            <a:pPr>
              <a:spcBef>
                <a:spcPts val="400"/>
              </a:spcBef>
            </a:pPr>
            <a:r>
              <a:rPr sz="1400">
                <a:solidFill>
                  <a:srgbClr val="F0F0F0"/>
                </a:solidFill>
              </a:rPr>
              <a:t>• Samaritans: 116 123 (free, 24/7)</a:t>
            </a:r>
          </a:p>
        </p:txBody>
      </p:sp>
      <p:sp>
        <p:nvSpPr>
          <p:cNvPr id="8" name="TextBox 7"/>
          <p:cNvSpPr txBox="1"/>
          <p:nvPr/>
        </p:nvSpPr>
        <p:spPr>
          <a:xfrm>
            <a:off x="457200" y="4000000"/>
            <a:ext cx="8229600" cy="365760"/>
          </a:xfrm>
          <a:prstGeom prst="rect">
            <a:avLst/>
          </a:prstGeom>
          <a:noFill/>
        </p:spPr>
        <p:txBody>
          <a:bodyPr wrap="square">
            <a:spAutoFit/>
          </a:bodyPr>
          <a:lstStyle/>
          <a:p>
            <a:pPr algn="l"/>
            <a:r>
              <a:rPr sz="1800" b="1" i="0">
                <a:solidFill>
                  <a:srgbClr val="FF6B00"/>
                </a:solidFill>
              </a:rPr>
              <a:t>Crisis Support</a:t>
            </a:r>
          </a:p>
        </p:txBody>
      </p:sp>
      <p:sp>
        <p:nvSpPr>
          <p:cNvPr id="9" name="TextBox 8"/>
          <p:cNvSpPr txBox="1"/>
          <p:nvPr/>
        </p:nvSpPr>
        <p:spPr>
          <a:xfrm>
            <a:off x="457200" y="4450000"/>
            <a:ext cx="8229600" cy="1800000"/>
          </a:xfrm>
          <a:prstGeom prst="rect">
            <a:avLst/>
          </a:prstGeom>
          <a:noFill/>
        </p:spPr>
        <p:txBody>
          <a:bodyPr wrap="square">
            <a:spAutoFit/>
          </a:bodyPr>
          <a:lstStyle/>
          <a:p>
            <a:pPr>
              <a:spcBef>
                <a:spcPts val="400"/>
              </a:spcBef>
            </a:pPr>
            <a:r>
              <a:rPr sz="1300">
                <a:solidFill>
                  <a:srgbClr val="AAAAAA"/>
                </a:solidFill>
              </a:rPr>
              <a:t>• Emergency: 999</a:t>
            </a:r>
          </a:p>
          <a:p>
            <a:pPr>
              <a:spcBef>
                <a:spcPts val="400"/>
              </a:spcBef>
            </a:pPr>
            <a:r>
              <a:rPr sz="1300">
                <a:solidFill>
                  <a:srgbClr val="AAAAAA"/>
                </a:solidFill>
              </a:rPr>
              <a:t>• NHS 111: 24/7 urgent mental health support</a:t>
            </a:r>
          </a:p>
          <a:p>
            <a:pPr>
              <a:spcBef>
                <a:spcPts val="400"/>
              </a:spcBef>
            </a:pPr>
            <a:r>
              <a:rPr sz="1300">
                <a:solidFill>
                  <a:srgbClr val="AAAAAA"/>
                </a:solidFill>
              </a:rPr>
              <a:t>• Samaritans: 116 123 (free, 24/7)</a:t>
            </a:r>
          </a:p>
          <a:p>
            <a:pPr>
              <a:spcBef>
                <a:spcPts val="400"/>
              </a:spcBef>
            </a:pPr>
            <a:r>
              <a:rPr sz="1300">
                <a:solidFill>
                  <a:srgbClr val="AAAAAA"/>
                </a:solidFill>
              </a:rPr>
              <a:t>• Shout Crisis Text: Text SHOUT to 85258</a:t>
            </a:r>
          </a:p>
          <a:p>
            <a:pPr>
              <a:spcBef>
                <a:spcPts val="400"/>
              </a:spcBef>
            </a:pPr>
            <a:r>
              <a:rPr sz="1300">
                <a:solidFill>
                  <a:srgbClr val="AAAAAA"/>
                </a:solidFill>
              </a:rPr>
              <a:t>• Wiltshire Crisis Line: 0800 953 0110 (24/7)</a:t>
            </a:r>
          </a:p>
          <a:p>
            <a:pPr>
              <a:spcBef>
                <a:spcPts val="400"/>
              </a:spcBef>
            </a:pPr>
            <a:r>
              <a:rPr sz="1300">
                <a:solidFill>
                  <a:srgbClr val="AAAAAA"/>
                </a:solidFill>
              </a:rPr>
              <a:t>• PAPYRUS (under 35): 0800 068 4141</a:t>
            </a:r>
          </a:p>
        </p:txBody>
      </p:sp>
      <p:sp>
        <p:nvSpPr>
          <p:cNvPr id="10" name="TextBox 9"/>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Rectangle 3"/>
          <p:cNvSpPr/>
          <p:nvPr/>
        </p:nvSpPr>
        <p:spPr>
          <a:xfrm>
            <a:off x="0" y="0"/>
            <a:ext cx="9144000" cy="18288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0000"/>
            <a:ext cx="7589520" cy="640080"/>
          </a:xfrm>
          <a:prstGeom prst="rect">
            <a:avLst/>
          </a:prstGeom>
          <a:noFill/>
        </p:spPr>
        <p:txBody>
          <a:bodyPr wrap="square">
            <a:spAutoFit/>
          </a:bodyPr>
          <a:lstStyle/>
          <a:p>
            <a:pPr algn="l"/>
            <a:r>
              <a:rPr sz="3400" b="1" i="0">
                <a:solidFill>
                  <a:srgbClr val="1A1A1A"/>
                </a:solidFill>
              </a:rPr>
              <a:t>Module 48 Complete</a:t>
            </a:r>
          </a:p>
        </p:txBody>
      </p:sp>
      <p:sp>
        <p:nvSpPr>
          <p:cNvPr id="6" name="TextBox 5"/>
          <p:cNvSpPr txBox="1"/>
          <p:nvPr/>
        </p:nvSpPr>
        <p:spPr>
          <a:xfrm>
            <a:off x="457200" y="700000"/>
            <a:ext cx="7589520" cy="640080"/>
          </a:xfrm>
          <a:prstGeom prst="rect">
            <a:avLst/>
          </a:prstGeom>
          <a:noFill/>
        </p:spPr>
        <p:txBody>
          <a:bodyPr wrap="square">
            <a:spAutoFit/>
          </a:bodyPr>
          <a:lstStyle/>
          <a:p>
            <a:pPr algn="l"/>
            <a:r>
              <a:rPr sz="2000" b="0" i="0">
                <a:solidFill>
                  <a:srgbClr val="1A1A1A"/>
                </a:solidFill>
              </a:rPr>
              <a:t>Spirituality, Meaning and Mental Health</a:t>
            </a:r>
          </a:p>
        </p:txBody>
      </p:sp>
      <p:sp>
        <p:nvSpPr>
          <p:cNvPr id="7" name="TextBox 6"/>
          <p:cNvSpPr txBox="1"/>
          <p:nvPr/>
        </p:nvSpPr>
        <p:spPr>
          <a:xfrm>
            <a:off x="457200" y="2100000"/>
            <a:ext cx="8229600" cy="3200000"/>
          </a:xfrm>
          <a:prstGeom prst="rect">
            <a:avLst/>
          </a:prstGeom>
          <a:noFill/>
        </p:spPr>
        <p:txBody>
          <a:bodyPr wrap="square">
            <a:spAutoFit/>
          </a:bodyPr>
          <a:lstStyle/>
          <a:p>
            <a:pPr>
              <a:spcBef>
                <a:spcPts val="400"/>
              </a:spcBef>
            </a:pPr>
            <a:r>
              <a:rPr sz="1700">
                <a:solidFill>
                  <a:srgbClr val="F0F0F0"/>
                </a:solidFill>
              </a:rPr>
              <a:t>• You have completed Module 48: Spirituality, Meaning and Mental Health</a:t>
            </a:r>
          </a:p>
          <a:p>
            <a:pPr>
              <a:spcBef>
                <a:spcPts val="400"/>
              </a:spcBef>
            </a:pPr>
            <a:r>
              <a:rPr sz="1700">
                <a:solidFill>
                  <a:srgbClr val="F0F0F0"/>
                </a:solidFill>
              </a:rPr>
              <a:t>• Key concepts and evidence-based strategies have been explored</a:t>
            </a:r>
          </a:p>
          <a:p>
            <a:pPr>
              <a:spcBef>
                <a:spcPts val="400"/>
              </a:spcBef>
            </a:pPr>
            <a:r>
              <a:rPr sz="1700">
                <a:solidFill>
                  <a:srgbClr val="F0F0F0"/>
                </a:solidFill>
              </a:rPr>
              <a:t>• Please complete the post-session reflection form</a:t>
            </a:r>
          </a:p>
          <a:p>
            <a:pPr>
              <a:spcBef>
                <a:spcPts val="400"/>
              </a:spcBef>
            </a:pPr>
            <a:r>
              <a:rPr sz="1700">
                <a:solidFill>
                  <a:srgbClr val="F0F0F0"/>
                </a:solidFill>
              </a:rPr>
              <a:t>• Access course materials and handouts in the Members Portal</a:t>
            </a:r>
          </a:p>
          <a:p>
            <a:pPr>
              <a:spcBef>
                <a:spcPts val="400"/>
              </a:spcBef>
            </a:pPr>
            <a:r>
              <a:rPr sz="1700">
                <a:solidFill>
                  <a:srgbClr val="F0F0F0"/>
                </a:solidFill>
              </a:rPr>
              <a:t>• Our next session builds on today's learning</a:t>
            </a:r>
          </a:p>
        </p:txBody>
      </p:sp>
      <p:sp>
        <p:nvSpPr>
          <p:cNvPr id="8" name="TextBox 7"/>
          <p:cNvSpPr txBox="1"/>
          <p:nvPr/>
        </p:nvSpPr>
        <p:spPr>
          <a:xfrm>
            <a:off x="457200" y="5958000"/>
            <a:ext cx="8229600" cy="457200"/>
          </a:xfrm>
          <a:prstGeom prst="rect">
            <a:avLst/>
          </a:prstGeom>
          <a:noFill/>
        </p:spPr>
        <p:txBody>
          <a:bodyPr wrap="square">
            <a:spAutoFit/>
          </a:bodyPr>
          <a:lstStyle/>
          <a:p>
            <a:pPr algn="ctr"/>
            <a:r>
              <a:rPr sz="1300" b="0" i="0">
                <a:solidFill>
                  <a:srgbClr val="AAAAAA"/>
                </a:solidFill>
              </a:rPr>
              <a:t>melksham-mentalhealth.us  |  Melksham-mental-health@outlook.com</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
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548640"/>
          </a:xfrm>
          <a:prstGeom prst="rect">
            <a:avLst/>
          </a:prstGeom>
          <a:noFill/>
        </p:spPr>
        <p:txBody>
          <a:bodyPr wrap="square">
            <a:spAutoFit/>
          </a:bodyPr>
          <a:lstStyle/>
          <a:p>
            <a:pPr algn="l"/>
            <a:r>
              <a:rPr sz="3600" b="1" i="0">
                <a:solidFill>
                  <a:srgbClr val="1A1A1A"/>
                </a:solidFill>
              </a:rPr>
              <a:t>Module 50</a:t>
            </a:r>
          </a:p>
        </p:txBody>
      </p:sp>
      <p:sp>
        <p:nvSpPr>
          <p:cNvPr id="6" name="TextBox 5"/>
          <p:cNvSpPr txBox="1"/>
          <p:nvPr/>
        </p:nvSpPr>
        <p:spPr>
          <a:xfrm>
            <a:off x="457200" y="640080"/>
            <a:ext cx="7589520" cy="914400"/>
          </a:xfrm>
          <a:prstGeom prst="rect">
            <a:avLst/>
          </a:prstGeom>
          <a:noFill/>
        </p:spPr>
        <p:txBody>
          <a:bodyPr wrap="square">
            <a:spAutoFit/>
          </a:bodyPr>
          <a:lstStyle/>
          <a:p>
            <a:pPr algn="l"/>
            <a:r>
              <a:rPr sz="2600" b="0" i="0">
                <a:solidFill>
                  <a:srgbClr val="1A1A1A"/>
                </a:solidFill>
              </a:rPr>
              <a:t>Course Completion and Continuing the Journey</a:t>
            </a:r>
          </a:p>
        </p:txBody>
      </p:sp>
      <p:sp>
        <p:nvSpPr>
          <p:cNvPr id="7" name="TextBox 6"/>
          <p:cNvSpPr txBox="1"/>
          <p:nvPr/>
        </p:nvSpPr>
        <p:spPr>
          <a:xfrm>
            <a:off x="457200" y="2100000"/>
            <a:ext cx="8229600" cy="548640"/>
          </a:xfrm>
          <a:prstGeom prst="rect">
            <a:avLst/>
          </a:prstGeom>
          <a:noFill/>
        </p:spPr>
        <p:txBody>
          <a:bodyPr wrap="square">
            <a:spAutoFit/>
          </a:bodyPr>
          <a:lstStyle/>
          <a:p>
            <a:pPr algn="l"/>
            <a:r>
              <a:rPr sz="2000" b="1" i="0">
                <a:solidFill>
                  <a:srgbClr val="FF6B00"/>
                </a:solidFill>
              </a:rPr>
              <a:t>Melksham Mental Health — Comprehensive Course</a:t>
            </a:r>
          </a:p>
        </p:txBody>
      </p:sp>
      <p:sp>
        <p:nvSpPr>
          <p:cNvPr id="8" name="TextBox 7"/>
          <p:cNvSpPr txBox="1"/>
          <p:nvPr/>
        </p:nvSpPr>
        <p:spPr>
          <a:xfrm>
            <a:off x="457200" y="2650000"/>
            <a:ext cx="8229600" cy="457200"/>
          </a:xfrm>
          <a:prstGeom prst="rect">
            <a:avLst/>
          </a:prstGeom>
          <a:noFill/>
        </p:spPr>
        <p:txBody>
          <a:bodyPr wrap="square">
            <a:spAutoFit/>
          </a:bodyPr>
          <a:lstStyle/>
          <a:p>
            <a:pPr algn="l"/>
            <a:r>
              <a:rPr sz="1600" b="0" i="0">
                <a:solidFill>
                  <a:srgbClr val="AAAAAA"/>
                </a:solidFill>
              </a:rPr>
              <a:t>2-hour session  •  Includes 30-minute group discussion</a:t>
            </a:r>
          </a:p>
        </p:txBody>
      </p:sp>
      <p:sp>
        <p:nvSpPr>
          <p:cNvPr id="9" name="TextBox 8"/>
          <p:cNvSpPr txBox="1"/>
          <p:nvPr/>
        </p:nvSpPr>
        <p:spPr>
          <a:xfrm>
            <a:off x="457200" y="5958000"/>
            <a:ext cx="8229600" cy="457200"/>
          </a:xfrm>
          <a:prstGeom prst="rect">
            <a:avLst/>
          </a:prstGeom>
          <a:noFill/>
        </p:spPr>
        <p:txBody>
          <a:bodyPr wrap="square">
            <a:spAutoFit/>
          </a:bodyPr>
          <a:lstStyle/>
          <a:p>
            <a:pPr algn="ctr"/>
            <a:r>
              <a:rPr sz="1200" b="0" i="0">
                <a:solidFill>
                  <a:srgbClr val="AAAAAA"/>
                </a:solidFill>
              </a:rPr>
              <a:t>melksham-mentalhealth.us  |  Melksham-mental-health@outlook.com</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Session Overview</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00000"/>
            <a:ext cx="8229600" cy="1400000"/>
          </a:xfrm>
          <a:prstGeom prst="rect">
            <a:avLst/>
          </a:prstGeom>
          <a:noFill/>
        </p:spPr>
        <p:txBody>
          <a:bodyPr wrap="square">
            <a:spAutoFit/>
          </a:bodyPr>
          <a:lstStyle/>
          <a:p>
            <a:pPr algn="l"/>
            <a:r>
              <a:rPr sz="1500" b="0" i="0">
                <a:solidFill>
                  <a:srgbClr val="F0F0F0"/>
                </a:solidFill>
              </a:rPr>
              <a:t>This final module celebrates the learning journey of all participants, consolidates key themes from across the 50 modules, and provides a framework for continuing to grow in mental health knowledge, self-care and advocacy. We look ahead to the next steps in each participant's personal and professional mental health journey.</a:t>
            </a:r>
          </a:p>
        </p:txBody>
      </p:sp>
      <p:sp>
        <p:nvSpPr>
          <p:cNvPr id="7" name="TextBox 6"/>
          <p:cNvSpPr txBox="1"/>
          <p:nvPr/>
        </p:nvSpPr>
        <p:spPr>
          <a:xfrm>
            <a:off x="457200" y="2700000"/>
            <a:ext cx="8229600" cy="3200000"/>
          </a:xfrm>
          <a:prstGeom prst="rect">
            <a:avLst/>
          </a:prstGeom>
          <a:noFill/>
        </p:spPr>
        <p:txBody>
          <a:bodyPr wrap="square">
            <a:spAutoFit/>
          </a:bodyPr>
          <a:lstStyle/>
          <a:p>
            <a:pPr>
              <a:spcBef>
                <a:spcPts val="400"/>
              </a:spcBef>
            </a:pPr>
            <a:r>
              <a:rPr sz="1700">
                <a:solidFill>
                  <a:srgbClr val="F0F0F0"/>
                </a:solidFill>
              </a:rPr>
              <a:t>• Introduction &amp; Objectives  (15 min)</a:t>
            </a:r>
          </a:p>
          <a:p>
            <a:pPr>
              <a:spcBef>
                <a:spcPts val="400"/>
              </a:spcBef>
            </a:pPr>
            <a:r>
              <a:rPr sz="1700">
                <a:solidFill>
                  <a:srgbClr val="F0F0F0"/>
                </a:solidFill>
              </a:rPr>
              <a:t>• Evidence-Based Content  (45 min)</a:t>
            </a:r>
          </a:p>
          <a:p>
            <a:pPr>
              <a:spcBef>
                <a:spcPts val="400"/>
              </a:spcBef>
            </a:pPr>
            <a:r>
              <a:rPr sz="1700">
                <a:solidFill>
                  <a:srgbClr val="F0F0F0"/>
                </a:solidFill>
              </a:rPr>
              <a:t>• Case Study  (15 min)</a:t>
            </a:r>
          </a:p>
          <a:p>
            <a:pPr>
              <a:spcBef>
                <a:spcPts val="400"/>
              </a:spcBef>
            </a:pPr>
            <a:r>
              <a:rPr sz="1700">
                <a:solidFill>
                  <a:srgbClr val="F0F0F0"/>
                </a:solidFill>
              </a:rPr>
              <a:t>• Interactive Activity  (30 min)</a:t>
            </a:r>
          </a:p>
          <a:p>
            <a:pPr>
              <a:spcBef>
                <a:spcPts val="400"/>
              </a:spcBef>
            </a:pPr>
            <a:r>
              <a:rPr sz="1700">
                <a:solidFill>
                  <a:srgbClr val="F0F0F0"/>
                </a:solidFill>
              </a:rPr>
              <a:t>• Group Discussion  (30 min)</a:t>
            </a:r>
          </a:p>
          <a:p>
            <a:pPr>
              <a:spcBef>
                <a:spcPts val="400"/>
              </a:spcBef>
            </a:pPr>
            <a:r>
              <a:rPr sz="1700">
                <a:solidFill>
                  <a:srgbClr val="F0F0F0"/>
                </a:solidFill>
              </a:rPr>
              <a:t>• Wrap-Up &amp; Resources  (15 min)</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Learning Objectives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Consolidate key learning from all 50 modules</a:t>
            </a:r>
          </a:p>
          <a:p>
            <a:pPr>
              <a:spcBef>
                <a:spcPts val="400"/>
              </a:spcBef>
            </a:pPr>
            <a:r>
              <a:rPr sz="1700">
                <a:solidFill>
                  <a:srgbClr val="F0F0F0"/>
                </a:solidFill>
              </a:rPr>
              <a:t>• Reflect on personal growth and changed perspectives</a:t>
            </a:r>
          </a:p>
          <a:p>
            <a:pPr>
              <a:spcBef>
                <a:spcPts val="400"/>
              </a:spcBef>
            </a:pPr>
            <a:r>
              <a:rPr sz="1700">
                <a:solidFill>
                  <a:srgbClr val="F0F0F0"/>
                </a:solidFill>
              </a:rPr>
              <a:t>• Develop a personal mental health action plan</a:t>
            </a:r>
          </a:p>
          <a:p>
            <a:pPr>
              <a:spcBef>
                <a:spcPts val="400"/>
              </a:spcBef>
            </a:pPr>
            <a:r>
              <a:rPr sz="1700">
                <a:solidFill>
                  <a:srgbClr val="F0F0F0"/>
                </a:solidFill>
              </a:rPr>
              <a:t>• Identify opportunities for further learning and professional development</a:t>
            </a:r>
          </a:p>
          <a:p>
            <a:pPr>
              <a:spcBef>
                <a:spcPts val="400"/>
              </a:spcBef>
            </a:pPr>
            <a:r>
              <a:rPr sz="1700">
                <a:solidFill>
                  <a:srgbClr val="F0F0F0"/>
                </a:solidFill>
              </a:rPr>
              <a:t>• Celebrate the community built through this course</a:t>
            </a:r>
          </a:p>
          <a:p>
            <a:pPr>
              <a:spcBef>
                <a:spcPts val="400"/>
              </a:spcBef>
            </a:pPr>
            <a:r>
              <a:rPr sz="1700">
                <a:solidFill>
                  <a:srgbClr val="F0F0F0"/>
                </a:solidFill>
              </a:rPr>
              <a:t>• Commit to ongoing mental health advocacy in Melksham and Wiltshire</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Module 50: Key Topics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Course consolidation: key themes across all 50 modules</a:t>
            </a:r>
          </a:p>
          <a:p>
            <a:pPr>
              <a:spcBef>
                <a:spcPts val="400"/>
              </a:spcBef>
            </a:pPr>
            <a:r>
              <a:rPr sz="1700">
                <a:solidFill>
                  <a:srgbClr val="F0F0F0"/>
                </a:solidFill>
              </a:rPr>
              <a:t>• Personal growth: how has your understanding of mental health changed?</a:t>
            </a:r>
          </a:p>
          <a:p>
            <a:pPr>
              <a:spcBef>
                <a:spcPts val="400"/>
              </a:spcBef>
            </a:pPr>
            <a:r>
              <a:rPr sz="1700">
                <a:solidFill>
                  <a:srgbClr val="F0F0F0"/>
                </a:solidFill>
              </a:rPr>
              <a:t>• Mental health action plan: applying learning to your own life and practice</a:t>
            </a:r>
          </a:p>
          <a:p>
            <a:pPr>
              <a:spcBef>
                <a:spcPts val="400"/>
              </a:spcBef>
            </a:pPr>
            <a:r>
              <a:rPr sz="1700">
                <a:solidFill>
                  <a:srgbClr val="F0F0F0"/>
                </a:solidFill>
              </a:rPr>
              <a:t>• Further learning: qualifications, training and professional development</a:t>
            </a:r>
          </a:p>
          <a:p>
            <a:pPr>
              <a:spcBef>
                <a:spcPts val="400"/>
              </a:spcBef>
            </a:pPr>
            <a:r>
              <a:rPr sz="1700">
                <a:solidFill>
                  <a:srgbClr val="F0F0F0"/>
                </a:solidFill>
              </a:rPr>
              <a:t>• Community: the power of shared learning and peer support</a:t>
            </a:r>
          </a:p>
          <a:p>
            <a:pPr>
              <a:spcBef>
                <a:spcPts val="400"/>
              </a:spcBef>
            </a:pPr>
            <a:r>
              <a:rPr sz="1700">
                <a:solidFill>
                  <a:srgbClr val="F0F0F0"/>
                </a:solidFill>
              </a:rPr>
              <a:t>• Advocacy: using your knowledge to reduce stigma and support others</a:t>
            </a:r>
          </a:p>
          <a:p>
            <a:pPr>
              <a:spcBef>
                <a:spcPts val="400"/>
              </a:spcBef>
            </a:pPr>
            <a:r>
              <a:rPr sz="1700">
                <a:solidFill>
                  <a:srgbClr val="F0F0F0"/>
                </a:solidFill>
              </a:rPr>
              <a:t>• Melksham Mental Health: our vision for a mentally healthy community</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Key Statistics &amp; Prevalence</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1 in 4 people experience a mental health problem each year — this course has reached many of them</a:t>
            </a:r>
          </a:p>
          <a:p>
            <a:pPr>
              <a:spcBef>
                <a:spcPts val="400"/>
              </a:spcBef>
            </a:pPr>
            <a:r>
              <a:rPr sz="1700">
                <a:solidFill>
                  <a:srgbClr val="F0F0F0"/>
                </a:solidFill>
              </a:rPr>
              <a:t>• 75% of mental health problems emerge before age 24 — early intervention matters</a:t>
            </a:r>
          </a:p>
          <a:p>
            <a:pPr>
              <a:spcBef>
                <a:spcPts val="400"/>
              </a:spcBef>
            </a:pPr>
            <a:r>
              <a:rPr sz="1700">
                <a:solidFill>
                  <a:srgbClr val="F0F0F0"/>
                </a:solidFill>
              </a:rPr>
              <a:t>• Recovery is possible for the majority of people with mental health conditions</a:t>
            </a:r>
          </a:p>
          <a:p>
            <a:pPr>
              <a:spcBef>
                <a:spcPts val="400"/>
              </a:spcBef>
            </a:pPr>
            <a:r>
              <a:rPr sz="1700">
                <a:solidFill>
                  <a:srgbClr val="F0F0F0"/>
                </a:solidFill>
              </a:rPr>
              <a:t>• Stigma is the biggest barrier to help-seeking — education reduces stigma</a:t>
            </a:r>
          </a:p>
          <a:p>
            <a:pPr>
              <a:spcBef>
                <a:spcPts val="400"/>
              </a:spcBef>
            </a:pPr>
            <a:r>
              <a:rPr sz="1700">
                <a:solidFill>
                  <a:srgbClr val="F0F0F0"/>
                </a:solidFill>
              </a:rPr>
              <a:t>• Community connection is one of the most powerful protective factors for mental health</a:t>
            </a:r>
          </a:p>
          <a:p>
            <a:pPr>
              <a:spcBef>
                <a:spcPts val="400"/>
              </a:spcBef>
            </a:pPr>
            <a:r>
              <a:rPr sz="1700">
                <a:solidFill>
                  <a:srgbClr val="F0F0F0"/>
                </a:solidFill>
              </a:rPr>
              <a:t>• Every person who completes this course becomes a mental health advocate</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Evidence &amp; Research</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000000"/>
          </a:xfrm>
          <a:prstGeom prst="rect">
            <a:avLst/>
          </a:prstGeom>
          <a:noFill/>
        </p:spPr>
        <p:txBody>
          <a:bodyPr wrap="square">
            <a:spAutoFit/>
          </a:bodyPr>
          <a:lstStyle/>
          <a:p>
            <a:pPr>
              <a:spcBef>
                <a:spcPts val="400"/>
              </a:spcBef>
            </a:pPr>
            <a:r>
              <a:rPr sz="1700">
                <a:solidFill>
                  <a:srgbClr val="F0F0F0"/>
                </a:solidFill>
              </a:rPr>
              <a:t>• Psychoeducation reduces stigma and increases help-seeking (NICE)</a:t>
            </a:r>
          </a:p>
          <a:p>
            <a:pPr>
              <a:spcBef>
                <a:spcPts val="400"/>
              </a:spcBef>
            </a:pPr>
            <a:r>
              <a:rPr sz="1700">
                <a:solidFill>
                  <a:srgbClr val="F0F0F0"/>
                </a:solidFill>
              </a:rPr>
              <a:t>• Peer support is as effective as professional support for many recovery outcomes</a:t>
            </a:r>
          </a:p>
          <a:p>
            <a:pPr>
              <a:spcBef>
                <a:spcPts val="400"/>
              </a:spcBef>
            </a:pPr>
            <a:r>
              <a:rPr sz="1700">
                <a:solidFill>
                  <a:srgbClr val="F0F0F0"/>
                </a:solidFill>
              </a:rPr>
              <a:t>• Community-based mental health education improves population mental health outcomes</a:t>
            </a:r>
          </a:p>
          <a:p>
            <a:pPr>
              <a:spcBef>
                <a:spcPts val="400"/>
              </a:spcBef>
            </a:pPr>
            <a:r>
              <a:rPr sz="1700">
                <a:solidFill>
                  <a:srgbClr val="F0F0F0"/>
                </a:solidFill>
              </a:rPr>
              <a:t>• Mental health literacy significantly improves help-seeking and recovery</a:t>
            </a:r>
          </a:p>
          <a:p>
            <a:pPr>
              <a:spcBef>
                <a:spcPts val="400"/>
              </a:spcBef>
            </a:pPr>
            <a:r>
              <a:rPr sz="1700">
                <a:solidFill>
                  <a:srgbClr val="F0F0F0"/>
                </a:solidFill>
              </a:rPr>
              <a:t>• Social connection is the single strongest predictor of mental health and longevity</a:t>
            </a:r>
          </a:p>
          <a:p>
            <a:pPr>
              <a:spcBef>
                <a:spcPts val="400"/>
              </a:spcBef>
            </a:pPr>
            <a:r>
              <a:rPr sz="1700">
                <a:solidFill>
                  <a:srgbClr val="F0F0F0"/>
                </a:solidFill>
              </a:rPr>
              <a:t>• Advocacy and lived experience are essential components of mental health system change</a:t>
            </a:r>
          </a:p>
        </p:txBody>
      </p:sp>
      <p:sp>
        <p:nvSpPr>
          <p:cNvPr id="7" name="TextBox 6"/>
          <p:cNvSpPr txBox="1"/>
          <p:nvPr/>
        </p:nvSpPr>
        <p:spPr>
          <a:xfrm>
            <a:off x="457200" y="5400000"/>
            <a:ext cx="8229600" cy="457200"/>
          </a:xfrm>
          <a:prstGeom prst="rect">
            <a:avLst/>
          </a:prstGeom>
          <a:noFill/>
        </p:spPr>
        <p:txBody>
          <a:bodyPr wrap="square">
            <a:spAutoFit/>
          </a:bodyPr>
          <a:lstStyle/>
          <a:p>
            <a:pPr algn="l"/>
            <a:r>
              <a:rPr sz="1300" b="1" i="0">
                <a:solidFill>
                  <a:srgbClr val="FF6B00"/>
                </a:solidFill>
              </a:rPr>
              <a:t>This content does not replace professional mental health advice.</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Case Study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200000"/>
          </a:xfrm>
          <a:prstGeom prst="rect">
            <a:avLst/>
          </a:prstGeom>
          <a:noFill/>
        </p:spPr>
        <p:txBody>
          <a:bodyPr wrap="square">
            <a:spAutoFit/>
          </a:bodyPr>
          <a:lstStyle/>
          <a:p>
            <a:pPr algn="l"/>
            <a:r>
              <a:rPr sz="1500" b="0" i="0">
                <a:solidFill>
                  <a:srgbClr val="F0F0F0"/>
                </a:solidFill>
              </a:rPr>
              <a:t>Throughout this course, you have heard the stories of Alex, Maria, Jamie, Priya, Tom, Sarah, David, Emma, Callum, Leah, Rachel, Mark, Helen, Nadia, James, Sophie, Zoe, Michael, Ryan, Dan, Thomas, Lisa, Anna, Claire, Margaret, Patricia, Karen, George, Lisa, Jamie, Robert, Sophie, Ethan, Dorothy, Amara, Alex, Marcus, Sarah, David, Aisha, Jane, Caroline, Kevin, Maria, Jade, Paul, James, Ruth, Sam — and many others. Each story is a reminder that recovery is possible, that help is available, and that no one has to face mental health challenges alone.</a:t>
            </a:r>
          </a:p>
        </p:txBody>
      </p:sp>
      <p:sp>
        <p:nvSpPr>
          <p:cNvPr id="7" name="TextBox 6"/>
          <p:cNvSpPr txBox="1"/>
          <p:nvPr/>
        </p:nvSpPr>
        <p:spPr>
          <a:xfrm>
            <a:off x="457200" y="5600000"/>
            <a:ext cx="8229600" cy="457200"/>
          </a:xfrm>
          <a:prstGeom prst="rect">
            <a:avLst/>
          </a:prstGeom>
          <a:noFill/>
        </p:spPr>
        <p:txBody>
          <a:bodyPr wrap="square">
            <a:spAutoFit/>
          </a:bodyPr>
          <a:lstStyle/>
          <a:p>
            <a:pPr algn="l"/>
            <a:r>
              <a:rPr sz="1100" b="0" i="1">
                <a:solidFill>
                  <a:srgbClr val="AAAAAA"/>
                </a:solidFill>
              </a:rPr>
              <a:t>Names and details are fictional. Any resemblance to real persons is coincidental.</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Coping Strategies &amp; Interventions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Personal mental health action plan: applying course learning to your own life</a:t>
            </a:r>
          </a:p>
          <a:p>
            <a:pPr>
              <a:spcBef>
                <a:spcPts val="400"/>
              </a:spcBef>
            </a:pPr>
            <a:r>
              <a:rPr sz="1700">
                <a:solidFill>
                  <a:srgbClr val="F0F0F0"/>
                </a:solidFill>
              </a:rPr>
              <a:t>• Continuing professional development: MHFA, counselling skills, mental health nursing</a:t>
            </a:r>
          </a:p>
          <a:p>
            <a:pPr>
              <a:spcBef>
                <a:spcPts val="400"/>
              </a:spcBef>
            </a:pPr>
            <a:r>
              <a:rPr sz="1700">
                <a:solidFill>
                  <a:srgbClr val="F0F0F0"/>
                </a:solidFill>
              </a:rPr>
              <a:t>• Volunteering: Samaritans, Mind, Rethink, local mental health charities</a:t>
            </a:r>
          </a:p>
          <a:p>
            <a:pPr>
              <a:spcBef>
                <a:spcPts val="400"/>
              </a:spcBef>
            </a:pPr>
            <a:r>
              <a:rPr sz="1700">
                <a:solidFill>
                  <a:srgbClr val="F0F0F0"/>
                </a:solidFill>
              </a:rPr>
              <a:t>• Advocacy: sharing your learning to reduce stigma in your community</a:t>
            </a:r>
          </a:p>
          <a:p>
            <a:pPr>
              <a:spcBef>
                <a:spcPts val="400"/>
              </a:spcBef>
            </a:pPr>
            <a:r>
              <a:rPr sz="1700">
                <a:solidFill>
                  <a:srgbClr val="F0F0F0"/>
                </a:solidFill>
              </a:rPr>
              <a:t>• Self-care: maintaining your own mental health as you support others</a:t>
            </a:r>
          </a:p>
          <a:p>
            <a:pPr>
              <a:spcBef>
                <a:spcPts val="400"/>
              </a:spcBef>
            </a:pPr>
            <a:r>
              <a:rPr sz="1700">
                <a:solidFill>
                  <a:srgbClr val="F0F0F0"/>
                </a:solidFill>
              </a:rPr>
              <a:t>• Peer support: staying connected with fellow course participants</a:t>
            </a:r>
          </a:p>
          <a:p>
            <a:pPr>
              <a:spcBef>
                <a:spcPts val="400"/>
              </a:spcBef>
            </a:pPr>
            <a:r>
              <a:rPr sz="1700">
                <a:solidFill>
                  <a:srgbClr val="F0F0F0"/>
                </a:solidFill>
              </a:rPr>
              <a:t>• Melksham Mental Health: follow us for ongoing resources and events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Interactive Activity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2800000"/>
          </a:xfrm>
          <a:prstGeom prst="rect">
            <a:avLst/>
          </a:prstGeom>
          <a:noFill/>
        </p:spPr>
        <p:txBody>
          <a:bodyPr wrap="square">
            <a:spAutoFit/>
          </a:bodyPr>
          <a:lstStyle/>
          <a:p>
            <a:pPr algn="l"/>
            <a:r>
              <a:rPr sz="1700" b="0" i="0">
                <a:solidFill>
                  <a:srgbClr val="F0F0F0"/>
                </a:solidFill>
              </a:rPr>
              <a:t>Course celebration and reflection: Participants share one thing they have learned, one thing that has changed for them, and one thing they will do differently. Each participant receives a certificate of completion. The group reflects on the community they have built and commits to ongoing mental health advocacy.</a:t>
            </a:r>
          </a:p>
        </p:txBody>
      </p:sp>
      <p:sp>
        <p:nvSpPr>
          <p:cNvPr id="7" name="TextBox 6"/>
          <p:cNvSpPr txBox="1"/>
          <p:nvPr/>
        </p:nvSpPr>
        <p:spPr>
          <a:xfrm>
            <a:off x="457200" y="4200000"/>
            <a:ext cx="8229600" cy="365760"/>
          </a:xfrm>
          <a:prstGeom prst="rect">
            <a:avLst/>
          </a:prstGeom>
          <a:noFill/>
        </p:spPr>
        <p:txBody>
          <a:bodyPr wrap="square">
            <a:spAutoFit/>
          </a:bodyPr>
          <a:lstStyle/>
          <a:p>
            <a:pPr algn="l"/>
            <a:r>
              <a:rPr sz="1600" b="1" i="0">
                <a:solidFill>
                  <a:srgbClr val="FF6B00"/>
                </a:solidFill>
              </a:rPr>
              <a:t>Instructions:</a:t>
            </a:r>
          </a:p>
        </p:txBody>
      </p:sp>
      <p:sp>
        <p:nvSpPr>
          <p:cNvPr id="8" name="TextBox 7"/>
          <p:cNvSpPr txBox="1"/>
          <p:nvPr/>
        </p:nvSpPr>
        <p:spPr>
          <a:xfrm>
            <a:off x="457200" y="4600000"/>
            <a:ext cx="8229600" cy="1500000"/>
          </a:xfrm>
          <a:prstGeom prst="rect">
            <a:avLst/>
          </a:prstGeom>
          <a:noFill/>
        </p:spPr>
        <p:txBody>
          <a:bodyPr wrap="square">
            <a:spAutoFit/>
          </a:bodyPr>
          <a:lstStyle/>
          <a:p>
            <a:pPr>
              <a:spcBef>
                <a:spcPts val="400"/>
              </a:spcBef>
            </a:pPr>
            <a:r>
              <a:rPr sz="1500">
                <a:solidFill>
                  <a:srgbClr val="AAAAAA"/>
                </a:solidFill>
              </a:rPr>
              <a:t>• Take 5 minutes to reflect individually or in pairs</a:t>
            </a:r>
          </a:p>
          <a:p>
            <a:pPr>
              <a:spcBef>
                <a:spcPts val="400"/>
              </a:spcBef>
            </a:pPr>
            <a:r>
              <a:rPr sz="1500">
                <a:solidFill>
                  <a:srgbClr val="AAAAAA"/>
                </a:solidFill>
              </a:rPr>
              <a:t>• Share your thoughts with the group (optional — sharing is never required)</a:t>
            </a:r>
          </a:p>
          <a:p>
            <a:pPr>
              <a:spcBef>
                <a:spcPts val="400"/>
              </a:spcBef>
            </a:pPr>
            <a:r>
              <a:rPr sz="1500">
                <a:solidFill>
                  <a:srgbClr val="AAAAAA"/>
                </a:solidFill>
              </a:rPr>
              <a:t>• Facilitator will guide and support the discussion</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Group Discussion (30 minutes)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57200"/>
          </a:xfrm>
          <a:prstGeom prst="rect">
            <a:avLst/>
          </a:prstGeom>
          <a:noFill/>
        </p:spPr>
        <p:txBody>
          <a:bodyPr wrap="square">
            <a:spAutoFit/>
          </a:bodyPr>
          <a:lstStyle/>
          <a:p>
            <a:pPr algn="l"/>
            <a:r>
              <a:rPr sz="1800" b="1" i="0">
                <a:solidFill>
                  <a:srgbClr val="00BFBF"/>
                </a:solidFill>
              </a:rPr>
              <a:t>Reflection Questions</a:t>
            </a:r>
          </a:p>
        </p:txBody>
      </p:sp>
      <p:sp>
        <p:nvSpPr>
          <p:cNvPr id="7" name="TextBox 6"/>
          <p:cNvSpPr txBox="1"/>
          <p:nvPr/>
        </p:nvSpPr>
        <p:spPr>
          <a:xfrm>
            <a:off x="457200" y="1800000"/>
            <a:ext cx="8229600" cy="4000000"/>
          </a:xfrm>
          <a:prstGeom prst="rect">
            <a:avLst/>
          </a:prstGeom>
          <a:noFill/>
        </p:spPr>
        <p:txBody>
          <a:bodyPr wrap="square">
            <a:spAutoFit/>
          </a:bodyPr>
          <a:lstStyle/>
          <a:p>
            <a:pPr>
              <a:spcBef>
                <a:spcPts val="400"/>
              </a:spcBef>
            </a:pPr>
            <a:r>
              <a:rPr sz="1700">
                <a:solidFill>
                  <a:srgbClr val="F0F0F0"/>
                </a:solidFill>
              </a:rPr>
              <a:t>• What has been your most significant learning from this course?</a:t>
            </a:r>
          </a:p>
          <a:p>
            <a:pPr>
              <a:spcBef>
                <a:spcPts val="400"/>
              </a:spcBef>
            </a:pPr>
            <a:r>
              <a:rPr sz="1700">
                <a:solidFill>
                  <a:srgbClr val="F0F0F0"/>
                </a:solidFill>
              </a:rPr>
              <a:t>• How has your understanding of mental health changed?</a:t>
            </a:r>
          </a:p>
          <a:p>
            <a:pPr>
              <a:spcBef>
                <a:spcPts val="400"/>
              </a:spcBef>
            </a:pPr>
            <a:r>
              <a:rPr sz="1700">
                <a:solidFill>
                  <a:srgbClr val="F0F0F0"/>
                </a:solidFill>
              </a:rPr>
              <a:t>• What will you do differently as a result of completing this course?</a:t>
            </a:r>
          </a:p>
          <a:p>
            <a:pPr>
              <a:spcBef>
                <a:spcPts val="400"/>
              </a:spcBef>
            </a:pPr>
            <a:r>
              <a:rPr sz="1700">
                <a:solidFill>
                  <a:srgbClr val="F0F0F0"/>
                </a:solidFill>
              </a:rPr>
              <a:t>• How will you use your learning to support others in your community?</a:t>
            </a:r>
          </a:p>
          <a:p>
            <a:pPr>
              <a:spcBef>
                <a:spcPts val="400"/>
              </a:spcBef>
            </a:pPr>
            <a:r>
              <a:rPr sz="1700">
                <a:solidFill>
                  <a:srgbClr val="F0F0F0"/>
                </a:solidFill>
              </a:rPr>
              <a:t>• What is your vision for a mentally healthy Melksham and Wiltshire?</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400" b="1" i="0">
                <a:solidFill>
                  <a:srgbClr val="FF6B00"/>
                </a:solidFill>
              </a:rPr>
              <a:t>Remember: You are never alone. Help is always available.</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Resources &amp; Further Support</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365760"/>
          </a:xfrm>
          <a:prstGeom prst="rect">
            <a:avLst/>
          </a:prstGeom>
          <a:noFill/>
        </p:spPr>
        <p:txBody>
          <a:bodyPr wrap="square">
            <a:spAutoFit/>
          </a:bodyPr>
          <a:lstStyle/>
          <a:p>
            <a:pPr algn="l"/>
            <a:r>
              <a:rPr sz="1800" b="1" i="0">
                <a:solidFill>
                  <a:srgbClr val="00BFBF"/>
                </a:solidFill>
              </a:rPr>
              <a:t>Key References</a:t>
            </a:r>
          </a:p>
        </p:txBody>
      </p:sp>
      <p:sp>
        <p:nvSpPr>
          <p:cNvPr id="7" name="TextBox 6"/>
          <p:cNvSpPr txBox="1"/>
          <p:nvPr/>
        </p:nvSpPr>
        <p:spPr>
          <a:xfrm>
            <a:off x="457200" y="1700000"/>
            <a:ext cx="8229600" cy="2200000"/>
          </a:xfrm>
          <a:prstGeom prst="rect">
            <a:avLst/>
          </a:prstGeom>
          <a:noFill/>
        </p:spPr>
        <p:txBody>
          <a:bodyPr wrap="square">
            <a:spAutoFit/>
          </a:bodyPr>
          <a:lstStyle/>
          <a:p>
            <a:pPr>
              <a:spcBef>
                <a:spcPts val="400"/>
              </a:spcBef>
            </a:pPr>
            <a:r>
              <a:rPr sz="1400">
                <a:solidFill>
                  <a:srgbClr val="F0F0F0"/>
                </a:solidFill>
              </a:rPr>
              <a:t>• Melksham Mental Health: melksham-mentalhealth.us</a:t>
            </a:r>
          </a:p>
          <a:p>
            <a:pPr>
              <a:spcBef>
                <a:spcPts val="400"/>
              </a:spcBef>
            </a:pPr>
            <a:r>
              <a:rPr sz="1400">
                <a:solidFill>
                  <a:srgbClr val="F0F0F0"/>
                </a:solidFill>
              </a:rPr>
              <a:t>• Mind UK: mind.org.uk</a:t>
            </a:r>
          </a:p>
          <a:p>
            <a:pPr>
              <a:spcBef>
                <a:spcPts val="400"/>
              </a:spcBef>
            </a:pPr>
            <a:r>
              <a:rPr sz="1400">
                <a:solidFill>
                  <a:srgbClr val="F0F0F0"/>
                </a:solidFill>
              </a:rPr>
              <a:t>• Samaritans: 116 123 (free, 24/7)</a:t>
            </a:r>
          </a:p>
          <a:p>
            <a:pPr>
              <a:spcBef>
                <a:spcPts val="400"/>
              </a:spcBef>
            </a:pPr>
            <a:r>
              <a:rPr sz="1400">
                <a:solidFill>
                  <a:srgbClr val="F0F0F0"/>
                </a:solidFill>
              </a:rPr>
              <a:t>• NHS Every Mind Matters: nhs.uk/every-mind-matters</a:t>
            </a:r>
          </a:p>
          <a:p>
            <a:pPr>
              <a:spcBef>
                <a:spcPts val="400"/>
              </a:spcBef>
            </a:pPr>
            <a:r>
              <a:rPr sz="1400">
                <a:solidFill>
                  <a:srgbClr val="F0F0F0"/>
                </a:solidFill>
              </a:rPr>
              <a:t>• Wiltshire Mental Health Support: wiltshirehealthandcare.nhs.uk</a:t>
            </a:r>
          </a:p>
        </p:txBody>
      </p:sp>
      <p:sp>
        <p:nvSpPr>
          <p:cNvPr id="8" name="TextBox 7"/>
          <p:cNvSpPr txBox="1"/>
          <p:nvPr/>
        </p:nvSpPr>
        <p:spPr>
          <a:xfrm>
            <a:off x="457200" y="4000000"/>
            <a:ext cx="8229600" cy="365760"/>
          </a:xfrm>
          <a:prstGeom prst="rect">
            <a:avLst/>
          </a:prstGeom>
          <a:noFill/>
        </p:spPr>
        <p:txBody>
          <a:bodyPr wrap="square">
            <a:spAutoFit/>
          </a:bodyPr>
          <a:lstStyle/>
          <a:p>
            <a:pPr algn="l"/>
            <a:r>
              <a:rPr sz="1800" b="1" i="0">
                <a:solidFill>
                  <a:srgbClr val="FF6B00"/>
                </a:solidFill>
              </a:rPr>
              <a:t>Crisis Support</a:t>
            </a:r>
          </a:p>
        </p:txBody>
      </p:sp>
      <p:sp>
        <p:nvSpPr>
          <p:cNvPr id="9" name="TextBox 8"/>
          <p:cNvSpPr txBox="1"/>
          <p:nvPr/>
        </p:nvSpPr>
        <p:spPr>
          <a:xfrm>
            <a:off x="457200" y="4450000"/>
            <a:ext cx="8229600" cy="1800000"/>
          </a:xfrm>
          <a:prstGeom prst="rect">
            <a:avLst/>
          </a:prstGeom>
          <a:noFill/>
        </p:spPr>
        <p:txBody>
          <a:bodyPr wrap="square">
            <a:spAutoFit/>
          </a:bodyPr>
          <a:lstStyle/>
          <a:p>
            <a:pPr>
              <a:spcBef>
                <a:spcPts val="400"/>
              </a:spcBef>
            </a:pPr>
            <a:r>
              <a:rPr sz="1300">
                <a:solidFill>
                  <a:srgbClr val="AAAAAA"/>
                </a:solidFill>
              </a:rPr>
              <a:t>• Emergency: 999</a:t>
            </a:r>
          </a:p>
          <a:p>
            <a:pPr>
              <a:spcBef>
                <a:spcPts val="400"/>
              </a:spcBef>
            </a:pPr>
            <a:r>
              <a:rPr sz="1300">
                <a:solidFill>
                  <a:srgbClr val="AAAAAA"/>
                </a:solidFill>
              </a:rPr>
              <a:t>• NHS 111: 24/7 urgent mental health support</a:t>
            </a:r>
          </a:p>
          <a:p>
            <a:pPr>
              <a:spcBef>
                <a:spcPts val="400"/>
              </a:spcBef>
            </a:pPr>
            <a:r>
              <a:rPr sz="1300">
                <a:solidFill>
                  <a:srgbClr val="AAAAAA"/>
                </a:solidFill>
              </a:rPr>
              <a:t>• Samaritans: 116 123 (free, 24/7)</a:t>
            </a:r>
          </a:p>
          <a:p>
            <a:pPr>
              <a:spcBef>
                <a:spcPts val="400"/>
              </a:spcBef>
            </a:pPr>
            <a:r>
              <a:rPr sz="1300">
                <a:solidFill>
                  <a:srgbClr val="AAAAAA"/>
                </a:solidFill>
              </a:rPr>
              <a:t>• Shout Crisis Text: Text SHOUT to 85258</a:t>
            </a:r>
          </a:p>
          <a:p>
            <a:pPr>
              <a:spcBef>
                <a:spcPts val="400"/>
              </a:spcBef>
            </a:pPr>
            <a:r>
              <a:rPr sz="1300">
                <a:solidFill>
                  <a:srgbClr val="AAAAAA"/>
                </a:solidFill>
              </a:rPr>
              <a:t>• Wiltshire Crisis Line: 0800 953 0110 (24/7)</a:t>
            </a:r>
          </a:p>
          <a:p>
            <a:pPr>
              <a:spcBef>
                <a:spcPts val="400"/>
              </a:spcBef>
            </a:pPr>
            <a:r>
              <a:rPr sz="1300">
                <a:solidFill>
                  <a:srgbClr val="AAAAAA"/>
                </a:solidFill>
              </a:rPr>
              <a:t>• PAPYRUS (under 35): 0800 068 4141</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640080"/>
          </a:xfrm>
          <a:prstGeom prst="rect">
            <a:avLst/>
          </a:prstGeom>
          <a:noFill/>
        </p:spPr>
        <p:txBody>
          <a:bodyPr wrap="square">
            <a:spAutoFit/>
          </a:bodyPr>
          <a:lstStyle/>
          <a:p>
            <a:pPr algn="l"/>
            <a:r>
              <a:rPr sz="3400" b="1" i="0">
                <a:solidFill>
                  <a:srgbClr val="1A1A1A"/>
                </a:solidFill>
              </a:rPr>
              <a:t>Module 50 Complete</a:t>
            </a:r>
          </a:p>
        </p:txBody>
      </p:sp>
      <p:sp>
        <p:nvSpPr>
          <p:cNvPr id="6" name="TextBox 5"/>
          <p:cNvSpPr txBox="1"/>
          <p:nvPr/>
        </p:nvSpPr>
        <p:spPr>
          <a:xfrm>
            <a:off x="457200" y="700000"/>
            <a:ext cx="7589520" cy="640080"/>
          </a:xfrm>
          <a:prstGeom prst="rect">
            <a:avLst/>
          </a:prstGeom>
          <a:noFill/>
        </p:spPr>
        <p:txBody>
          <a:bodyPr wrap="square">
            <a:spAutoFit/>
          </a:bodyPr>
          <a:lstStyle/>
          <a:p>
            <a:pPr algn="l"/>
            <a:r>
              <a:rPr sz="2000" b="0" i="0">
                <a:solidFill>
                  <a:srgbClr val="1A1A1A"/>
                </a:solidFill>
              </a:rPr>
              <a:t>Course Completion and Continuing the Journey</a:t>
            </a:r>
          </a:p>
        </p:txBody>
      </p:sp>
      <p:sp>
        <p:nvSpPr>
          <p:cNvPr id="7" name="TextBox 6"/>
          <p:cNvSpPr txBox="1"/>
          <p:nvPr/>
        </p:nvSpPr>
        <p:spPr>
          <a:xfrm>
            <a:off x="457200" y="2100000"/>
            <a:ext cx="8229600" cy="3200000"/>
          </a:xfrm>
          <a:prstGeom prst="rect">
            <a:avLst/>
          </a:prstGeom>
          <a:noFill/>
        </p:spPr>
        <p:txBody>
          <a:bodyPr wrap="square">
            <a:spAutoFit/>
          </a:bodyPr>
          <a:lstStyle/>
          <a:p>
            <a:pPr>
              <a:spcBef>
                <a:spcPts val="400"/>
              </a:spcBef>
            </a:pPr>
            <a:r>
              <a:rPr sz="1700">
                <a:solidFill>
                  <a:srgbClr val="F0F0F0"/>
                </a:solidFill>
              </a:rPr>
              <a:t>• You have completed Module 50: Course Completion and Continuing the Journey</a:t>
            </a:r>
          </a:p>
          <a:p>
            <a:pPr>
              <a:spcBef>
                <a:spcPts val="400"/>
              </a:spcBef>
            </a:pPr>
            <a:r>
              <a:rPr sz="1700">
                <a:solidFill>
                  <a:srgbClr val="F0F0F0"/>
                </a:solidFill>
              </a:rPr>
              <a:t>• Key concepts and evidence-based strategies have been explored</a:t>
            </a:r>
          </a:p>
          <a:p>
            <a:pPr>
              <a:spcBef>
                <a:spcPts val="400"/>
              </a:spcBef>
            </a:pPr>
            <a:r>
              <a:rPr sz="1700">
                <a:solidFill>
                  <a:srgbClr val="F0F0F0"/>
                </a:solidFill>
              </a:rPr>
              <a:t>• Please complete the post-session reflection form</a:t>
            </a:r>
          </a:p>
          <a:p>
            <a:pPr>
              <a:spcBef>
                <a:spcPts val="400"/>
              </a:spcBef>
            </a:pPr>
            <a:r>
              <a:rPr sz="1700">
                <a:solidFill>
                  <a:srgbClr val="F0F0F0"/>
                </a:solidFill>
              </a:rPr>
              <a:t>• Access course materials and handouts in the Members Portal</a:t>
            </a:r>
          </a:p>
          <a:p>
            <a:pPr>
              <a:spcBef>
                <a:spcPts val="400"/>
              </a:spcBef>
            </a:pPr>
            <a:r>
              <a:rPr sz="1700">
                <a:solidFill>
                  <a:srgbClr val="F0F0F0"/>
                </a:solidFill>
              </a:rPr>
              <a:t>• Our next session builds on today's learning</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300" b="0" i="0">
                <a:solidFill>
                  <a:srgbClr val="AAAAAA"/>
                </a:solidFill>
              </a:rPr>
              <a:t>melksham-mentalhealth.us  |  Melksham-mental-health@outlook.com</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
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25</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Neurocognitive Disorders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Neurocognitive disorders — including delirium, mild cognitive impairment and the dementias — are among the most significant health challenges of an ageing population. This module explores the features, causes and progression of neurocognitive disorders, alongside the support strategies for people living with dementia and their carers.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neurocognitive disorders and distinguish between delirium and dementia</a:t>
            </a:r>
          </a:p>
          <a:p>
            <a:pPr>
              <a:spcBef>
                <a:spcPts val="400"/>
              </a:spcBef>
            </a:pPr>
            <a:r>
              <a:rPr sz="1700">
                <a:solidFill>
                  <a:srgbClr val="F0F0F0"/>
                </a:solidFill>
              </a:rPr>
              <a:t>• Identify the major types of dementia: Alzheimer's, vascular, Lewy body, frontotemporal</a:t>
            </a:r>
          </a:p>
          <a:p>
            <a:pPr>
              <a:spcBef>
                <a:spcPts val="400"/>
              </a:spcBef>
            </a:pPr>
            <a:r>
              <a:rPr sz="1700">
                <a:solidFill>
                  <a:srgbClr val="F0F0F0"/>
                </a:solidFill>
              </a:rPr>
              <a:t>• Understand the neuroscience of neurodegeneration</a:t>
            </a:r>
          </a:p>
          <a:p>
            <a:pPr>
              <a:spcBef>
                <a:spcPts val="400"/>
              </a:spcBef>
            </a:pPr>
            <a:r>
              <a:rPr sz="1700">
                <a:solidFill>
                  <a:srgbClr val="F0F0F0"/>
                </a:solidFill>
              </a:rPr>
              <a:t>• Explore the impact of dementia on the person, family and carers</a:t>
            </a:r>
          </a:p>
          <a:p>
            <a:pPr>
              <a:spcBef>
                <a:spcPts val="400"/>
              </a:spcBef>
            </a:pPr>
            <a:r>
              <a:rPr sz="1700">
                <a:solidFill>
                  <a:srgbClr val="F0F0F0"/>
                </a:solidFill>
              </a:rPr>
              <a:t>• Identify evidence-based interventions: cognitive stimulation, medication, carer support</a:t>
            </a:r>
          </a:p>
          <a:p>
            <a:pPr>
              <a:spcBef>
                <a:spcPts val="400"/>
              </a:spcBef>
            </a:pPr>
            <a:r>
              <a:rPr sz="1700">
                <a:solidFill>
                  <a:srgbClr val="F0F0F0"/>
                </a:solidFill>
              </a:rPr>
              <a:t>• Develop skills for communicating with people living with dementia</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25: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Delirium: acute, fluctuating confusion often caused by physical illness or medication</a:t>
            </a:r>
          </a:p>
          <a:p>
            <a:pPr>
              <a:spcBef>
                <a:spcPts val="400"/>
              </a:spcBef>
            </a:pPr>
            <a:r>
              <a:rPr sz="1700">
                <a:solidFill>
                  <a:srgbClr val="F0F0F0"/>
                </a:solidFill>
              </a:rPr>
              <a:t>• Mild cognitive impairment (MCI): cognitive decline greater than expected for age</a:t>
            </a:r>
          </a:p>
          <a:p>
            <a:pPr>
              <a:spcBef>
                <a:spcPts val="400"/>
              </a:spcBef>
            </a:pPr>
            <a:r>
              <a:rPr sz="1700">
                <a:solidFill>
                  <a:srgbClr val="F0F0F0"/>
                </a:solidFill>
              </a:rPr>
              <a:t>• Alzheimer's disease: most common dementia; amyloid plaques and tau tangles</a:t>
            </a:r>
          </a:p>
          <a:p>
            <a:pPr>
              <a:spcBef>
                <a:spcPts val="400"/>
              </a:spcBef>
            </a:pPr>
            <a:r>
              <a:rPr sz="1700">
                <a:solidFill>
                  <a:srgbClr val="F0F0F0"/>
                </a:solidFill>
              </a:rPr>
              <a:t>• Vascular dementia: caused by reduced blood flow to the brain</a:t>
            </a:r>
          </a:p>
          <a:p>
            <a:pPr>
              <a:spcBef>
                <a:spcPts val="400"/>
              </a:spcBef>
            </a:pPr>
            <a:r>
              <a:rPr sz="1700">
                <a:solidFill>
                  <a:srgbClr val="F0F0F0"/>
                </a:solidFill>
              </a:rPr>
              <a:t>• Lewy body dementia: protein deposits causing cognitive fluctuations and Parkinsonism</a:t>
            </a:r>
          </a:p>
          <a:p>
            <a:pPr>
              <a:spcBef>
                <a:spcPts val="400"/>
              </a:spcBef>
            </a:pPr>
            <a:r>
              <a:rPr sz="1700">
                <a:solidFill>
                  <a:srgbClr val="F0F0F0"/>
                </a:solidFill>
              </a:rPr>
              <a:t>• Frontotemporal dementia: affects personality, behaviour and language</a:t>
            </a:r>
          </a:p>
          <a:p>
            <a:pPr>
              <a:spcBef>
                <a:spcPts val="400"/>
              </a:spcBef>
            </a:pPr>
            <a:r>
              <a:rPr sz="1700">
                <a:solidFill>
                  <a:srgbClr val="F0F0F0"/>
                </a:solidFill>
              </a:rPr>
              <a:t>• Person-centred dementia care: maintaining dignity, identity and quality of life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Dementia affects 900,000 people in the UK (Alzheimer's Society, 2023)</a:t>
            </a:r>
          </a:p>
          <a:p>
            <a:pPr>
              <a:spcBef>
                <a:spcPts val="400"/>
              </a:spcBef>
            </a:pPr>
            <a:r>
              <a:rPr sz="1700">
                <a:solidFill>
                  <a:srgbClr val="F0F0F0"/>
                </a:solidFill>
              </a:rPr>
              <a:t>• Dementia is the leading cause of death in England and Wales (ONS)</a:t>
            </a:r>
          </a:p>
          <a:p>
            <a:pPr>
              <a:spcBef>
                <a:spcPts val="400"/>
              </a:spcBef>
            </a:pPr>
            <a:r>
              <a:rPr sz="1700">
                <a:solidFill>
                  <a:srgbClr val="F0F0F0"/>
                </a:solidFill>
              </a:rPr>
              <a:t>• By 2040, 1.6 million people in the UK will be living with dementia</a:t>
            </a:r>
          </a:p>
          <a:p>
            <a:pPr>
              <a:spcBef>
                <a:spcPts val="400"/>
              </a:spcBef>
            </a:pPr>
            <a:r>
              <a:rPr sz="1700">
                <a:solidFill>
                  <a:srgbClr val="F0F0F0"/>
                </a:solidFill>
              </a:rPr>
              <a:t>• Carers of people with dementia provide £13.9 billion of unpaid care annually</a:t>
            </a:r>
          </a:p>
          <a:p>
            <a:pPr>
              <a:spcBef>
                <a:spcPts val="400"/>
              </a:spcBef>
            </a:pPr>
            <a:r>
              <a:rPr sz="1700">
                <a:solidFill>
                  <a:srgbClr val="F0F0F0"/>
                </a:solidFill>
              </a:rPr>
              <a:t>• Only 67% of people with dementia have a formal diagnosis</a:t>
            </a:r>
          </a:p>
          <a:p>
            <a:pPr>
              <a:spcBef>
                <a:spcPts val="400"/>
              </a:spcBef>
            </a:pPr>
            <a:r>
              <a:rPr sz="1700">
                <a:solidFill>
                  <a:srgbClr val="F0F0F0"/>
                </a:solidFill>
              </a:rPr>
              <a:t>• Dementia costs the UK £34.7 billion per year</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Cognitive stimulation therapy (CST) improves cognition and quality of life (NICE)</a:t>
            </a:r>
          </a:p>
          <a:p>
            <a:pPr>
              <a:spcBef>
                <a:spcPts val="400"/>
              </a:spcBef>
            </a:pPr>
            <a:r>
              <a:rPr sz="1700">
                <a:solidFill>
                  <a:srgbClr val="F0F0F0"/>
                </a:solidFill>
              </a:rPr>
              <a:t>• Acetylcholinesterase inhibitors slow progression in mild-moderate Alzheimer's</a:t>
            </a:r>
          </a:p>
          <a:p>
            <a:pPr>
              <a:spcBef>
                <a:spcPts val="400"/>
              </a:spcBef>
            </a:pPr>
            <a:r>
              <a:rPr sz="1700">
                <a:solidFill>
                  <a:srgbClr val="F0F0F0"/>
                </a:solidFill>
              </a:rPr>
              <a:t>• Person-centred care significantly improves quality of life and reduces agitation</a:t>
            </a:r>
          </a:p>
          <a:p>
            <a:pPr>
              <a:spcBef>
                <a:spcPts val="400"/>
              </a:spcBef>
            </a:pPr>
            <a:r>
              <a:rPr sz="1700">
                <a:solidFill>
                  <a:srgbClr val="F0F0F0"/>
                </a:solidFill>
              </a:rPr>
              <a:t>• Validation therapy reduces distress in people with dementia</a:t>
            </a:r>
          </a:p>
          <a:p>
            <a:pPr>
              <a:spcBef>
                <a:spcPts val="400"/>
              </a:spcBef>
            </a:pPr>
            <a:r>
              <a:rPr sz="1700">
                <a:solidFill>
                  <a:srgbClr val="F0F0F0"/>
                </a:solidFill>
              </a:rPr>
              <a:t>• Carer support reduces carer burnout and delays care home admission</a:t>
            </a:r>
          </a:p>
          <a:p>
            <a:pPr>
              <a:spcBef>
                <a:spcPts val="400"/>
              </a:spcBef>
            </a:pPr>
            <a:r>
              <a:rPr sz="1700">
                <a:solidFill>
                  <a:srgbClr val="F0F0F0"/>
                </a:solidFill>
              </a:rPr>
              <a:t>• Physical exercise reduces the risk of developing dementia by 30%</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Margaret, 78, began forgetting appointments and repeating herself. Her family noticed she was struggling with familiar tasks and becoming confused in the evenings. Following assessment, Margaret was diagnosed with mild Alzheimer's disease. She began a cognitive stimulation therapy group and her husband received carer support through the Alzheimer's Society. Margaret's care was coordinated by a dementia support worker. With appropriate support, Margaret continued to live at home for three more years.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Cognitive stimulation therapy (CST): NICE-recommended group therapy for mild-moderate dementia</a:t>
            </a:r>
          </a:p>
          <a:p>
            <a:pPr>
              <a:spcBef>
                <a:spcPts val="400"/>
              </a:spcBef>
            </a:pPr>
            <a:r>
              <a:rPr sz="1700">
                <a:solidFill>
                  <a:srgbClr val="F0F0F0"/>
                </a:solidFill>
              </a:rPr>
              <a:t>• Acetylcholinesterase inhibitors: donepezil, rivastigmine, galantamine for Alzheimer's</a:t>
            </a:r>
          </a:p>
          <a:p>
            <a:pPr>
              <a:spcBef>
                <a:spcPts val="400"/>
              </a:spcBef>
            </a:pPr>
            <a:r>
              <a:rPr sz="1700">
                <a:solidFill>
                  <a:srgbClr val="F0F0F0"/>
                </a:solidFill>
              </a:rPr>
              <a:t>• Person-centred care: maintaining dignity, identity and quality of life</a:t>
            </a:r>
          </a:p>
          <a:p>
            <a:pPr>
              <a:spcBef>
                <a:spcPts val="400"/>
              </a:spcBef>
            </a:pPr>
            <a:r>
              <a:rPr sz="1700">
                <a:solidFill>
                  <a:srgbClr val="F0F0F0"/>
                </a:solidFill>
              </a:rPr>
              <a:t>• Validation therapy: entering the person's reality rather than correcting</a:t>
            </a:r>
          </a:p>
          <a:p>
            <a:pPr>
              <a:spcBef>
                <a:spcPts val="400"/>
              </a:spcBef>
            </a:pPr>
            <a:r>
              <a:rPr sz="1700">
                <a:solidFill>
                  <a:srgbClr val="F0F0F0"/>
                </a:solidFill>
              </a:rPr>
              <a:t>• Carer support: Alzheimer's Society Admiral Nurses, carer support groups</a:t>
            </a:r>
          </a:p>
          <a:p>
            <a:pPr>
              <a:spcBef>
                <a:spcPts val="400"/>
              </a:spcBef>
            </a:pPr>
            <a:r>
              <a:rPr sz="1700">
                <a:solidFill>
                  <a:srgbClr val="F0F0F0"/>
                </a:solidFill>
              </a:rPr>
              <a:t>• Environmental modifications: clear signage, familiar objects, safe home environment</a:t>
            </a:r>
          </a:p>
          <a:p>
            <a:pPr>
              <a:spcBef>
                <a:spcPts val="400"/>
              </a:spcBef>
            </a:pPr>
            <a:r>
              <a:rPr sz="1700">
                <a:solidFill>
                  <a:srgbClr val="F0F0F0"/>
                </a:solidFill>
              </a:rPr>
              <a:t>• Advance care planning: lasting power of attorney, advance decisions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Communication skills practice: Participants practise communicating with someone with dementia using validation therapy techniques — entering the person's reality rather than correcting them. Discuss: How does it feel to be corrected when confused? How can we communicate with dignity and respect?</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a dementia diagnosis affect the person and their family?</a:t>
            </a:r>
          </a:p>
          <a:p>
            <a:pPr>
              <a:spcBef>
                <a:spcPts val="400"/>
              </a:spcBef>
            </a:pPr>
            <a:r>
              <a:rPr sz="1700">
                <a:solidFill>
                  <a:srgbClr val="F0F0F0"/>
                </a:solidFill>
              </a:rPr>
              <a:t>• What is the difference between normal ageing and dementia?</a:t>
            </a:r>
          </a:p>
          <a:p>
            <a:pPr>
              <a:spcBef>
                <a:spcPts val="400"/>
              </a:spcBef>
            </a:pPr>
            <a:r>
              <a:rPr sz="1700">
                <a:solidFill>
                  <a:srgbClr val="F0F0F0"/>
                </a:solidFill>
              </a:rPr>
              <a:t>• How can we communicate with someone living with dementia?</a:t>
            </a:r>
          </a:p>
          <a:p>
            <a:pPr>
              <a:spcBef>
                <a:spcPts val="400"/>
              </a:spcBef>
            </a:pPr>
            <a:r>
              <a:rPr sz="1700">
                <a:solidFill>
                  <a:srgbClr val="F0F0F0"/>
                </a:solidFill>
              </a:rPr>
              <a:t>• What support is available for carers of people with dementia?</a:t>
            </a:r>
          </a:p>
          <a:p>
            <a:pPr>
              <a:spcBef>
                <a:spcPts val="400"/>
              </a:spcBef>
            </a:pPr>
            <a:r>
              <a:rPr sz="1700">
                <a:solidFill>
                  <a:srgbClr val="F0F0F0"/>
                </a:solidFill>
              </a:rPr>
              <a:t>• What dementia services are available in Melksham and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Alzheimer's Society: alzheimers.org.uk / 0333 150 3456</a:t>
            </a:r>
          </a:p>
          <a:p>
            <a:pPr>
              <a:spcBef>
                <a:spcPts val="400"/>
              </a:spcBef>
            </a:pPr>
            <a:r>
              <a:rPr sz="1400">
                <a:solidFill>
                  <a:srgbClr val="F0F0F0"/>
                </a:solidFill>
              </a:rPr>
              <a:t>• NICE Guideline NG97: Dementia (2018, updated 2023)</a:t>
            </a:r>
          </a:p>
          <a:p>
            <a:pPr>
              <a:spcBef>
                <a:spcPts val="400"/>
              </a:spcBef>
            </a:pPr>
            <a:r>
              <a:rPr sz="1400">
                <a:solidFill>
                  <a:srgbClr val="F0F0F0"/>
                </a:solidFill>
              </a:rPr>
              <a:t>• NHS: Dementia (nhs.uk/conditions/dementia)</a:t>
            </a:r>
          </a:p>
          <a:p>
            <a:pPr>
              <a:spcBef>
                <a:spcPts val="400"/>
              </a:spcBef>
            </a:pPr>
            <a:r>
              <a:rPr sz="1400">
                <a:solidFill>
                  <a:srgbClr val="F0F0F0"/>
                </a:solidFill>
              </a:rPr>
              <a:t>• Dementia UK: dementiauk.org / 0800 888 6678</a:t>
            </a:r>
          </a:p>
          <a:p>
            <a:pPr>
              <a:spcBef>
                <a:spcPts val="400"/>
              </a:spcBef>
            </a:pPr>
            <a:r>
              <a:rPr sz="1400">
                <a:solidFill>
                  <a:srgbClr val="F0F0F0"/>
                </a:solidFill>
              </a:rPr>
              <a:t>• Wiltshire Alzheimer's Society: alzheimers.org.uk/find-support-near-you</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25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Neurocognitive Disorders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25: Neurocognitive Disorders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
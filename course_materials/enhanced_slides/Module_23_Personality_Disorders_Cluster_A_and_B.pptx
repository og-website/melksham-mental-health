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</a:rPr>
              <a:t>Module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</a:rPr>
              <a:t>Personality Disorders: Cluster A and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0000"/>
            <a:ext cx="8229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Personality disorders are enduring patterns of inner experience and behaviour that deviate significantly from cultural expectations. This module explores Cluster A (odd/eccentric) and Cluster B (dramatic/emotional/erratic) personality disorders, with a focus on reducing stigma and understanding evidence-based treatments.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Introduction &amp; Objectives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Evidence-Based Content  (45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Case Study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Interactive Activity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Group Discussion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Wrap-Up &amp; Resources  (15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Define personality disorders and understand the cluster classification system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Identify the features of Cluster A disorders: paranoid, schizoid, schizotypal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Identify the features of Cluster B disorders: antisocial, borderline, histrionic, narcissistic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the aetiology: genetics, attachment and early trauma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Explore evidence-based treatments: DBT, MBT, schema therapy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Develop skills for working therapeutically with people with personality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Module 23: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Cluster A (odd/eccentric): paranoid, schizoid and schizotypal personality disorders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Paranoid PD: pervasive distrust and suspicion of others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Schizoid PD: detachment from social relationships, restricted emotional expression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Schizotypal PD: acute discomfort in close relationships, cognitive and perceptual distortions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Cluster B (dramatic/emotional): antisocial, borderline, histrionic, narcissistic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Borderline PD: emotional dysregulation, unstable relationships, self-harm, identity disturbance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Antisocial PD: disregard for and violation of others' rights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Key Statistics &amp; Prevalence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Personality disorders affect 4–5% of the UK population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Borderline PD affects 1–2% of the population; 10% die by suicide (Paris, 2002)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Antisocial PD: 3% of men, 1% of women in the UK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70% of people with borderline PD have a history of childhood trauma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DBT reduces self-harm and suicidal behaviour by 50% (Linehan et al.)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People with personality disorders are frequently discharged from services prematurely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Evidence &amp;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NICE (CG78): recommends DBT for borderline PD and MBT as an alternative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DBT reduces self-harm and suicidal behaviour by 50% in borderline PD (Linehan)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Schema therapy is effective for borderline and narcissistic personality disorders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Personality disorders are highly stigmatised; people often receive poor care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Recovery is possible: 50% of people with borderline PD no longer meet criteria after 10 years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Trauma-informed approaches significantly improve engagement and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Lisa, 28, had been diagnosed with borderline personality disorder following years of self-harm, unstable relationships and intense emotional swings. She had been told by multiple professionals that she was 'untreatable'. After referral to a specialist personality disorder service, Lisa began DBT — a 12-month programme combining individual therapy and skills groups. She learned distress tolerance, emotion regulation and interpersonal effectiveness skills. Three years later, Lisa is employed, in a stable relationship and training as a peer support worker.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Names and details are fictional. Any resemblance to real persons is coincidental.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Coping Strategies &amp; Interventions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Dialectical behaviour therapy (DBT): gold standard for borderline PD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Mentalisation-based treatment (MBT): improving capacity to understand mental states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Schema therapy: addressing early maladaptive schemas from childhood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Transference-focused psychotherapy (TFP): for borderline and narcissistic PD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Cognitive analytic therapy (CAT): mapping relational patterns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Peer support: personality disorder peer support groups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Crisis planning: advance directives, crisis cards and safety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0F0"/>
                </a:solidFill>
              </a:rPr>
              <a:t>DBT skills practice: Participants learn and practise the DEAR MAN interpersonal effectiveness skill (Describe, Express, Assert, Reinforce, Mindful, Appear confident, Negotiate). Discuss: How does this skill help in difficult conversations? When might you use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00000"/>
            <a:ext cx="8229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Take 5 minutes to reflect individually or in pairs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Facilitator will guide and support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Reflection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misconceptions exist about personality disorders — particularly borderline PD?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does stigma within mental health services affect people with personality disorders?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is the difference between a personality disorder and a difficult personality?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can we respond therapeutically to someone with borderline PD in crisis?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specialist personality disorder services are available in Wiltshire?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00"/>
                </a:solidFill>
              </a:rPr>
              <a:t>Remember: You are never alone. Help is always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Resources &amp;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Key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0000"/>
            <a:ext cx="82296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NICE Guideline CG78: Borderline personality disorder (2009, updated 2018)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Emergence: emergenceplus.org.uk (personality disorder peer support)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Mind UK: Personality disorders (mind.org.uk)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NHS: Personality disorder (nhs.uk/conditions/personality-disorder)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Samaritans: 116 123 (free, 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00"/>
                </a:solidFill>
              </a:rPr>
              <a:t>Crisis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50000"/>
            <a:ext cx="8229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Wiltshire Crisis Line: 0800 953 0110 (24/7)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PAPYRUS (under 35): 0800 068 4141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</a:rPr>
              <a:t>Module 23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Personality Disorders: Cluster A and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You have completed Module 23: Personality Disorders: Cluster A and B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
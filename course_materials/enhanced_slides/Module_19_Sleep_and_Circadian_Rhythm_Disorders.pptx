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19</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Sleep and Circadian Rhythm Disorders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Sleep disorders are highly prevalent and have significant consequences for mental and physical health. This module explores insomnia, hypersomnolence, narcolepsy, sleep apnoea and parasomnias, alongside the evidence-based interventions — particularly CBT-I — that improve sleep quality.</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sleep-wake cycle and the role of circadian rhythms</a:t>
            </a:r>
          </a:p>
          <a:p>
            <a:pPr>
              <a:spcBef>
                <a:spcPts val="400"/>
              </a:spcBef>
            </a:pPr>
            <a:r>
              <a:rPr sz="1700">
                <a:solidFill>
                  <a:srgbClr val="F0F0F0"/>
                </a:solidFill>
              </a:rPr>
              <a:t>• Define and distinguish between common sleep disorders</a:t>
            </a:r>
          </a:p>
          <a:p>
            <a:pPr>
              <a:spcBef>
                <a:spcPts val="400"/>
              </a:spcBef>
            </a:pPr>
            <a:r>
              <a:rPr sz="1700">
                <a:solidFill>
                  <a:srgbClr val="F0F0F0"/>
                </a:solidFill>
              </a:rPr>
              <a:t>• Identify the bidirectional relationship between sleep and mental health</a:t>
            </a:r>
          </a:p>
          <a:p>
            <a:pPr>
              <a:spcBef>
                <a:spcPts val="400"/>
              </a:spcBef>
            </a:pPr>
            <a:r>
              <a:rPr sz="1700">
                <a:solidFill>
                  <a:srgbClr val="F0F0F0"/>
                </a:solidFill>
              </a:rPr>
              <a:t>• Explore CBT for insomnia (CBT-I) as the gold-standard treatment</a:t>
            </a:r>
          </a:p>
          <a:p>
            <a:pPr>
              <a:spcBef>
                <a:spcPts val="400"/>
              </a:spcBef>
            </a:pPr>
            <a:r>
              <a:rPr sz="1700">
                <a:solidFill>
                  <a:srgbClr val="F0F0F0"/>
                </a:solidFill>
              </a:rPr>
              <a:t>• Develop evidence-based sleep hygiene strategies</a:t>
            </a:r>
          </a:p>
          <a:p>
            <a:pPr>
              <a:spcBef>
                <a:spcPts val="400"/>
              </a:spcBef>
            </a:pPr>
            <a:r>
              <a:rPr sz="1700">
                <a:solidFill>
                  <a:srgbClr val="F0F0F0"/>
                </a:solidFill>
              </a:rPr>
              <a:t>• Understand the impact of shift work and screen time on sleep</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19: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Insomnia: difficulty initiating or maintaining sleep, causing daytime impairment</a:t>
            </a:r>
          </a:p>
          <a:p>
            <a:pPr>
              <a:spcBef>
                <a:spcPts val="400"/>
              </a:spcBef>
            </a:pPr>
            <a:r>
              <a:rPr sz="1700">
                <a:solidFill>
                  <a:srgbClr val="F0F0F0"/>
                </a:solidFill>
              </a:rPr>
              <a:t>• Hypersomnolence: excessive daytime sleepiness despite adequate night-time sleep</a:t>
            </a:r>
          </a:p>
          <a:p>
            <a:pPr>
              <a:spcBef>
                <a:spcPts val="400"/>
              </a:spcBef>
            </a:pPr>
            <a:r>
              <a:rPr sz="1700">
                <a:solidFill>
                  <a:srgbClr val="F0F0F0"/>
                </a:solidFill>
              </a:rPr>
              <a:t>• Narcolepsy: sudden onset of sleep, cataplexy and sleep paralysis</a:t>
            </a:r>
          </a:p>
          <a:p>
            <a:pPr>
              <a:spcBef>
                <a:spcPts val="400"/>
              </a:spcBef>
            </a:pPr>
            <a:r>
              <a:rPr sz="1700">
                <a:solidFill>
                  <a:srgbClr val="F0F0F0"/>
                </a:solidFill>
              </a:rPr>
              <a:t>• Obstructive sleep apnoea: repeated upper airway obstruction during sleep</a:t>
            </a:r>
          </a:p>
          <a:p>
            <a:pPr>
              <a:spcBef>
                <a:spcPts val="400"/>
              </a:spcBef>
            </a:pPr>
            <a:r>
              <a:rPr sz="1700">
                <a:solidFill>
                  <a:srgbClr val="F0F0F0"/>
                </a:solidFill>
              </a:rPr>
              <a:t>• Parasomnias: sleepwalking, night terrors, REM sleep behaviour disorder</a:t>
            </a:r>
          </a:p>
          <a:p>
            <a:pPr>
              <a:spcBef>
                <a:spcPts val="400"/>
              </a:spcBef>
            </a:pPr>
            <a:r>
              <a:rPr sz="1700">
                <a:solidFill>
                  <a:srgbClr val="F0F0F0"/>
                </a:solidFill>
              </a:rPr>
              <a:t>• Circadian rhythm disorders: delayed sleep phase, shift work disorder, jet lag</a:t>
            </a:r>
          </a:p>
          <a:p>
            <a:pPr>
              <a:spcBef>
                <a:spcPts val="400"/>
              </a:spcBef>
            </a:pPr>
            <a:r>
              <a:rPr sz="1700">
                <a:solidFill>
                  <a:srgbClr val="F0F0F0"/>
                </a:solidFill>
              </a:rPr>
              <a:t>• CBT-I: stimulus control, sleep restriction, cognitive restructuring, relaxation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Insomnia affects 30–35% of adults in the UK (NHS England)</a:t>
            </a:r>
          </a:p>
          <a:p>
            <a:pPr>
              <a:spcBef>
                <a:spcPts val="400"/>
              </a:spcBef>
            </a:pPr>
            <a:r>
              <a:rPr sz="1700">
                <a:solidFill>
                  <a:srgbClr val="F0F0F0"/>
                </a:solidFill>
              </a:rPr>
              <a:t>• Chronic insomnia affects 10–15% of adults and significantly impairs functioning</a:t>
            </a:r>
          </a:p>
          <a:p>
            <a:pPr>
              <a:spcBef>
                <a:spcPts val="400"/>
              </a:spcBef>
            </a:pPr>
            <a:r>
              <a:rPr sz="1700">
                <a:solidFill>
                  <a:srgbClr val="F0F0F0"/>
                </a:solidFill>
              </a:rPr>
              <a:t>• Poor sleep increases risk of depression by 2–3 times (Walker, 2017)</a:t>
            </a:r>
          </a:p>
          <a:p>
            <a:pPr>
              <a:spcBef>
                <a:spcPts val="400"/>
              </a:spcBef>
            </a:pPr>
            <a:r>
              <a:rPr sz="1700">
                <a:solidFill>
                  <a:srgbClr val="F0F0F0"/>
                </a:solidFill>
              </a:rPr>
              <a:t>• Sleep deprivation costs the UK economy £40 billion per year (Rand Europe, 2016)</a:t>
            </a:r>
          </a:p>
          <a:p>
            <a:pPr>
              <a:spcBef>
                <a:spcPts val="400"/>
              </a:spcBef>
            </a:pPr>
            <a:r>
              <a:rPr sz="1700">
                <a:solidFill>
                  <a:srgbClr val="F0F0F0"/>
                </a:solidFill>
              </a:rPr>
              <a:t>• Sleep apnoea affects 1.5 million people in the UK; 85% are undiagnosed</a:t>
            </a:r>
          </a:p>
          <a:p>
            <a:pPr>
              <a:spcBef>
                <a:spcPts val="400"/>
              </a:spcBef>
            </a:pPr>
            <a:r>
              <a:rPr sz="1700">
                <a:solidFill>
                  <a:srgbClr val="F0F0F0"/>
                </a:solidFill>
              </a:rPr>
              <a:t>• Shift workers are 33% more likely to develop depression than day workers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CBT-I is more effective than sleep medication in the long term (NICE)</a:t>
            </a:r>
          </a:p>
          <a:p>
            <a:pPr>
              <a:spcBef>
                <a:spcPts val="400"/>
              </a:spcBef>
            </a:pPr>
            <a:r>
              <a:rPr sz="1700">
                <a:solidFill>
                  <a:srgbClr val="F0F0F0"/>
                </a:solidFill>
              </a:rPr>
              <a:t>• Stimulus control therapy is the most effective single component of CBT-I</a:t>
            </a:r>
          </a:p>
          <a:p>
            <a:pPr>
              <a:spcBef>
                <a:spcPts val="400"/>
              </a:spcBef>
            </a:pPr>
            <a:r>
              <a:rPr sz="1700">
                <a:solidFill>
                  <a:srgbClr val="F0F0F0"/>
                </a:solidFill>
              </a:rPr>
              <a:t>• Sleep restriction therapy improves sleep efficiency from 55% to 87% on average</a:t>
            </a:r>
          </a:p>
          <a:p>
            <a:pPr>
              <a:spcBef>
                <a:spcPts val="400"/>
              </a:spcBef>
            </a:pPr>
            <a:r>
              <a:rPr sz="1700">
                <a:solidFill>
                  <a:srgbClr val="F0F0F0"/>
                </a:solidFill>
              </a:rPr>
              <a:t>• Digital CBT-I (Sleepio, Somryst) is as effective as face-to-face CBT-I</a:t>
            </a:r>
          </a:p>
          <a:p>
            <a:pPr>
              <a:spcBef>
                <a:spcPts val="400"/>
              </a:spcBef>
            </a:pPr>
            <a:r>
              <a:rPr sz="1700">
                <a:solidFill>
                  <a:srgbClr val="F0F0F0"/>
                </a:solidFill>
              </a:rPr>
              <a:t>• CPAP therapy reduces depression and anxiety in people with sleep apnoea</a:t>
            </a:r>
          </a:p>
          <a:p>
            <a:pPr>
              <a:spcBef>
                <a:spcPts val="400"/>
              </a:spcBef>
            </a:pPr>
            <a:r>
              <a:rPr sz="1700">
                <a:solidFill>
                  <a:srgbClr val="F0F0F0"/>
                </a:solidFill>
              </a:rPr>
              <a:t>• Melatonin is effective for circadian rhythm disorders and jet lag</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Michael, 45, had experienced insomnia for 10 years. He spent hours lying awake, checking the clock and worrying about not sleeping. He had tried numerous sleep medications with limited success. His GP referred him to a digital CBT-I programme (Sleepio). Over six weeks, Michael implemented stimulus control, sleep restriction and cognitive restructuring of sleep-related worries. His sleep efficiency improved from 55% to 87%.</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CBT-I: stimulus control, sleep restriction, cognitive restructuring, relaxation</a:t>
            </a:r>
          </a:p>
          <a:p>
            <a:pPr>
              <a:spcBef>
                <a:spcPts val="400"/>
              </a:spcBef>
            </a:pPr>
            <a:r>
              <a:rPr sz="1700">
                <a:solidFill>
                  <a:srgbClr val="F0F0F0"/>
                </a:solidFill>
              </a:rPr>
              <a:t>• Sleep hygiene: consistent sleep schedule, dark/cool room, no screens before bed</a:t>
            </a:r>
          </a:p>
          <a:p>
            <a:pPr>
              <a:spcBef>
                <a:spcPts val="400"/>
              </a:spcBef>
            </a:pPr>
            <a:r>
              <a:rPr sz="1700">
                <a:solidFill>
                  <a:srgbClr val="F0F0F0"/>
                </a:solidFill>
              </a:rPr>
              <a:t>• Sleep restriction therapy: initially limiting time in bed to improve sleep efficiency</a:t>
            </a:r>
          </a:p>
          <a:p>
            <a:pPr>
              <a:spcBef>
                <a:spcPts val="400"/>
              </a:spcBef>
            </a:pPr>
            <a:r>
              <a:rPr sz="1700">
                <a:solidFill>
                  <a:srgbClr val="F0F0F0"/>
                </a:solidFill>
              </a:rPr>
              <a:t>• Stimulus control: using the bed only for sleep and sex</a:t>
            </a:r>
          </a:p>
          <a:p>
            <a:pPr>
              <a:spcBef>
                <a:spcPts val="400"/>
              </a:spcBef>
            </a:pPr>
            <a:r>
              <a:rPr sz="1700">
                <a:solidFill>
                  <a:srgbClr val="F0F0F0"/>
                </a:solidFill>
              </a:rPr>
              <a:t>• Relaxation techniques: progressive muscle relaxation, body scan, breathing exercises</a:t>
            </a:r>
          </a:p>
          <a:p>
            <a:pPr>
              <a:spcBef>
                <a:spcPts val="400"/>
              </a:spcBef>
            </a:pPr>
            <a:r>
              <a:rPr sz="1700">
                <a:solidFill>
                  <a:srgbClr val="F0F0F0"/>
                </a:solidFill>
              </a:rPr>
              <a:t>• Digital CBT-I: Sleepio, Somryst and NHS-approved apps</a:t>
            </a:r>
          </a:p>
          <a:p>
            <a:pPr>
              <a:spcBef>
                <a:spcPts val="400"/>
              </a:spcBef>
            </a:pPr>
            <a:r>
              <a:rPr sz="1700">
                <a:solidFill>
                  <a:srgbClr val="F0F0F0"/>
                </a:solidFill>
              </a:rPr>
              <a:t>• Medical treatment: CPAP for sleep apnoea, melatonin for circadian rhythm disorders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Sleep diary exercise: Participants complete a one-week sleep diary template, recording bedtime, wake time, sleep quality and daytime functioning. Discuss: What patterns do you notice in your sleep? What factors most affect your sleep quality?</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poor sleep affect your mood, concentration and relationships?</a:t>
            </a:r>
          </a:p>
          <a:p>
            <a:pPr>
              <a:spcBef>
                <a:spcPts val="400"/>
              </a:spcBef>
            </a:pPr>
            <a:r>
              <a:rPr sz="1700">
                <a:solidFill>
                  <a:srgbClr val="F0F0F0"/>
                </a:solidFill>
              </a:rPr>
              <a:t>• What sleep hygiene strategies do you currently use — and do they work?</a:t>
            </a:r>
          </a:p>
          <a:p>
            <a:pPr>
              <a:spcBef>
                <a:spcPts val="400"/>
              </a:spcBef>
            </a:pPr>
            <a:r>
              <a:rPr sz="1700">
                <a:solidFill>
                  <a:srgbClr val="F0F0F0"/>
                </a:solidFill>
              </a:rPr>
              <a:t>• How does shift work affect mental and physical health?</a:t>
            </a:r>
          </a:p>
          <a:p>
            <a:pPr>
              <a:spcBef>
                <a:spcPts val="400"/>
              </a:spcBef>
            </a:pPr>
            <a:r>
              <a:rPr sz="1700">
                <a:solidFill>
                  <a:srgbClr val="F0F0F0"/>
                </a:solidFill>
              </a:rPr>
              <a:t>• What is the difference between insomnia and 'just being a bad sleeper'?</a:t>
            </a:r>
          </a:p>
          <a:p>
            <a:pPr>
              <a:spcBef>
                <a:spcPts val="400"/>
              </a:spcBef>
            </a:pPr>
            <a:r>
              <a:rPr sz="1700">
                <a:solidFill>
                  <a:srgbClr val="F0F0F0"/>
                </a:solidFill>
              </a:rPr>
              <a:t>• What NHS sleep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Insomnia (cks.nice.org.uk/topics/insomnia)</a:t>
            </a:r>
          </a:p>
          <a:p>
            <a:pPr>
              <a:spcBef>
                <a:spcPts val="400"/>
              </a:spcBef>
            </a:pPr>
            <a:r>
              <a:rPr sz="1400">
                <a:solidFill>
                  <a:srgbClr val="F0F0F0"/>
                </a:solidFill>
              </a:rPr>
              <a:t>• Sleep Foundation: sleepfoundation.org</a:t>
            </a:r>
          </a:p>
          <a:p>
            <a:pPr>
              <a:spcBef>
                <a:spcPts val="400"/>
              </a:spcBef>
            </a:pPr>
            <a:r>
              <a:rPr sz="1400">
                <a:solidFill>
                  <a:srgbClr val="F0F0F0"/>
                </a:solidFill>
              </a:rPr>
              <a:t>• NHS: Insomnia (nhs.uk/conditions/insomnia)</a:t>
            </a:r>
          </a:p>
          <a:p>
            <a:pPr>
              <a:spcBef>
                <a:spcPts val="400"/>
              </a:spcBef>
            </a:pPr>
            <a:r>
              <a:rPr sz="1400">
                <a:solidFill>
                  <a:srgbClr val="F0F0F0"/>
                </a:solidFill>
              </a:rPr>
              <a:t>• Sleepio: sleepio.com (NHS-approved digital CBT-I)</a:t>
            </a:r>
          </a:p>
          <a:p>
            <a:pPr>
              <a:spcBef>
                <a:spcPts val="400"/>
              </a:spcBef>
            </a:pPr>
            <a:r>
              <a:rPr sz="1400">
                <a:solidFill>
                  <a:srgbClr val="F0F0F0"/>
                </a:solidFill>
              </a:rPr>
              <a:t>• British Sleep Society: sleepsociety.org.uk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19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Sleep and Circadian Rhythm Disorders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19: Sleep and Circadian Rhythm Disorders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
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7</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Trauma and Stress: PTSD and Complex PTSD</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Post-traumatic stress disorder (PTSD) and complex PTSD (CPTSD) are serious but treatable conditions that develop following traumatic experiences. This module explores the neuroscience of trauma, the differences between PTSD and CPTSD, and the evidence-based treatments that support recovery.</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PTSD and complex PTSD and understand their diagnostic criteria</a:t>
            </a:r>
          </a:p>
          <a:p>
            <a:pPr>
              <a:spcBef>
                <a:spcPts val="400"/>
              </a:spcBef>
            </a:pPr>
            <a:r>
              <a:rPr sz="1700">
                <a:solidFill>
                  <a:srgbClr val="F0F0F0"/>
                </a:solidFill>
              </a:rPr>
              <a:t>• Understand the neuroscience of trauma: amygdala, hippocampus and prefrontal cortex</a:t>
            </a:r>
          </a:p>
          <a:p>
            <a:pPr>
              <a:spcBef>
                <a:spcPts val="400"/>
              </a:spcBef>
            </a:pPr>
            <a:r>
              <a:rPr sz="1700">
                <a:solidFill>
                  <a:srgbClr val="F0F0F0"/>
                </a:solidFill>
              </a:rPr>
              <a:t>• Identify the four clusters of PTSD symptoms: intrusion, avoidance, cognition/mood, arousal</a:t>
            </a:r>
          </a:p>
          <a:p>
            <a:pPr>
              <a:spcBef>
                <a:spcPts val="400"/>
              </a:spcBef>
            </a:pPr>
            <a:r>
              <a:rPr sz="1700">
                <a:solidFill>
                  <a:srgbClr val="F0F0F0"/>
                </a:solidFill>
              </a:rPr>
              <a:t>• Distinguish between PTSD and CPTSD in terms of symptoms and aetiology</a:t>
            </a:r>
          </a:p>
          <a:p>
            <a:pPr>
              <a:spcBef>
                <a:spcPts val="400"/>
              </a:spcBef>
            </a:pPr>
            <a:r>
              <a:rPr sz="1700">
                <a:solidFill>
                  <a:srgbClr val="F0F0F0"/>
                </a:solidFill>
              </a:rPr>
              <a:t>• Explore evidence-based treatments: EMDR, CPT, prolonged exposure and trauma-focused CBT</a:t>
            </a:r>
          </a:p>
          <a:p>
            <a:pPr>
              <a:spcBef>
                <a:spcPts val="400"/>
              </a:spcBef>
            </a:pPr>
            <a:r>
              <a:rPr sz="1700">
                <a:solidFill>
                  <a:srgbClr val="F0F0F0"/>
                </a:solidFill>
              </a:rPr>
              <a:t>• Develop skills for trauma-informed communication and safe support</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7: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PTSD: develops after exposure to actual or threatened death, serious injury or sexual violence</a:t>
            </a:r>
          </a:p>
          <a:p>
            <a:pPr>
              <a:spcBef>
                <a:spcPts val="400"/>
              </a:spcBef>
            </a:pPr>
            <a:r>
              <a:rPr sz="1700">
                <a:solidFill>
                  <a:srgbClr val="F0F0F0"/>
                </a:solidFill>
              </a:rPr>
              <a:t>• Four symptom clusters: intrusion (flashbacks), avoidance, negative cognitions, hyperarousal</a:t>
            </a:r>
          </a:p>
          <a:p>
            <a:pPr>
              <a:spcBef>
                <a:spcPts val="400"/>
              </a:spcBef>
            </a:pPr>
            <a:r>
              <a:rPr sz="1700">
                <a:solidFill>
                  <a:srgbClr val="F0F0F0"/>
                </a:solidFill>
              </a:rPr>
              <a:t>• Complex PTSD: results from prolonged or repeated trauma (abuse, captivity, domestic violence)</a:t>
            </a:r>
          </a:p>
          <a:p>
            <a:pPr>
              <a:spcBef>
                <a:spcPts val="400"/>
              </a:spcBef>
            </a:pPr>
            <a:r>
              <a:rPr sz="1700">
                <a:solidFill>
                  <a:srgbClr val="F0F0F0"/>
                </a:solidFill>
              </a:rPr>
              <a:t>• CPTSD additional features: emotional dysregulation, negative self-concept, relational difficulties</a:t>
            </a:r>
          </a:p>
          <a:p>
            <a:pPr>
              <a:spcBef>
                <a:spcPts val="400"/>
              </a:spcBef>
            </a:pPr>
            <a:r>
              <a:rPr sz="1700">
                <a:solidFill>
                  <a:srgbClr val="F0F0F0"/>
                </a:solidFill>
              </a:rPr>
              <a:t>• Neuroscience: trauma dysregulates the amygdala-hippocampus-prefrontal cortex circuit</a:t>
            </a:r>
          </a:p>
          <a:p>
            <a:pPr>
              <a:spcBef>
                <a:spcPts val="400"/>
              </a:spcBef>
            </a:pPr>
            <a:r>
              <a:rPr sz="1700">
                <a:solidFill>
                  <a:srgbClr val="F0F0F0"/>
                </a:solidFill>
              </a:rPr>
              <a:t>• EMDR: Eye Movement Desensitisation and Reprocessing — NICE-recommended first-line treatment</a:t>
            </a:r>
          </a:p>
          <a:p>
            <a:pPr>
              <a:spcBef>
                <a:spcPts val="400"/>
              </a:spcBef>
            </a:pPr>
            <a:r>
              <a:rPr sz="1700">
                <a:solidFill>
                  <a:srgbClr val="F0F0F0"/>
                </a:solidFill>
              </a:rPr>
              <a:t>• Trauma-focused CBT and cognitive processing therapy: restructuring trauma narratives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PTSD affects 4% of the UK population at any one time (NHS England)</a:t>
            </a:r>
          </a:p>
          <a:p>
            <a:pPr>
              <a:spcBef>
                <a:spcPts val="400"/>
              </a:spcBef>
            </a:pPr>
            <a:r>
              <a:rPr sz="1700">
                <a:solidFill>
                  <a:srgbClr val="F0F0F0"/>
                </a:solidFill>
              </a:rPr>
              <a:t>• Lifetime prevalence of PTSD: 7–8% in the general population (NICE)</a:t>
            </a:r>
          </a:p>
          <a:p>
            <a:pPr>
              <a:spcBef>
                <a:spcPts val="400"/>
              </a:spcBef>
            </a:pPr>
            <a:r>
              <a:rPr sz="1700">
                <a:solidFill>
                  <a:srgbClr val="F0F0F0"/>
                </a:solidFill>
              </a:rPr>
              <a:t>• 70% of adults experience at least one traumatic event in their lifetime</a:t>
            </a:r>
          </a:p>
          <a:p>
            <a:pPr>
              <a:spcBef>
                <a:spcPts val="400"/>
              </a:spcBef>
            </a:pPr>
            <a:r>
              <a:rPr sz="1700">
                <a:solidFill>
                  <a:srgbClr val="F0F0F0"/>
                </a:solidFill>
              </a:rPr>
              <a:t>• Only 20–30% of trauma survivors develop PTSD (protective factors matter)</a:t>
            </a:r>
          </a:p>
          <a:p>
            <a:pPr>
              <a:spcBef>
                <a:spcPts val="400"/>
              </a:spcBef>
            </a:pPr>
            <a:r>
              <a:rPr sz="1700">
                <a:solidFill>
                  <a:srgbClr val="F0F0F0"/>
                </a:solidFill>
              </a:rPr>
              <a:t>• Veterans: 17% of UK veterans deployed to Iraq/Afghanistan have PTSD (King's College)</a:t>
            </a:r>
          </a:p>
          <a:p>
            <a:pPr>
              <a:spcBef>
                <a:spcPts val="400"/>
              </a:spcBef>
            </a:pPr>
            <a:r>
              <a:rPr sz="1700">
                <a:solidFill>
                  <a:srgbClr val="F0F0F0"/>
                </a:solidFill>
              </a:rPr>
              <a:t>• EMDR therapy: 77% of single-trauma PTSD cases resolved after 3 sessions (Shapiro)</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(NG116, 2018): EMDR and trauma-focused CBT are first-line treatments</a:t>
            </a:r>
          </a:p>
          <a:p>
            <a:pPr>
              <a:spcBef>
                <a:spcPts val="400"/>
              </a:spcBef>
            </a:pPr>
            <a:r>
              <a:rPr sz="1700">
                <a:solidFill>
                  <a:srgbClr val="F0F0F0"/>
                </a:solidFill>
              </a:rPr>
              <a:t>• Complex PTSD is recognised in ICD-11 (WHO, 2022) as a distinct diagnosis</a:t>
            </a:r>
          </a:p>
          <a:p>
            <a:pPr>
              <a:spcBef>
                <a:spcPts val="400"/>
              </a:spcBef>
            </a:pPr>
            <a:r>
              <a:rPr sz="1700">
                <a:solidFill>
                  <a:srgbClr val="F0F0F0"/>
                </a:solidFill>
              </a:rPr>
              <a:t>• Trauma-focused therapies are effective for 50–70% of people with PTSD</a:t>
            </a:r>
          </a:p>
          <a:p>
            <a:pPr>
              <a:spcBef>
                <a:spcPts val="400"/>
              </a:spcBef>
            </a:pPr>
            <a:r>
              <a:rPr sz="1700">
                <a:solidFill>
                  <a:srgbClr val="F0F0F0"/>
                </a:solidFill>
              </a:rPr>
              <a:t>• Untreated PTSD increases risk of substance use, depression and suicide</a:t>
            </a:r>
          </a:p>
          <a:p>
            <a:pPr>
              <a:spcBef>
                <a:spcPts val="400"/>
              </a:spcBef>
            </a:pPr>
            <a:r>
              <a:rPr sz="1700">
                <a:solidFill>
                  <a:srgbClr val="F0F0F0"/>
                </a:solidFill>
              </a:rPr>
              <a:t>• Moral injury — guilt and shame from perceived ethical violations — is common in veterans</a:t>
            </a:r>
          </a:p>
          <a:p>
            <a:pPr>
              <a:spcBef>
                <a:spcPts val="400"/>
              </a:spcBef>
            </a:pPr>
            <a:r>
              <a:rPr sz="1700">
                <a:solidFill>
                  <a:srgbClr val="F0F0F0"/>
                </a:solidFill>
              </a:rPr>
              <a:t>• Grounding techniques significantly reduce the intensity of trauma symptoms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David, 38, a former soldier, experienced repeated combat trauma during two deployments. He developed severe PTSD with flashbacks, nightmares, hypervigilance and emotional numbing. He avoided crowded places and struggled with anger at home. After years of self-medicating with alcohol, David was referred to Combat Stress UK, where he received EMDR therapy. Over 12 months, his flashbacks reduced significantly and he began rebuilding his relationship with his family.</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EMDR (Eye Movement Desensitisation and Reprocessing): NICE first-line treatment</a:t>
            </a:r>
          </a:p>
          <a:p>
            <a:pPr>
              <a:spcBef>
                <a:spcPts val="400"/>
              </a:spcBef>
            </a:pPr>
            <a:r>
              <a:rPr sz="1700">
                <a:solidFill>
                  <a:srgbClr val="F0F0F0"/>
                </a:solidFill>
              </a:rPr>
              <a:t>• Trauma-focused CBT: restructuring negative trauma-related beliefs</a:t>
            </a:r>
          </a:p>
          <a:p>
            <a:pPr>
              <a:spcBef>
                <a:spcPts val="400"/>
              </a:spcBef>
            </a:pPr>
            <a:r>
              <a:rPr sz="1700">
                <a:solidFill>
                  <a:srgbClr val="F0F0F0"/>
                </a:solidFill>
              </a:rPr>
              <a:t>• Cognitive processing therapy (CPT): addressing stuck points in trauma narratives</a:t>
            </a:r>
          </a:p>
          <a:p>
            <a:pPr>
              <a:spcBef>
                <a:spcPts val="400"/>
              </a:spcBef>
            </a:pPr>
            <a:r>
              <a:rPr sz="1700">
                <a:solidFill>
                  <a:srgbClr val="F0F0F0"/>
                </a:solidFill>
              </a:rPr>
              <a:t>• Prolonged exposure therapy: gradual, supported confrontation of trauma memories</a:t>
            </a:r>
          </a:p>
          <a:p>
            <a:pPr>
              <a:spcBef>
                <a:spcPts val="400"/>
              </a:spcBef>
            </a:pPr>
            <a:r>
              <a:rPr sz="1700">
                <a:solidFill>
                  <a:srgbClr val="F0F0F0"/>
                </a:solidFill>
              </a:rPr>
              <a:t>• Somatic therapies: body-based approaches (Somatic Experiencing, Sensorimotor Psychotherapy)</a:t>
            </a:r>
          </a:p>
          <a:p>
            <a:pPr>
              <a:spcBef>
                <a:spcPts val="400"/>
              </a:spcBef>
            </a:pPr>
            <a:r>
              <a:rPr sz="1700">
                <a:solidFill>
                  <a:srgbClr val="F0F0F0"/>
                </a:solidFill>
              </a:rPr>
              <a:t>• Grounding techniques: 5-4-3-2-1, box breathing, cold water immersion</a:t>
            </a:r>
          </a:p>
          <a:p>
            <a:pPr>
              <a:spcBef>
                <a:spcPts val="400"/>
              </a:spcBef>
            </a:pPr>
            <a:r>
              <a:rPr sz="1700">
                <a:solidFill>
                  <a:srgbClr val="F0F0F0"/>
                </a:solidFill>
              </a:rPr>
              <a:t>• Peer support: trauma survivor groups and veteran peer support networks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Grounding exercise: Participants practise the 5-4-3-2-1 grounding technique (name 5 things you can see, 4 you can touch, 3 you can hear, 2 you can smell, 1 you can taste). Discuss: How does grounding help manage trauma symptoms? When might you use this technique?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do you understand by the term 'trauma response'?</a:t>
            </a:r>
          </a:p>
          <a:p>
            <a:pPr>
              <a:spcBef>
                <a:spcPts val="400"/>
              </a:spcBef>
            </a:pPr>
            <a:r>
              <a:rPr sz="1700">
                <a:solidFill>
                  <a:srgbClr val="F0F0F0"/>
                </a:solidFill>
              </a:rPr>
              <a:t>• How does complex PTSD differ from PTSD in terms of lived experience?</a:t>
            </a:r>
          </a:p>
          <a:p>
            <a:pPr>
              <a:spcBef>
                <a:spcPts val="400"/>
              </a:spcBef>
            </a:pPr>
            <a:r>
              <a:rPr sz="1700">
                <a:solidFill>
                  <a:srgbClr val="F0F0F0"/>
                </a:solidFill>
              </a:rPr>
              <a:t>• What barriers prevent trauma survivors from accessing treatment?</a:t>
            </a:r>
          </a:p>
          <a:p>
            <a:pPr>
              <a:spcBef>
                <a:spcPts val="400"/>
              </a:spcBef>
            </a:pPr>
            <a:r>
              <a:rPr sz="1700">
                <a:solidFill>
                  <a:srgbClr val="F0F0F0"/>
                </a:solidFill>
              </a:rPr>
              <a:t>• How can we support someone who is experiencing a trauma response?</a:t>
            </a:r>
          </a:p>
          <a:p>
            <a:pPr>
              <a:spcBef>
                <a:spcPts val="400"/>
              </a:spcBef>
            </a:pPr>
            <a:r>
              <a:rPr sz="1700">
                <a:solidFill>
                  <a:srgbClr val="F0F0F0"/>
                </a:solidFill>
              </a:rPr>
              <a:t>• What specialist trauma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NG116: Post-traumatic stress disorder (2018)</a:t>
            </a:r>
          </a:p>
          <a:p>
            <a:pPr>
              <a:spcBef>
                <a:spcPts val="400"/>
              </a:spcBef>
            </a:pPr>
            <a:r>
              <a:rPr sz="1400">
                <a:solidFill>
                  <a:srgbClr val="F0F0F0"/>
                </a:solidFill>
              </a:rPr>
              <a:t>• EMDR Association UK: emdrassociation.org.uk</a:t>
            </a:r>
          </a:p>
          <a:p>
            <a:pPr>
              <a:spcBef>
                <a:spcPts val="400"/>
              </a:spcBef>
            </a:pPr>
            <a:r>
              <a:rPr sz="1400">
                <a:solidFill>
                  <a:srgbClr val="F0F0F0"/>
                </a:solidFill>
              </a:rPr>
              <a:t>• Combat Stress UK: combatstress.org.uk / 0800 138 1619</a:t>
            </a:r>
          </a:p>
          <a:p>
            <a:pPr>
              <a:spcBef>
                <a:spcPts val="400"/>
              </a:spcBef>
            </a:pPr>
            <a:r>
              <a:rPr sz="1400">
                <a:solidFill>
                  <a:srgbClr val="F0F0F0"/>
                </a:solidFill>
              </a:rPr>
              <a:t>• PTSD UK: ptsduk.org</a:t>
            </a:r>
          </a:p>
          <a:p>
            <a:pPr>
              <a:spcBef>
                <a:spcPts val="400"/>
              </a:spcBef>
            </a:pPr>
            <a:r>
              <a:rPr sz="1400">
                <a:solidFill>
                  <a:srgbClr val="F0F0F0"/>
                </a:solidFill>
              </a:rPr>
              <a:t>• ICD-11: Complex PTSD (WHO, 2022)</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7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Trauma and Stress: PTSD and Complex PTSD</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7: Trauma and Stress: PTSD and Complex PTSD</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
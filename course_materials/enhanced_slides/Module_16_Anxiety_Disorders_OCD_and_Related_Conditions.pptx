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548640"/>
          </a:xfrm>
          <a:prstGeom prst="rect">
            <a:avLst/>
          </a:prstGeom>
          <a:noFill/>
        </p:spPr>
        <p:txBody>
          <a:bodyPr wrap="square">
            <a:spAutoFit/>
          </a:bodyPr>
          <a:lstStyle/>
          <a:p>
            <a:pPr algn="l"/>
            <a:r>
              <a:rPr sz="3600" b="1" i="0">
                <a:solidFill>
                  <a:srgbClr val="1A1A1A"/>
                </a:solidFill>
              </a:rPr>
              <a:t>Module 16</a:t>
            </a:r>
          </a:p>
        </p:txBody>
      </p:sp>
      <p:sp>
        <p:nvSpPr>
          <p:cNvPr id="6" name="TextBox 5"/>
          <p:cNvSpPr txBox="1"/>
          <p:nvPr/>
        </p:nvSpPr>
        <p:spPr>
          <a:xfrm>
            <a:off x="457200" y="640080"/>
            <a:ext cx="7589520" cy="914400"/>
          </a:xfrm>
          <a:prstGeom prst="rect">
            <a:avLst/>
          </a:prstGeom>
          <a:noFill/>
        </p:spPr>
        <p:txBody>
          <a:bodyPr wrap="square">
            <a:spAutoFit/>
          </a:bodyPr>
          <a:lstStyle/>
          <a:p>
            <a:pPr algn="l"/>
            <a:r>
              <a:rPr sz="2600" b="0" i="0">
                <a:solidFill>
                  <a:srgbClr val="1A1A1A"/>
                </a:solidFill>
              </a:rPr>
              <a:t>Anxiety Disorders: OCD and Related Conditions</a:t>
            </a:r>
          </a:p>
        </p:txBody>
      </p:sp>
      <p:sp>
        <p:nvSpPr>
          <p:cNvPr id="7" name="TextBox 6"/>
          <p:cNvSpPr txBox="1"/>
          <p:nvPr/>
        </p:nvSpPr>
        <p:spPr>
          <a:xfrm>
            <a:off x="457200" y="2100000"/>
            <a:ext cx="8229600" cy="548640"/>
          </a:xfrm>
          <a:prstGeom prst="rect">
            <a:avLst/>
          </a:prstGeom>
          <a:noFill/>
        </p:spPr>
        <p:txBody>
          <a:bodyPr wrap="square">
            <a:spAutoFit/>
          </a:bodyPr>
          <a:lstStyle/>
          <a:p>
            <a:pPr algn="l"/>
            <a:r>
              <a:rPr sz="2000" b="1" i="0">
                <a:solidFill>
                  <a:srgbClr val="FF6B00"/>
                </a:solidFill>
              </a:rPr>
              <a:t>Melksham Mental Health — Comprehensive Course</a:t>
            </a:r>
          </a:p>
        </p:txBody>
      </p:sp>
      <p:sp>
        <p:nvSpPr>
          <p:cNvPr id="8" name="TextBox 7"/>
          <p:cNvSpPr txBox="1"/>
          <p:nvPr/>
        </p:nvSpPr>
        <p:spPr>
          <a:xfrm>
            <a:off x="457200" y="2650000"/>
            <a:ext cx="8229600" cy="457200"/>
          </a:xfrm>
          <a:prstGeom prst="rect">
            <a:avLst/>
          </a:prstGeom>
          <a:noFill/>
        </p:spPr>
        <p:txBody>
          <a:bodyPr wrap="square">
            <a:spAutoFit/>
          </a:bodyPr>
          <a:lstStyle/>
          <a:p>
            <a:pPr algn="l"/>
            <a:r>
              <a:rPr sz="1600" b="0" i="0">
                <a:solidFill>
                  <a:srgbClr val="AAAAAA"/>
                </a:solidFill>
              </a:rPr>
              <a:t>2-hour session  •  Includes 30-minute group discussion</a:t>
            </a:r>
          </a:p>
        </p:txBody>
      </p:sp>
      <p:sp>
        <p:nvSpPr>
          <p:cNvPr id="9" name="TextBox 8"/>
          <p:cNvSpPr txBox="1"/>
          <p:nvPr/>
        </p:nvSpPr>
        <p:spPr>
          <a:xfrm>
            <a:off x="457200" y="5958000"/>
            <a:ext cx="8229600" cy="457200"/>
          </a:xfrm>
          <a:prstGeom prst="rect">
            <a:avLst/>
          </a:prstGeom>
          <a:noFill/>
        </p:spPr>
        <p:txBody>
          <a:bodyPr wrap="square">
            <a:spAutoFit/>
          </a:bodyPr>
          <a:lstStyle/>
          <a:p>
            <a:pPr algn="ctr"/>
            <a:r>
              <a:rPr sz="1200" b="0" i="0">
                <a:solidFill>
                  <a:srgbClr val="AAAAAA"/>
                </a:solidFill>
              </a:rPr>
              <a:t>melksham-mentalhealth.us  |  Melksham-mental-health@outlook.com</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Session Overview</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00000"/>
            <a:ext cx="8229600" cy="1400000"/>
          </a:xfrm>
          <a:prstGeom prst="rect">
            <a:avLst/>
          </a:prstGeom>
          <a:noFill/>
        </p:spPr>
        <p:txBody>
          <a:bodyPr wrap="square">
            <a:spAutoFit/>
          </a:bodyPr>
          <a:lstStyle/>
          <a:p>
            <a:pPr algn="l"/>
            <a:r>
              <a:rPr sz="1500" b="0" i="0">
                <a:solidFill>
                  <a:srgbClr val="F0F0F0"/>
                </a:solidFill>
              </a:rPr>
              <a:t>Obsessive-compulsive disorder (OCD) and related conditions — including body dysmorphic disorder, hoarding disorder and trichotillomania — are often misunderstood and underdiagnosed. This module explores their features and the gold-standard treatment of exposure and response prevention (ERP).</a:t>
            </a:r>
          </a:p>
        </p:txBody>
      </p:sp>
      <p:sp>
        <p:nvSpPr>
          <p:cNvPr id="7" name="TextBox 6"/>
          <p:cNvSpPr txBox="1"/>
          <p:nvPr/>
        </p:nvSpPr>
        <p:spPr>
          <a:xfrm>
            <a:off x="457200" y="2700000"/>
            <a:ext cx="8229600" cy="3200000"/>
          </a:xfrm>
          <a:prstGeom prst="rect">
            <a:avLst/>
          </a:prstGeom>
          <a:noFill/>
        </p:spPr>
        <p:txBody>
          <a:bodyPr wrap="square">
            <a:spAutoFit/>
          </a:bodyPr>
          <a:lstStyle/>
          <a:p>
            <a:pPr>
              <a:spcBef>
                <a:spcPts val="400"/>
              </a:spcBef>
            </a:pPr>
            <a:r>
              <a:rPr sz="1700">
                <a:solidFill>
                  <a:srgbClr val="F0F0F0"/>
                </a:solidFill>
              </a:rPr>
              <a:t>• Introduction &amp; Objectives  (15 min)</a:t>
            </a:r>
          </a:p>
          <a:p>
            <a:pPr>
              <a:spcBef>
                <a:spcPts val="400"/>
              </a:spcBef>
            </a:pPr>
            <a:r>
              <a:rPr sz="1700">
                <a:solidFill>
                  <a:srgbClr val="F0F0F0"/>
                </a:solidFill>
              </a:rPr>
              <a:t>• Evidence-Based Content  (45 min)</a:t>
            </a:r>
          </a:p>
          <a:p>
            <a:pPr>
              <a:spcBef>
                <a:spcPts val="400"/>
              </a:spcBef>
            </a:pPr>
            <a:r>
              <a:rPr sz="1700">
                <a:solidFill>
                  <a:srgbClr val="F0F0F0"/>
                </a:solidFill>
              </a:rPr>
              <a:t>• Case Study  (15 min)</a:t>
            </a:r>
          </a:p>
          <a:p>
            <a:pPr>
              <a:spcBef>
                <a:spcPts val="400"/>
              </a:spcBef>
            </a:pPr>
            <a:r>
              <a:rPr sz="1700">
                <a:solidFill>
                  <a:srgbClr val="F0F0F0"/>
                </a:solidFill>
              </a:rPr>
              <a:t>• Interactive Activity  (30 min)</a:t>
            </a:r>
          </a:p>
          <a:p>
            <a:pPr>
              <a:spcBef>
                <a:spcPts val="400"/>
              </a:spcBef>
            </a:pPr>
            <a:r>
              <a:rPr sz="1700">
                <a:solidFill>
                  <a:srgbClr val="F0F0F0"/>
                </a:solidFill>
              </a:rPr>
              <a:t>• Group Discussion  (30 min)</a:t>
            </a:r>
          </a:p>
          <a:p>
            <a:pPr>
              <a:spcBef>
                <a:spcPts val="400"/>
              </a:spcBef>
            </a:pPr>
            <a:r>
              <a:rPr sz="1700">
                <a:solidFill>
                  <a:srgbClr val="F0F0F0"/>
                </a:solidFill>
              </a:rPr>
              <a:t>• Wrap-Up &amp; Resources  (15 min)</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Learning Objectives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Define OCD and understand the obsession-compulsion cycle</a:t>
            </a:r>
          </a:p>
          <a:p>
            <a:pPr>
              <a:spcBef>
                <a:spcPts val="400"/>
              </a:spcBef>
            </a:pPr>
            <a:r>
              <a:rPr sz="1700">
                <a:solidFill>
                  <a:srgbClr val="F0F0F0"/>
                </a:solidFill>
              </a:rPr>
              <a:t>• Distinguish OCD from everyday checking and perfectionism</a:t>
            </a:r>
          </a:p>
          <a:p>
            <a:pPr>
              <a:spcBef>
                <a:spcPts val="400"/>
              </a:spcBef>
            </a:pPr>
            <a:r>
              <a:rPr sz="1700">
                <a:solidFill>
                  <a:srgbClr val="F0F0F0"/>
                </a:solidFill>
              </a:rPr>
              <a:t>• Identify related conditions: BDD, hoarding disorder, trichotillomania, excoriation</a:t>
            </a:r>
          </a:p>
          <a:p>
            <a:pPr>
              <a:spcBef>
                <a:spcPts val="400"/>
              </a:spcBef>
            </a:pPr>
            <a:r>
              <a:rPr sz="1700">
                <a:solidFill>
                  <a:srgbClr val="F0F0F0"/>
                </a:solidFill>
              </a:rPr>
              <a:t>• Understand the cognitive model of OCD: inflated responsibility and thought-action fusion</a:t>
            </a:r>
          </a:p>
          <a:p>
            <a:pPr>
              <a:spcBef>
                <a:spcPts val="400"/>
              </a:spcBef>
            </a:pPr>
            <a:r>
              <a:rPr sz="1700">
                <a:solidFill>
                  <a:srgbClr val="F0F0F0"/>
                </a:solidFill>
              </a:rPr>
              <a:t>• Learn exposure and response prevention (ERP) principles</a:t>
            </a:r>
          </a:p>
          <a:p>
            <a:pPr>
              <a:spcBef>
                <a:spcPts val="400"/>
              </a:spcBef>
            </a:pPr>
            <a:r>
              <a:rPr sz="1700">
                <a:solidFill>
                  <a:srgbClr val="F0F0F0"/>
                </a:solidFill>
              </a:rPr>
              <a:t>• Develop skills for supporting someone with OCD without enabling compulsions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Module 16: Key Topics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OCD: recurrent, intrusive obsessions and repetitive compulsions to reduce anxiety</a:t>
            </a:r>
          </a:p>
          <a:p>
            <a:pPr>
              <a:spcBef>
                <a:spcPts val="400"/>
              </a:spcBef>
            </a:pPr>
            <a:r>
              <a:rPr sz="1700">
                <a:solidFill>
                  <a:srgbClr val="F0F0F0"/>
                </a:solidFill>
              </a:rPr>
              <a:t>• Common obsessions: contamination, harm, symmetry, forbidden thoughts, religion</a:t>
            </a:r>
          </a:p>
          <a:p>
            <a:pPr>
              <a:spcBef>
                <a:spcPts val="400"/>
              </a:spcBef>
            </a:pPr>
            <a:r>
              <a:rPr sz="1700">
                <a:solidFill>
                  <a:srgbClr val="F0F0F0"/>
                </a:solidFill>
              </a:rPr>
              <a:t>• Common compulsions: washing, checking, counting, ordering, mental rituals</a:t>
            </a:r>
          </a:p>
          <a:p>
            <a:pPr>
              <a:spcBef>
                <a:spcPts val="400"/>
              </a:spcBef>
            </a:pPr>
            <a:r>
              <a:rPr sz="1700">
                <a:solidFill>
                  <a:srgbClr val="F0F0F0"/>
                </a:solidFill>
              </a:rPr>
              <a:t>• The OCD cycle: obsession, anxiety, compulsion, temporary relief, reinforcement</a:t>
            </a:r>
          </a:p>
          <a:p>
            <a:pPr>
              <a:spcBef>
                <a:spcPts val="400"/>
              </a:spcBef>
            </a:pPr>
            <a:r>
              <a:rPr sz="1700">
                <a:solidFill>
                  <a:srgbClr val="F0F0F0"/>
                </a:solidFill>
              </a:rPr>
              <a:t>• Body dysmorphic disorder (BDD): preoccupation with perceived physical flaws</a:t>
            </a:r>
          </a:p>
          <a:p>
            <a:pPr>
              <a:spcBef>
                <a:spcPts val="400"/>
              </a:spcBef>
            </a:pPr>
            <a:r>
              <a:rPr sz="1700">
                <a:solidFill>
                  <a:srgbClr val="F0F0F0"/>
                </a:solidFill>
              </a:rPr>
              <a:t>• Hoarding disorder: difficulty discarding possessions regardless of value</a:t>
            </a:r>
          </a:p>
          <a:p>
            <a:pPr>
              <a:spcBef>
                <a:spcPts val="400"/>
              </a:spcBef>
            </a:pPr>
            <a:r>
              <a:rPr sz="1700">
                <a:solidFill>
                  <a:srgbClr val="F0F0F0"/>
                </a:solidFill>
              </a:rPr>
              <a:t>• ERP: exposure to feared stimuli while preventing compulsive responses</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Key Statistics &amp; Prevalence</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OCD affects 1.2% of the UK population (approximately 750,000 people)</a:t>
            </a:r>
          </a:p>
          <a:p>
            <a:pPr>
              <a:spcBef>
                <a:spcPts val="400"/>
              </a:spcBef>
            </a:pPr>
            <a:r>
              <a:rPr sz="1700">
                <a:solidFill>
                  <a:srgbClr val="F0F0F0"/>
                </a:solidFill>
              </a:rPr>
              <a:t>• Average delay to OCD diagnosis: 12 years from first symptoms (OCD-UK)</a:t>
            </a:r>
          </a:p>
          <a:p>
            <a:pPr>
              <a:spcBef>
                <a:spcPts val="400"/>
              </a:spcBef>
            </a:pPr>
            <a:r>
              <a:rPr sz="1700">
                <a:solidFill>
                  <a:srgbClr val="F0F0F0"/>
                </a:solidFill>
              </a:rPr>
              <a:t>• ERP is effective for 60–80% of people with OCD (NICE CG31)</a:t>
            </a:r>
          </a:p>
          <a:p>
            <a:pPr>
              <a:spcBef>
                <a:spcPts val="400"/>
              </a:spcBef>
            </a:pPr>
            <a:r>
              <a:rPr sz="1700">
                <a:solidFill>
                  <a:srgbClr val="F0F0F0"/>
                </a:solidFill>
              </a:rPr>
              <a:t>• OCD is ranked in the top 10 most disabling conditions worldwide (WHO)</a:t>
            </a:r>
          </a:p>
          <a:p>
            <a:pPr>
              <a:spcBef>
                <a:spcPts val="400"/>
              </a:spcBef>
            </a:pPr>
            <a:r>
              <a:rPr sz="1700">
                <a:solidFill>
                  <a:srgbClr val="F0F0F0"/>
                </a:solidFill>
              </a:rPr>
              <a:t>• BDD affects 1–2% of the population; 80% have suicidal thoughts</a:t>
            </a:r>
          </a:p>
          <a:p>
            <a:pPr>
              <a:spcBef>
                <a:spcPts val="400"/>
              </a:spcBef>
            </a:pPr>
            <a:r>
              <a:rPr sz="1700">
                <a:solidFill>
                  <a:srgbClr val="F0F0F0"/>
                </a:solidFill>
              </a:rPr>
              <a:t>• Hoarding disorder affects 2–5% of the population</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Evidence &amp; Research</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000000"/>
          </a:xfrm>
          <a:prstGeom prst="rect">
            <a:avLst/>
          </a:prstGeom>
          <a:noFill/>
        </p:spPr>
        <p:txBody>
          <a:bodyPr wrap="square">
            <a:spAutoFit/>
          </a:bodyPr>
          <a:lstStyle/>
          <a:p>
            <a:pPr>
              <a:spcBef>
                <a:spcPts val="400"/>
              </a:spcBef>
            </a:pPr>
            <a:r>
              <a:rPr sz="1700">
                <a:solidFill>
                  <a:srgbClr val="F0F0F0"/>
                </a:solidFill>
              </a:rPr>
              <a:t>• NICE (CG31): recommends ERP as first-line treatment for OCD</a:t>
            </a:r>
          </a:p>
          <a:p>
            <a:pPr>
              <a:spcBef>
                <a:spcPts val="400"/>
              </a:spcBef>
            </a:pPr>
            <a:r>
              <a:rPr sz="1700">
                <a:solidFill>
                  <a:srgbClr val="F0F0F0"/>
                </a:solidFill>
              </a:rPr>
              <a:t>• ERP works through inhibitory learning: new associations override fear memories</a:t>
            </a:r>
          </a:p>
          <a:p>
            <a:pPr>
              <a:spcBef>
                <a:spcPts val="400"/>
              </a:spcBef>
            </a:pPr>
            <a:r>
              <a:rPr sz="1700">
                <a:solidFill>
                  <a:srgbClr val="F0F0F0"/>
                </a:solidFill>
              </a:rPr>
              <a:t>• Medication: SSRIs (fluoxetine, sertraline, clomipramine) for moderate-severe OCD</a:t>
            </a:r>
          </a:p>
          <a:p>
            <a:pPr>
              <a:spcBef>
                <a:spcPts val="400"/>
              </a:spcBef>
            </a:pPr>
            <a:r>
              <a:rPr sz="1700">
                <a:solidFill>
                  <a:srgbClr val="F0F0F0"/>
                </a:solidFill>
              </a:rPr>
              <a:t>• Accommodation by family members maintains OCD and should be gradually reduced</a:t>
            </a:r>
          </a:p>
          <a:p>
            <a:pPr>
              <a:spcBef>
                <a:spcPts val="400"/>
              </a:spcBef>
            </a:pPr>
            <a:r>
              <a:rPr sz="1700">
                <a:solidFill>
                  <a:srgbClr val="F0F0F0"/>
                </a:solidFill>
              </a:rPr>
              <a:t>• Acceptance and Commitment Therapy (ACT) is effective as an adjunct to ERP</a:t>
            </a:r>
          </a:p>
          <a:p>
            <a:pPr>
              <a:spcBef>
                <a:spcPts val="400"/>
              </a:spcBef>
            </a:pPr>
            <a:r>
              <a:rPr sz="1700">
                <a:solidFill>
                  <a:srgbClr val="F0F0F0"/>
                </a:solidFill>
              </a:rPr>
              <a:t>• Online ERP programmes (e.g., OCD-UK resources) are accessible and effective</a:t>
            </a:r>
          </a:p>
        </p:txBody>
      </p:sp>
      <p:sp>
        <p:nvSpPr>
          <p:cNvPr id="7" name="TextBox 6"/>
          <p:cNvSpPr txBox="1"/>
          <p:nvPr/>
        </p:nvSpPr>
        <p:spPr>
          <a:xfrm>
            <a:off x="457200" y="5400000"/>
            <a:ext cx="8229600" cy="457200"/>
          </a:xfrm>
          <a:prstGeom prst="rect">
            <a:avLst/>
          </a:prstGeom>
          <a:noFill/>
        </p:spPr>
        <p:txBody>
          <a:bodyPr wrap="square">
            <a:spAutoFit/>
          </a:bodyPr>
          <a:lstStyle/>
          <a:p>
            <a:pPr algn="l"/>
            <a:r>
              <a:rPr sz="1300" b="1" i="0">
                <a:solidFill>
                  <a:srgbClr val="FF6B00"/>
                </a:solidFill>
              </a:rPr>
              <a:t>This content does not replace professional mental health advice.</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Case Study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200000"/>
          </a:xfrm>
          <a:prstGeom prst="rect">
            <a:avLst/>
          </a:prstGeom>
          <a:noFill/>
        </p:spPr>
        <p:txBody>
          <a:bodyPr wrap="square">
            <a:spAutoFit/>
          </a:bodyPr>
          <a:lstStyle/>
          <a:p>
            <a:pPr algn="l"/>
            <a:r>
              <a:rPr sz="1500" b="0" i="0">
                <a:solidFill>
                  <a:srgbClr val="F0F0F0"/>
                </a:solidFill>
              </a:rPr>
              <a:t>Sophie, 24, spent 3–4 hours per day checking that she had not harmed anyone while driving. She would drive back along routes to check for accidents and avoid driving on busy roads. After years of shame and secrecy, Sophie was referred to a specialist OCD service and began ERP therapy. She learned to drive without checking and to tolerate the anxiety without performing compulsions. After 20 sessions, her Y-BOCS score dropped from 32 to 8.</a:t>
            </a:r>
          </a:p>
        </p:txBody>
      </p:sp>
      <p:sp>
        <p:nvSpPr>
          <p:cNvPr id="7" name="TextBox 6"/>
          <p:cNvSpPr txBox="1"/>
          <p:nvPr/>
        </p:nvSpPr>
        <p:spPr>
          <a:xfrm>
            <a:off x="457200" y="5600000"/>
            <a:ext cx="8229600" cy="457200"/>
          </a:xfrm>
          <a:prstGeom prst="rect">
            <a:avLst/>
          </a:prstGeom>
          <a:noFill/>
        </p:spPr>
        <p:txBody>
          <a:bodyPr wrap="square">
            <a:spAutoFit/>
          </a:bodyPr>
          <a:lstStyle/>
          <a:p>
            <a:pPr algn="l"/>
            <a:r>
              <a:rPr sz="1100" b="0" i="1">
                <a:solidFill>
                  <a:srgbClr val="AAAAAA"/>
                </a:solidFill>
              </a:rPr>
              <a:t>Names and details are fictional. Any resemblance to real persons is coincidental.</a:t>
            </a:r>
          </a:p>
        </p:txBody>
      </p:sp>
      <p:sp>
        <p:nvSpPr>
          <p:cNvPr id="8" name="TextBox 7"/>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Coping Strategies &amp; Interventions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800000"/>
          </a:xfrm>
          <a:prstGeom prst="rect">
            <a:avLst/>
          </a:prstGeom>
          <a:noFill/>
        </p:spPr>
        <p:txBody>
          <a:bodyPr wrap="square">
            <a:spAutoFit/>
          </a:bodyPr>
          <a:lstStyle/>
          <a:p>
            <a:pPr>
              <a:spcBef>
                <a:spcPts val="400"/>
              </a:spcBef>
            </a:pPr>
            <a:r>
              <a:rPr sz="1700">
                <a:solidFill>
                  <a:srgbClr val="F0F0F0"/>
                </a:solidFill>
              </a:rPr>
              <a:t>• Exposure and response prevention (ERP): the gold-standard treatment for OCD</a:t>
            </a:r>
          </a:p>
          <a:p>
            <a:pPr>
              <a:spcBef>
                <a:spcPts val="400"/>
              </a:spcBef>
            </a:pPr>
            <a:r>
              <a:rPr sz="1700">
                <a:solidFill>
                  <a:srgbClr val="F0F0F0"/>
                </a:solidFill>
              </a:rPr>
              <a:t>• Cognitive therapy: challenging inflated responsibility and thought-action fusion</a:t>
            </a:r>
          </a:p>
          <a:p>
            <a:pPr>
              <a:spcBef>
                <a:spcPts val="400"/>
              </a:spcBef>
            </a:pPr>
            <a:r>
              <a:rPr sz="1700">
                <a:solidFill>
                  <a:srgbClr val="F0F0F0"/>
                </a:solidFill>
              </a:rPr>
              <a:t>• Inference-based CBT (I-CBT): addressing the reasoning behind obsessions</a:t>
            </a:r>
          </a:p>
          <a:p>
            <a:pPr>
              <a:spcBef>
                <a:spcPts val="400"/>
              </a:spcBef>
            </a:pPr>
            <a:r>
              <a:rPr sz="1700">
                <a:solidFill>
                  <a:srgbClr val="F0F0F0"/>
                </a:solidFill>
              </a:rPr>
              <a:t>• Medication: SSRIs (fluoxetine, sertraline, clomipramine) for moderate-severe OCD</a:t>
            </a:r>
          </a:p>
          <a:p>
            <a:pPr>
              <a:spcBef>
                <a:spcPts val="400"/>
              </a:spcBef>
            </a:pPr>
            <a:r>
              <a:rPr sz="1700">
                <a:solidFill>
                  <a:srgbClr val="F0F0F0"/>
                </a:solidFill>
              </a:rPr>
              <a:t>• Acceptance and Commitment Therapy (ACT): defusion from obsessive thoughts</a:t>
            </a:r>
          </a:p>
          <a:p>
            <a:pPr>
              <a:spcBef>
                <a:spcPts val="400"/>
              </a:spcBef>
            </a:pPr>
            <a:r>
              <a:rPr sz="1700">
                <a:solidFill>
                  <a:srgbClr val="F0F0F0"/>
                </a:solidFill>
              </a:rPr>
              <a:t>• Peer support: OCD-UK peer groups and online communities</a:t>
            </a:r>
          </a:p>
          <a:p>
            <a:pPr>
              <a:spcBef>
                <a:spcPts val="400"/>
              </a:spcBef>
            </a:pPr>
            <a:r>
              <a:rPr sz="1700">
                <a:solidFill>
                  <a:srgbClr val="F0F0F0"/>
                </a:solidFill>
              </a:rPr>
              <a:t>• Family therapy: reducing accommodation and enabling recovery</a:t>
            </a:r>
          </a:p>
        </p:txBody>
      </p:sp>
      <p:sp>
        <p:nvSpPr>
          <p:cNvPr id="7" name="TextBox 6"/>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Interactive Activity</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2800000"/>
          </a:xfrm>
          <a:prstGeom prst="rect">
            <a:avLst/>
          </a:prstGeom>
          <a:noFill/>
        </p:spPr>
        <p:txBody>
          <a:bodyPr wrap="square">
            <a:spAutoFit/>
          </a:bodyPr>
          <a:lstStyle/>
          <a:p>
            <a:pPr algn="l"/>
            <a:r>
              <a:rPr sz="1700" b="0" i="0">
                <a:solidFill>
                  <a:srgbClr val="F0F0F0"/>
                </a:solidFill>
              </a:rPr>
              <a:t>ERP introduction exercise: Participants identify a mild anxiety-provoking situation and practise sitting with the discomfort without performing a safety behaviour. Discuss: What does it feel like to resist a compulsion? How does anxiety change over time without the compulsion?</a:t>
            </a:r>
          </a:p>
        </p:txBody>
      </p:sp>
      <p:sp>
        <p:nvSpPr>
          <p:cNvPr id="7" name="TextBox 6"/>
          <p:cNvSpPr txBox="1"/>
          <p:nvPr/>
        </p:nvSpPr>
        <p:spPr>
          <a:xfrm>
            <a:off x="457200" y="4200000"/>
            <a:ext cx="8229600" cy="365760"/>
          </a:xfrm>
          <a:prstGeom prst="rect">
            <a:avLst/>
          </a:prstGeom>
          <a:noFill/>
        </p:spPr>
        <p:txBody>
          <a:bodyPr wrap="square">
            <a:spAutoFit/>
          </a:bodyPr>
          <a:lstStyle/>
          <a:p>
            <a:pPr algn="l"/>
            <a:r>
              <a:rPr sz="1600" b="1" i="0">
                <a:solidFill>
                  <a:srgbClr val="FF6B00"/>
                </a:solidFill>
              </a:rPr>
              <a:t>Instructions:</a:t>
            </a:r>
          </a:p>
        </p:txBody>
      </p:sp>
      <p:sp>
        <p:nvSpPr>
          <p:cNvPr id="8" name="TextBox 7"/>
          <p:cNvSpPr txBox="1"/>
          <p:nvPr/>
        </p:nvSpPr>
        <p:spPr>
          <a:xfrm>
            <a:off x="457200" y="4600000"/>
            <a:ext cx="8229600" cy="1500000"/>
          </a:xfrm>
          <a:prstGeom prst="rect">
            <a:avLst/>
          </a:prstGeom>
          <a:noFill/>
        </p:spPr>
        <p:txBody>
          <a:bodyPr wrap="square">
            <a:spAutoFit/>
          </a:bodyPr>
          <a:lstStyle/>
          <a:p>
            <a:pPr>
              <a:spcBef>
                <a:spcPts val="400"/>
              </a:spcBef>
            </a:pPr>
            <a:r>
              <a:rPr sz="1500">
                <a:solidFill>
                  <a:srgbClr val="AAAAAA"/>
                </a:solidFill>
              </a:rPr>
              <a:t>• Take 5 minutes to reflect individually or in pairs</a:t>
            </a:r>
          </a:p>
          <a:p>
            <a:pPr>
              <a:spcBef>
                <a:spcPts val="400"/>
              </a:spcBef>
            </a:pPr>
            <a:r>
              <a:rPr sz="1500">
                <a:solidFill>
                  <a:srgbClr val="AAAAAA"/>
                </a:solidFill>
              </a:rPr>
              <a:t>• Share your thoughts with the group (optional — sharing is never required)</a:t>
            </a:r>
          </a:p>
          <a:p>
            <a:pPr>
              <a:spcBef>
                <a:spcPts val="400"/>
              </a:spcBef>
            </a:pPr>
            <a:r>
              <a:rPr sz="1500">
                <a:solidFill>
                  <a:srgbClr val="AAAAAA"/>
                </a:solidFill>
              </a:rPr>
              <a:t>• Facilitator will guide and support the discussion</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Group Discussion (30 minutes)</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457200"/>
          </a:xfrm>
          <a:prstGeom prst="rect">
            <a:avLst/>
          </a:prstGeom>
          <a:noFill/>
        </p:spPr>
        <p:txBody>
          <a:bodyPr wrap="square">
            <a:spAutoFit/>
          </a:bodyPr>
          <a:lstStyle/>
          <a:p>
            <a:pPr algn="l"/>
            <a:r>
              <a:rPr sz="1800" b="1" i="0">
                <a:solidFill>
                  <a:srgbClr val="00BFBF"/>
                </a:solidFill>
              </a:rPr>
              <a:t>Reflection Questions</a:t>
            </a:r>
          </a:p>
        </p:txBody>
      </p:sp>
      <p:sp>
        <p:nvSpPr>
          <p:cNvPr id="7" name="TextBox 6"/>
          <p:cNvSpPr txBox="1"/>
          <p:nvPr/>
        </p:nvSpPr>
        <p:spPr>
          <a:xfrm>
            <a:off x="457200" y="1800000"/>
            <a:ext cx="8229600" cy="4000000"/>
          </a:xfrm>
          <a:prstGeom prst="rect">
            <a:avLst/>
          </a:prstGeom>
          <a:noFill/>
        </p:spPr>
        <p:txBody>
          <a:bodyPr wrap="square">
            <a:spAutoFit/>
          </a:bodyPr>
          <a:lstStyle/>
          <a:p>
            <a:pPr>
              <a:spcBef>
                <a:spcPts val="400"/>
              </a:spcBef>
            </a:pPr>
            <a:r>
              <a:rPr sz="1700">
                <a:solidFill>
                  <a:srgbClr val="F0F0F0"/>
                </a:solidFill>
              </a:rPr>
              <a:t>• What misconceptions exist about OCD — is it really about being 'neat and tidy'?</a:t>
            </a:r>
          </a:p>
          <a:p>
            <a:pPr>
              <a:spcBef>
                <a:spcPts val="400"/>
              </a:spcBef>
            </a:pPr>
            <a:r>
              <a:rPr sz="1700">
                <a:solidFill>
                  <a:srgbClr val="F0F0F0"/>
                </a:solidFill>
              </a:rPr>
              <a:t>• How does the OCD cycle maintain the disorder over time?</a:t>
            </a:r>
          </a:p>
          <a:p>
            <a:pPr>
              <a:spcBef>
                <a:spcPts val="400"/>
              </a:spcBef>
            </a:pPr>
            <a:r>
              <a:rPr sz="1700">
                <a:solidFill>
                  <a:srgbClr val="F0F0F0"/>
                </a:solidFill>
              </a:rPr>
              <a:t>• What is the difference between a compulsion and a habit?</a:t>
            </a:r>
          </a:p>
          <a:p>
            <a:pPr>
              <a:spcBef>
                <a:spcPts val="400"/>
              </a:spcBef>
            </a:pPr>
            <a:r>
              <a:rPr sz="1700">
                <a:solidFill>
                  <a:srgbClr val="F0F0F0"/>
                </a:solidFill>
              </a:rPr>
              <a:t>• How can we support someone with OCD without enabling their compulsions?</a:t>
            </a:r>
          </a:p>
          <a:p>
            <a:pPr>
              <a:spcBef>
                <a:spcPts val="400"/>
              </a:spcBef>
            </a:pPr>
            <a:r>
              <a:rPr sz="1700">
                <a:solidFill>
                  <a:srgbClr val="F0F0F0"/>
                </a:solidFill>
              </a:rPr>
              <a:t>• What specialist OCD services are available in Wiltshire?</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400" b="1" i="0">
                <a:solidFill>
                  <a:srgbClr val="FF6B00"/>
                </a:solidFill>
              </a:rPr>
              <a:t>Remember: You are never alone. Help is always available.</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TextBox 3"/>
          <p:cNvSpPr txBox="1"/>
          <p:nvPr/>
        </p:nvSpPr>
        <p:spPr>
          <a:xfrm>
            <a:off x="457200" y="457200"/>
            <a:ext cx="8229600" cy="640080"/>
          </a:xfrm>
          <a:prstGeom prst="rect">
            <a:avLst/>
          </a:prstGeom>
          <a:noFill/>
        </p:spPr>
        <p:txBody>
          <a:bodyPr wrap="square">
            <a:spAutoFit/>
          </a:bodyPr>
          <a:lstStyle/>
          <a:p>
            <a:pPr algn="l"/>
            <a:r>
              <a:rPr sz="3000" b="1" i="0">
                <a:solidFill>
                  <a:srgbClr val="FF6B00"/>
                </a:solidFill>
              </a:rPr>
              <a:t>Resources &amp; Further Support</a:t>
            </a:r>
          </a:p>
        </p:txBody>
      </p:sp>
      <p:sp>
        <p:nvSpPr>
          <p:cNvPr id="5" name="Rectangle 4"/>
          <p:cNvSpPr/>
          <p:nvPr/>
        </p:nvSpPr>
        <p:spPr>
          <a:xfrm>
            <a:off x="457200" y="1097280"/>
            <a:ext cx="8229600" cy="4572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280160"/>
            <a:ext cx="8229600" cy="365760"/>
          </a:xfrm>
          <a:prstGeom prst="rect">
            <a:avLst/>
          </a:prstGeom>
          <a:noFill/>
        </p:spPr>
        <p:txBody>
          <a:bodyPr wrap="square">
            <a:spAutoFit/>
          </a:bodyPr>
          <a:lstStyle/>
          <a:p>
            <a:pPr algn="l"/>
            <a:r>
              <a:rPr sz="1800" b="1" i="0">
                <a:solidFill>
                  <a:srgbClr val="00BFBF"/>
                </a:solidFill>
              </a:rPr>
              <a:t>Key References</a:t>
            </a:r>
          </a:p>
        </p:txBody>
      </p:sp>
      <p:sp>
        <p:nvSpPr>
          <p:cNvPr id="7" name="TextBox 6"/>
          <p:cNvSpPr txBox="1"/>
          <p:nvPr/>
        </p:nvSpPr>
        <p:spPr>
          <a:xfrm>
            <a:off x="457200" y="1700000"/>
            <a:ext cx="8229600" cy="2200000"/>
          </a:xfrm>
          <a:prstGeom prst="rect">
            <a:avLst/>
          </a:prstGeom>
          <a:noFill/>
        </p:spPr>
        <p:txBody>
          <a:bodyPr wrap="square">
            <a:spAutoFit/>
          </a:bodyPr>
          <a:lstStyle/>
          <a:p>
            <a:pPr>
              <a:spcBef>
                <a:spcPts val="400"/>
              </a:spcBef>
            </a:pPr>
            <a:r>
              <a:rPr sz="1400">
                <a:solidFill>
                  <a:srgbClr val="F0F0F0"/>
                </a:solidFill>
              </a:rPr>
              <a:t>• NICE Guideline CG31: Obsessive-compulsive disorder (2005, updated 2019)</a:t>
            </a:r>
          </a:p>
          <a:p>
            <a:pPr>
              <a:spcBef>
                <a:spcPts val="400"/>
              </a:spcBef>
            </a:pPr>
            <a:r>
              <a:rPr sz="1400">
                <a:solidFill>
                  <a:srgbClr val="F0F0F0"/>
                </a:solidFill>
              </a:rPr>
              <a:t>• OCD-UK: ocduk.org</a:t>
            </a:r>
          </a:p>
          <a:p>
            <a:pPr>
              <a:spcBef>
                <a:spcPts val="400"/>
              </a:spcBef>
            </a:pPr>
            <a:r>
              <a:rPr sz="1400">
                <a:solidFill>
                  <a:srgbClr val="F0F0F0"/>
                </a:solidFill>
              </a:rPr>
              <a:t>• Mind UK: OCD (mind.org.uk)</a:t>
            </a:r>
          </a:p>
          <a:p>
            <a:pPr>
              <a:spcBef>
                <a:spcPts val="400"/>
              </a:spcBef>
            </a:pPr>
            <a:r>
              <a:rPr sz="1400">
                <a:solidFill>
                  <a:srgbClr val="F0F0F0"/>
                </a:solidFill>
              </a:rPr>
              <a:t>• NHS: OCD (nhs.uk/conditions/obsessive-compulsive-disorder-ocd)</a:t>
            </a:r>
          </a:p>
          <a:p>
            <a:pPr>
              <a:spcBef>
                <a:spcPts val="400"/>
              </a:spcBef>
            </a:pPr>
            <a:r>
              <a:rPr sz="1400">
                <a:solidFill>
                  <a:srgbClr val="F0F0F0"/>
                </a:solidFill>
              </a:rPr>
              <a:t>• BDD Foundation: bddfoundation.org</a:t>
            </a:r>
          </a:p>
        </p:txBody>
      </p:sp>
      <p:sp>
        <p:nvSpPr>
          <p:cNvPr id="8" name="TextBox 7"/>
          <p:cNvSpPr txBox="1"/>
          <p:nvPr/>
        </p:nvSpPr>
        <p:spPr>
          <a:xfrm>
            <a:off x="457200" y="4000000"/>
            <a:ext cx="8229600" cy="365760"/>
          </a:xfrm>
          <a:prstGeom prst="rect">
            <a:avLst/>
          </a:prstGeom>
          <a:noFill/>
        </p:spPr>
        <p:txBody>
          <a:bodyPr wrap="square">
            <a:spAutoFit/>
          </a:bodyPr>
          <a:lstStyle/>
          <a:p>
            <a:pPr algn="l"/>
            <a:r>
              <a:rPr sz="1800" b="1" i="0">
                <a:solidFill>
                  <a:srgbClr val="FF6B00"/>
                </a:solidFill>
              </a:rPr>
              <a:t>Crisis Support</a:t>
            </a:r>
          </a:p>
        </p:txBody>
      </p:sp>
      <p:sp>
        <p:nvSpPr>
          <p:cNvPr id="9" name="TextBox 8"/>
          <p:cNvSpPr txBox="1"/>
          <p:nvPr/>
        </p:nvSpPr>
        <p:spPr>
          <a:xfrm>
            <a:off x="457200" y="4450000"/>
            <a:ext cx="8229600" cy="1800000"/>
          </a:xfrm>
          <a:prstGeom prst="rect">
            <a:avLst/>
          </a:prstGeom>
          <a:noFill/>
        </p:spPr>
        <p:txBody>
          <a:bodyPr wrap="square">
            <a:spAutoFit/>
          </a:bodyPr>
          <a:lstStyle/>
          <a:p>
            <a:pPr>
              <a:spcBef>
                <a:spcPts val="400"/>
              </a:spcBef>
            </a:pPr>
            <a:r>
              <a:rPr sz="1300">
                <a:solidFill>
                  <a:srgbClr val="AAAAAA"/>
                </a:solidFill>
              </a:rPr>
              <a:t>• Emergency: 999</a:t>
            </a:r>
          </a:p>
          <a:p>
            <a:pPr>
              <a:spcBef>
                <a:spcPts val="400"/>
              </a:spcBef>
            </a:pPr>
            <a:r>
              <a:rPr sz="1300">
                <a:solidFill>
                  <a:srgbClr val="AAAAAA"/>
                </a:solidFill>
              </a:rPr>
              <a:t>• NHS 111: 24/7 urgent mental health support</a:t>
            </a:r>
          </a:p>
          <a:p>
            <a:pPr>
              <a:spcBef>
                <a:spcPts val="400"/>
              </a:spcBef>
            </a:pPr>
            <a:r>
              <a:rPr sz="1300">
                <a:solidFill>
                  <a:srgbClr val="AAAAAA"/>
                </a:solidFill>
              </a:rPr>
              <a:t>• Samaritans: 116 123 (free, 24/7)</a:t>
            </a:r>
          </a:p>
          <a:p>
            <a:pPr>
              <a:spcBef>
                <a:spcPts val="400"/>
              </a:spcBef>
            </a:pPr>
            <a:r>
              <a:rPr sz="1300">
                <a:solidFill>
                  <a:srgbClr val="AAAAAA"/>
                </a:solidFill>
              </a:rPr>
              <a:t>• Shout Crisis Text: Text SHOUT to 85258</a:t>
            </a:r>
          </a:p>
          <a:p>
            <a:pPr>
              <a:spcBef>
                <a:spcPts val="400"/>
              </a:spcBef>
            </a:pPr>
            <a:r>
              <a:rPr sz="1300">
                <a:solidFill>
                  <a:srgbClr val="AAAAAA"/>
                </a:solidFill>
              </a:rPr>
              <a:t>• Wiltshire Crisis Line: 0800 953 0110 (24/7)</a:t>
            </a:r>
          </a:p>
          <a:p>
            <a:pPr>
              <a:spcBef>
                <a:spcPts val="400"/>
              </a:spcBef>
            </a:pPr>
            <a:r>
              <a:rPr sz="1300">
                <a:solidFill>
                  <a:srgbClr val="AAAAAA"/>
                </a:solidFill>
              </a:rPr>
              <a:t>• PAPYRUS (under 35): 0800 068 4141</a:t>
            </a:r>
          </a:p>
        </p:txBody>
      </p:sp>
      <p:sp>
        <p:nvSpPr>
          <p:cNvPr id="10" name="TextBox 9"/>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A1A1A"/>
        </a:solidFill>
        <a:effectLst/>
      </p:bgPr>
    </p:bg>
    <p:spTree>
      <p:nvGrpSpPr>
        <p:cNvPr id="1" name=""/>
        <p:cNvGrpSpPr/>
        <p:nvPr/>
      </p:nvGrpSpPr>
      <p:grpSpPr/>
      <p:pic>
        <p:nvPicPr>
          <p:cNvPr id="2" name="Picture 1" descr="bg_opt.jpg"/>
          <p:cNvPicPr>
            <a:picLocks noChangeAspect="1"/>
          </p:cNvPicPr>
          <p:nvPr/>
        </p:nvPicPr>
        <p:blipFill>
          <a:blip r:embed="rId2"/>
          <a:stretch>
            <a:fillRect/>
          </a:stretch>
        </p:blipFill>
        <p:spPr>
          <a:xfrm>
            <a:off x="0" y="0"/>
            <a:ext cx="9144000" cy="6858000"/>
          </a:xfrm>
          <a:prstGeom prst="rect">
            <a:avLst/>
          </a:prstGeom>
        </p:spPr>
      </p:pic>
      <p:pic>
        <p:nvPicPr>
          <p:cNvPr id="3" name="Picture 2" descr="logo_opt.png"/>
          <p:cNvPicPr>
            <a:picLocks noChangeAspect="1"/>
          </p:cNvPicPr>
          <p:nvPr/>
        </p:nvPicPr>
        <p:blipFill>
          <a:blip r:embed="rId3"/>
          <a:stretch>
            <a:fillRect/>
          </a:stretch>
        </p:blipFill>
        <p:spPr>
          <a:xfrm>
            <a:off x="7589520" y="228600"/>
            <a:ext cx="1097280" cy="1097280"/>
          </a:xfrm>
          <a:prstGeom prst="rect">
            <a:avLst/>
          </a:prstGeom>
        </p:spPr>
      </p:pic>
      <p:sp>
        <p:nvSpPr>
          <p:cNvPr id="4" name="Rectangle 3"/>
          <p:cNvSpPr/>
          <p:nvPr/>
        </p:nvSpPr>
        <p:spPr>
          <a:xfrm>
            <a:off x="0" y="0"/>
            <a:ext cx="9144000" cy="1828800"/>
          </a:xfrm>
          <a:prstGeom prst="rect">
            <a:avLst/>
          </a:prstGeom>
          <a:solidFill>
            <a:srgbClr val="FF6B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200000"/>
            <a:ext cx="7589520" cy="640080"/>
          </a:xfrm>
          <a:prstGeom prst="rect">
            <a:avLst/>
          </a:prstGeom>
          <a:noFill/>
        </p:spPr>
        <p:txBody>
          <a:bodyPr wrap="square">
            <a:spAutoFit/>
          </a:bodyPr>
          <a:lstStyle/>
          <a:p>
            <a:pPr algn="l"/>
            <a:r>
              <a:rPr sz="3400" b="1" i="0">
                <a:solidFill>
                  <a:srgbClr val="1A1A1A"/>
                </a:solidFill>
              </a:rPr>
              <a:t>Module 16 Complete</a:t>
            </a:r>
          </a:p>
        </p:txBody>
      </p:sp>
      <p:sp>
        <p:nvSpPr>
          <p:cNvPr id="6" name="TextBox 5"/>
          <p:cNvSpPr txBox="1"/>
          <p:nvPr/>
        </p:nvSpPr>
        <p:spPr>
          <a:xfrm>
            <a:off x="457200" y="700000"/>
            <a:ext cx="7589520" cy="640080"/>
          </a:xfrm>
          <a:prstGeom prst="rect">
            <a:avLst/>
          </a:prstGeom>
          <a:noFill/>
        </p:spPr>
        <p:txBody>
          <a:bodyPr wrap="square">
            <a:spAutoFit/>
          </a:bodyPr>
          <a:lstStyle/>
          <a:p>
            <a:pPr algn="l"/>
            <a:r>
              <a:rPr sz="2000" b="0" i="0">
                <a:solidFill>
                  <a:srgbClr val="1A1A1A"/>
                </a:solidFill>
              </a:rPr>
              <a:t>Anxiety Disorders: OCD and Related Conditions</a:t>
            </a:r>
          </a:p>
        </p:txBody>
      </p:sp>
      <p:sp>
        <p:nvSpPr>
          <p:cNvPr id="7" name="TextBox 6"/>
          <p:cNvSpPr txBox="1"/>
          <p:nvPr/>
        </p:nvSpPr>
        <p:spPr>
          <a:xfrm>
            <a:off x="457200" y="2100000"/>
            <a:ext cx="8229600" cy="3200000"/>
          </a:xfrm>
          <a:prstGeom prst="rect">
            <a:avLst/>
          </a:prstGeom>
          <a:noFill/>
        </p:spPr>
        <p:txBody>
          <a:bodyPr wrap="square">
            <a:spAutoFit/>
          </a:bodyPr>
          <a:lstStyle/>
          <a:p>
            <a:pPr>
              <a:spcBef>
                <a:spcPts val="400"/>
              </a:spcBef>
            </a:pPr>
            <a:r>
              <a:rPr sz="1700">
                <a:solidFill>
                  <a:srgbClr val="F0F0F0"/>
                </a:solidFill>
              </a:rPr>
              <a:t>• You have completed Module 16: Anxiety Disorders: OCD and Related Conditions</a:t>
            </a:r>
          </a:p>
          <a:p>
            <a:pPr>
              <a:spcBef>
                <a:spcPts val="400"/>
              </a:spcBef>
            </a:pPr>
            <a:r>
              <a:rPr sz="1700">
                <a:solidFill>
                  <a:srgbClr val="F0F0F0"/>
                </a:solidFill>
              </a:rPr>
              <a:t>• Key concepts and evidence-based strategies have been explored</a:t>
            </a:r>
          </a:p>
          <a:p>
            <a:pPr>
              <a:spcBef>
                <a:spcPts val="400"/>
              </a:spcBef>
            </a:pPr>
            <a:r>
              <a:rPr sz="1700">
                <a:solidFill>
                  <a:srgbClr val="F0F0F0"/>
                </a:solidFill>
              </a:rPr>
              <a:t>• Please complete the post-session reflection form</a:t>
            </a:r>
          </a:p>
          <a:p>
            <a:pPr>
              <a:spcBef>
                <a:spcPts val="400"/>
              </a:spcBef>
            </a:pPr>
            <a:r>
              <a:rPr sz="1700">
                <a:solidFill>
                  <a:srgbClr val="F0F0F0"/>
                </a:solidFill>
              </a:rPr>
              <a:t>• Access course materials and handouts in the Members Portal</a:t>
            </a:r>
          </a:p>
          <a:p>
            <a:pPr>
              <a:spcBef>
                <a:spcPts val="400"/>
              </a:spcBef>
            </a:pPr>
            <a:r>
              <a:rPr sz="1700">
                <a:solidFill>
                  <a:srgbClr val="F0F0F0"/>
                </a:solidFill>
              </a:rPr>
              <a:t>• Our next session builds on today's learning</a:t>
            </a:r>
          </a:p>
        </p:txBody>
      </p:sp>
      <p:sp>
        <p:nvSpPr>
          <p:cNvPr id="8" name="TextBox 7"/>
          <p:cNvSpPr txBox="1"/>
          <p:nvPr/>
        </p:nvSpPr>
        <p:spPr>
          <a:xfrm>
            <a:off x="457200" y="5958000"/>
            <a:ext cx="8229600" cy="457200"/>
          </a:xfrm>
          <a:prstGeom prst="rect">
            <a:avLst/>
          </a:prstGeom>
          <a:noFill/>
        </p:spPr>
        <p:txBody>
          <a:bodyPr wrap="square">
            <a:spAutoFit/>
          </a:bodyPr>
          <a:lstStyle/>
          <a:p>
            <a:pPr algn="ctr"/>
            <a:r>
              <a:rPr sz="1300" b="0" i="0">
                <a:solidFill>
                  <a:srgbClr val="AAAAAA"/>
                </a:solidFill>
              </a:rPr>
              <a:t>melksham-mentalhealth.us  |  Melksham-mental-health@outlook.com</a:t>
            </a:r>
          </a:p>
        </p:txBody>
      </p:sp>
      <p:sp>
        <p:nvSpPr>
          <p:cNvPr id="9" name="TextBox 8"/>
          <p:cNvSpPr txBox="1"/>
          <p:nvPr/>
        </p:nvSpPr>
        <p:spPr>
          <a:xfrm>
            <a:off x="457200" y="6309360"/>
            <a:ext cx="8229600" cy="457200"/>
          </a:xfrm>
          <a:prstGeom prst="rect">
            <a:avLst/>
          </a:prstGeom>
          <a:noFill/>
        </p:spPr>
        <p:txBody>
          <a:bodyPr wrap="square">
            <a:spAutoFit/>
          </a:bodyPr>
          <a:lstStyle/>
          <a:p>
            <a:pPr algn="ctr"/>
            <a:r>
              <a:rPr sz="1100" b="0" i="0">
                <a:solidFill>
                  <a:srgbClr val="AAAAAA"/>
                </a:solidFill>
              </a:rPr>
              <a:t>Crisis? Call 999 or Samaritans 116 123 (free, 24/7)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
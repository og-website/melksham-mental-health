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11</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Mood Disorders: Major Depression</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Major depressive disorder is one of the most common and disabling mental health conditions worldwide. This module explores the symptoms, causes, cultural variations and evidence-based treatments for depression, with a focus on reducing stigma and promoting early help-seeking.</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Identify the diagnostic criteria for major depressive disorder</a:t>
            </a:r>
          </a:p>
          <a:p>
            <a:pPr>
              <a:spcBef>
                <a:spcPts val="400"/>
              </a:spcBef>
            </a:pPr>
            <a:r>
              <a:rPr sz="1700">
                <a:solidFill>
                  <a:srgbClr val="F0F0F0"/>
                </a:solidFill>
              </a:rPr>
              <a:t>• Understand the biopsychosocial model of depression</a:t>
            </a:r>
          </a:p>
          <a:p>
            <a:pPr>
              <a:spcBef>
                <a:spcPts val="400"/>
              </a:spcBef>
            </a:pPr>
            <a:r>
              <a:rPr sz="1700">
                <a:solidFill>
                  <a:srgbClr val="F0F0F0"/>
                </a:solidFill>
              </a:rPr>
              <a:t>• Recognise how depression manifests differently across cultures, genders and age groups</a:t>
            </a:r>
          </a:p>
          <a:p>
            <a:pPr>
              <a:spcBef>
                <a:spcPts val="400"/>
              </a:spcBef>
            </a:pPr>
            <a:r>
              <a:rPr sz="1700">
                <a:solidFill>
                  <a:srgbClr val="F0F0F0"/>
                </a:solidFill>
              </a:rPr>
              <a:t>• Explore evidence-based treatments: antidepressants, CBT, behavioural activation</a:t>
            </a:r>
          </a:p>
          <a:p>
            <a:pPr>
              <a:spcBef>
                <a:spcPts val="400"/>
              </a:spcBef>
            </a:pPr>
            <a:r>
              <a:rPr sz="1700">
                <a:solidFill>
                  <a:srgbClr val="F0F0F0"/>
                </a:solidFill>
              </a:rPr>
              <a:t>• Understand the link between depression and suicide risk</a:t>
            </a:r>
          </a:p>
          <a:p>
            <a:pPr>
              <a:spcBef>
                <a:spcPts val="400"/>
              </a:spcBef>
            </a:pPr>
            <a:r>
              <a:rPr sz="1700">
                <a:solidFill>
                  <a:srgbClr val="F0F0F0"/>
                </a:solidFill>
              </a:rPr>
              <a:t>• Develop skills for supporting someone experiencing depression</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11: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Diagnostic criteria: persistent low mood, loss of interest, fatigue, guilt, suicidal thoughts</a:t>
            </a:r>
          </a:p>
          <a:p>
            <a:pPr>
              <a:spcBef>
                <a:spcPts val="400"/>
              </a:spcBef>
            </a:pPr>
            <a:r>
              <a:rPr sz="1700">
                <a:solidFill>
                  <a:srgbClr val="F0F0F0"/>
                </a:solidFill>
              </a:rPr>
              <a:t>• Biopsychosocial model: biological, psychological and social factors</a:t>
            </a:r>
          </a:p>
          <a:p>
            <a:pPr>
              <a:spcBef>
                <a:spcPts val="400"/>
              </a:spcBef>
            </a:pPr>
            <a:r>
              <a:rPr sz="1700">
                <a:solidFill>
                  <a:srgbClr val="F0F0F0"/>
                </a:solidFill>
              </a:rPr>
              <a:t>• Cultural variations: somatic presentations, stigma and help-seeking differences</a:t>
            </a:r>
          </a:p>
          <a:p>
            <a:pPr>
              <a:spcBef>
                <a:spcPts val="400"/>
              </a:spcBef>
            </a:pPr>
            <a:r>
              <a:rPr sz="1700">
                <a:solidFill>
                  <a:srgbClr val="F0F0F0"/>
                </a:solidFill>
              </a:rPr>
              <a:t>• Gender differences: women diagnosed twice as often; men more likely to present with anger</a:t>
            </a:r>
          </a:p>
          <a:p>
            <a:pPr>
              <a:spcBef>
                <a:spcPts val="400"/>
              </a:spcBef>
            </a:pPr>
            <a:r>
              <a:rPr sz="1700">
                <a:solidFill>
                  <a:srgbClr val="F0F0F0"/>
                </a:solidFill>
              </a:rPr>
              <a:t>• Treatments: SSRIs, SNRIs, CBT, behavioural activation, mindfulness-based cognitive therapy</a:t>
            </a:r>
          </a:p>
          <a:p>
            <a:pPr>
              <a:spcBef>
                <a:spcPts val="400"/>
              </a:spcBef>
            </a:pPr>
            <a:r>
              <a:rPr sz="1700">
                <a:solidFill>
                  <a:srgbClr val="F0F0F0"/>
                </a:solidFill>
              </a:rPr>
              <a:t>• Severe depression: ECT, inpatient care and crisis intervention</a:t>
            </a:r>
          </a:p>
          <a:p>
            <a:pPr>
              <a:spcBef>
                <a:spcPts val="400"/>
              </a:spcBef>
            </a:pPr>
            <a:r>
              <a:rPr sz="1700">
                <a:solidFill>
                  <a:srgbClr val="F0F0F0"/>
                </a:solidFill>
              </a:rPr>
              <a:t>• Recovery: most people recover with treatment; relapse prevention is key</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Depression affects 280 million people worldwide (WHO 2023)</a:t>
            </a:r>
          </a:p>
          <a:p>
            <a:pPr>
              <a:spcBef>
                <a:spcPts val="400"/>
              </a:spcBef>
            </a:pPr>
            <a:r>
              <a:rPr sz="1700">
                <a:solidFill>
                  <a:srgbClr val="F0F0F0"/>
                </a:solidFill>
              </a:rPr>
              <a:t>• 1 in 6 adults in England experience depression in any given week (NHS)</a:t>
            </a:r>
          </a:p>
          <a:p>
            <a:pPr>
              <a:spcBef>
                <a:spcPts val="400"/>
              </a:spcBef>
            </a:pPr>
            <a:r>
              <a:rPr sz="1700">
                <a:solidFill>
                  <a:srgbClr val="F0F0F0"/>
                </a:solidFill>
              </a:rPr>
              <a:t>• Depression is the leading cause of disability worldwide (WHO)</a:t>
            </a:r>
          </a:p>
          <a:p>
            <a:pPr>
              <a:spcBef>
                <a:spcPts val="400"/>
              </a:spcBef>
            </a:pPr>
            <a:r>
              <a:rPr sz="1700">
                <a:solidFill>
                  <a:srgbClr val="F0F0F0"/>
                </a:solidFill>
              </a:rPr>
              <a:t>• Women are twice as likely to be diagnosed with depression as men</a:t>
            </a:r>
          </a:p>
          <a:p>
            <a:pPr>
              <a:spcBef>
                <a:spcPts val="400"/>
              </a:spcBef>
            </a:pPr>
            <a:r>
              <a:rPr sz="1700">
                <a:solidFill>
                  <a:srgbClr val="F0F0F0"/>
                </a:solidFill>
              </a:rPr>
              <a:t>• 50% of people with depression recover within 6 months with appropriate treatment</a:t>
            </a:r>
          </a:p>
          <a:p>
            <a:pPr>
              <a:spcBef>
                <a:spcPts val="400"/>
              </a:spcBef>
            </a:pPr>
            <a:r>
              <a:rPr sz="1700">
                <a:solidFill>
                  <a:srgbClr val="F0F0F0"/>
                </a:solidFill>
              </a:rPr>
              <a:t>• Depression costs the UK economy £12.2 billion annually in lost productivity</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NICE (CG90): recommends CBT as first-line treatment for moderate-severe depression</a:t>
            </a:r>
          </a:p>
          <a:p>
            <a:pPr>
              <a:spcBef>
                <a:spcPts val="400"/>
              </a:spcBef>
            </a:pPr>
            <a:r>
              <a:rPr sz="1700">
                <a:solidFill>
                  <a:srgbClr val="F0F0F0"/>
                </a:solidFill>
              </a:rPr>
              <a:t>• Behavioural activation is as effective as CBT for mild-moderate depression</a:t>
            </a:r>
          </a:p>
          <a:p>
            <a:pPr>
              <a:spcBef>
                <a:spcPts val="400"/>
              </a:spcBef>
            </a:pPr>
            <a:r>
              <a:rPr sz="1700">
                <a:solidFill>
                  <a:srgbClr val="F0F0F0"/>
                </a:solidFill>
              </a:rPr>
              <a:t>• MBCT (mindfulness-based cognitive therapy) is NICE-recommended for recurrent depression</a:t>
            </a:r>
          </a:p>
          <a:p>
            <a:pPr>
              <a:spcBef>
                <a:spcPts val="400"/>
              </a:spcBef>
            </a:pPr>
            <a:r>
              <a:rPr sz="1700">
                <a:solidFill>
                  <a:srgbClr val="F0F0F0"/>
                </a:solidFill>
              </a:rPr>
              <a:t>• Exercise: 150 minutes of moderate exercise per week reduces depression by 30%</a:t>
            </a:r>
          </a:p>
          <a:p>
            <a:pPr>
              <a:spcBef>
                <a:spcPts val="400"/>
              </a:spcBef>
            </a:pPr>
            <a:r>
              <a:rPr sz="1700">
                <a:solidFill>
                  <a:srgbClr val="F0F0F0"/>
                </a:solidFill>
              </a:rPr>
              <a:t>• Social prescribing reduces depression symptoms and GP appointments</a:t>
            </a:r>
          </a:p>
          <a:p>
            <a:pPr>
              <a:spcBef>
                <a:spcPts val="400"/>
              </a:spcBef>
            </a:pPr>
            <a:r>
              <a:rPr sz="1700">
                <a:solidFill>
                  <a:srgbClr val="F0F0F0"/>
                </a:solidFill>
              </a:rPr>
              <a:t>• Antidepressants are effective for 50–60% of people with moderate-severe depression</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Rachel, 42, experienced her first episode of depression after redundancy. She stopped socialising, struggled to get out of bed and lost interest in activities she had previously enjoyed. Her GP prescribed sertraline and referred her to IAPT for CBT. Rachel found behavioural activation particularly helpful — scheduling small, achievable activities each day. After 16 weeks, her PHQ-9 score had dropped from 22 to 6.</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Antidepressants: SSRIs (sertraline, fluoxetine) and SNRIs (venlafaxine, duloxetine)</a:t>
            </a:r>
          </a:p>
          <a:p>
            <a:pPr>
              <a:spcBef>
                <a:spcPts val="400"/>
              </a:spcBef>
            </a:pPr>
            <a:r>
              <a:rPr sz="1700">
                <a:solidFill>
                  <a:srgbClr val="F0F0F0"/>
                </a:solidFill>
              </a:rPr>
              <a:t>• Cognitive behavioural therapy (CBT): challenging negative thought patterns</a:t>
            </a:r>
          </a:p>
          <a:p>
            <a:pPr>
              <a:spcBef>
                <a:spcPts val="400"/>
              </a:spcBef>
            </a:pPr>
            <a:r>
              <a:rPr sz="1700">
                <a:solidFill>
                  <a:srgbClr val="F0F0F0"/>
                </a:solidFill>
              </a:rPr>
              <a:t>• Behavioural activation: scheduling pleasurable and meaningful activities</a:t>
            </a:r>
          </a:p>
          <a:p>
            <a:pPr>
              <a:spcBef>
                <a:spcPts val="400"/>
              </a:spcBef>
            </a:pPr>
            <a:r>
              <a:rPr sz="1700">
                <a:solidFill>
                  <a:srgbClr val="F0F0F0"/>
                </a:solidFill>
              </a:rPr>
              <a:t>• Mindfulness-based cognitive therapy (MBCT): NICE-recommended for recurrent depression</a:t>
            </a:r>
          </a:p>
          <a:p>
            <a:pPr>
              <a:spcBef>
                <a:spcPts val="400"/>
              </a:spcBef>
            </a:pPr>
            <a:r>
              <a:rPr sz="1700">
                <a:solidFill>
                  <a:srgbClr val="F0F0F0"/>
                </a:solidFill>
              </a:rPr>
              <a:t>• Exercise: 150 minutes of moderate exercise per week reduces depression by 30%</a:t>
            </a:r>
          </a:p>
          <a:p>
            <a:pPr>
              <a:spcBef>
                <a:spcPts val="400"/>
              </a:spcBef>
            </a:pPr>
            <a:r>
              <a:rPr sz="1700">
                <a:solidFill>
                  <a:srgbClr val="F0F0F0"/>
                </a:solidFill>
              </a:rPr>
              <a:t>• Social prescribing: community activities, volunteering and peer support</a:t>
            </a:r>
          </a:p>
          <a:p>
            <a:pPr>
              <a:spcBef>
                <a:spcPts val="400"/>
              </a:spcBef>
            </a:pPr>
            <a:r>
              <a:rPr sz="1700">
                <a:solidFill>
                  <a:srgbClr val="F0F0F0"/>
                </a:solidFill>
              </a:rPr>
              <a:t>• Crisis support: Samaritans 116 123, NHS 111, emergency services 999</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Behavioural activation exercise: Participants create a simple activity schedule for the coming week, identifying activities that provide pleasure, achievement or connection. Discuss: How does depression affect motivation? How can small actions break the cycle of withdrawal?</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does depression feel like from the inside — how would you describe it to someone?</a:t>
            </a:r>
          </a:p>
          <a:p>
            <a:pPr>
              <a:spcBef>
                <a:spcPts val="400"/>
              </a:spcBef>
            </a:pPr>
            <a:r>
              <a:rPr sz="1700">
                <a:solidFill>
                  <a:srgbClr val="F0F0F0"/>
                </a:solidFill>
              </a:rPr>
              <a:t>• How does stigma affect men's willingness to seek help for depression?</a:t>
            </a:r>
          </a:p>
          <a:p>
            <a:pPr>
              <a:spcBef>
                <a:spcPts val="400"/>
              </a:spcBef>
            </a:pPr>
            <a:r>
              <a:rPr sz="1700">
                <a:solidFill>
                  <a:srgbClr val="F0F0F0"/>
                </a:solidFill>
              </a:rPr>
              <a:t>• What is the difference between sadness and clinical depression?</a:t>
            </a:r>
          </a:p>
          <a:p>
            <a:pPr>
              <a:spcBef>
                <a:spcPts val="400"/>
              </a:spcBef>
            </a:pPr>
            <a:r>
              <a:rPr sz="1700">
                <a:solidFill>
                  <a:srgbClr val="F0F0F0"/>
                </a:solidFill>
              </a:rPr>
              <a:t>• How can friends and family best support someone with depression?</a:t>
            </a:r>
          </a:p>
          <a:p>
            <a:pPr>
              <a:spcBef>
                <a:spcPts val="400"/>
              </a:spcBef>
            </a:pPr>
            <a:r>
              <a:rPr sz="1700">
                <a:solidFill>
                  <a:srgbClr val="F0F0F0"/>
                </a:solidFill>
              </a:rPr>
              <a:t>• What NHS and voluntary sector support is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CG90: Depression in adults (2009, updated 2022)</a:t>
            </a:r>
          </a:p>
          <a:p>
            <a:pPr>
              <a:spcBef>
                <a:spcPts val="400"/>
              </a:spcBef>
            </a:pPr>
            <a:r>
              <a:rPr sz="1400">
                <a:solidFill>
                  <a:srgbClr val="F0F0F0"/>
                </a:solidFill>
              </a:rPr>
              <a:t>• Mind UK: Depression (mind.org.uk)</a:t>
            </a:r>
          </a:p>
          <a:p>
            <a:pPr>
              <a:spcBef>
                <a:spcPts val="400"/>
              </a:spcBef>
            </a:pPr>
            <a:r>
              <a:rPr sz="1400">
                <a:solidFill>
                  <a:srgbClr val="F0F0F0"/>
                </a:solidFill>
              </a:rPr>
              <a:t>• NHS: Clinical depression (nhs.uk/conditions/clinical-depression)</a:t>
            </a:r>
          </a:p>
          <a:p>
            <a:pPr>
              <a:spcBef>
                <a:spcPts val="400"/>
              </a:spcBef>
            </a:pPr>
            <a:r>
              <a:rPr sz="1400">
                <a:solidFill>
                  <a:srgbClr val="F0F0F0"/>
                </a:solidFill>
              </a:rPr>
              <a:t>• IAPT: Find your local service at nhs.uk/mental-health</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11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Mood Disorders: Major Depression</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11: Mood Disorders: Major Depression</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
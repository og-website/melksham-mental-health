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36</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LGBTQIA+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LGBTQIA+ people experience significantly higher rates of mental health problems than the general population, primarily due to minority stress, discrimination and stigma. This module explores the specific mental health challenges faced by LGBTQIA+ people and the affirming, inclusive approaches that support their wellbeing.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minority stress model and its impact on LGBTQIA+ mental health</a:t>
            </a:r>
          </a:p>
          <a:p>
            <a:pPr>
              <a:spcBef>
                <a:spcPts val="400"/>
              </a:spcBef>
            </a:pPr>
            <a:r>
              <a:rPr sz="1700">
                <a:solidFill>
                  <a:srgbClr val="F0F0F0"/>
                </a:solidFill>
              </a:rPr>
              <a:t>• Identify the specific mental health challenges faced by LGBTQIA+ people</a:t>
            </a:r>
          </a:p>
          <a:p>
            <a:pPr>
              <a:spcBef>
                <a:spcPts val="400"/>
              </a:spcBef>
            </a:pPr>
            <a:r>
              <a:rPr sz="1700">
                <a:solidFill>
                  <a:srgbClr val="F0F0F0"/>
                </a:solidFill>
              </a:rPr>
              <a:t>• Understand the impact of conversion therapy on mental health</a:t>
            </a:r>
          </a:p>
          <a:p>
            <a:pPr>
              <a:spcBef>
                <a:spcPts val="400"/>
              </a:spcBef>
            </a:pPr>
            <a:r>
              <a:rPr sz="1700">
                <a:solidFill>
                  <a:srgbClr val="F0F0F0"/>
                </a:solidFill>
              </a:rPr>
              <a:t>• Explore LGBTQIA+-affirming therapeutic approaches</a:t>
            </a:r>
          </a:p>
          <a:p>
            <a:pPr>
              <a:spcBef>
                <a:spcPts val="400"/>
              </a:spcBef>
            </a:pPr>
            <a:r>
              <a:rPr sz="1700">
                <a:solidFill>
                  <a:srgbClr val="F0F0F0"/>
                </a:solidFill>
              </a:rPr>
              <a:t>• Develop skills for providing inclusive, affirming mental health support</a:t>
            </a:r>
          </a:p>
          <a:p>
            <a:pPr>
              <a:spcBef>
                <a:spcPts val="400"/>
              </a:spcBef>
            </a:pPr>
            <a:r>
              <a:rPr sz="1700">
                <a:solidFill>
                  <a:srgbClr val="F0F0F0"/>
                </a:solidFill>
              </a:rPr>
              <a:t>• Know the LGBTQIA+ mental health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36: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Minority stress model: stigma, discrimination and internalised homophobia cause chronic stress</a:t>
            </a:r>
          </a:p>
          <a:p>
            <a:pPr>
              <a:spcBef>
                <a:spcPts val="400"/>
              </a:spcBef>
            </a:pPr>
            <a:r>
              <a:rPr sz="1700">
                <a:solidFill>
                  <a:srgbClr val="F0F0F0"/>
                </a:solidFill>
              </a:rPr>
              <a:t>• Coming out: a lifelong process with significant mental health implications</a:t>
            </a:r>
          </a:p>
          <a:p>
            <a:pPr>
              <a:spcBef>
                <a:spcPts val="400"/>
              </a:spcBef>
            </a:pPr>
            <a:r>
              <a:rPr sz="1700">
                <a:solidFill>
                  <a:srgbClr val="F0F0F0"/>
                </a:solidFill>
              </a:rPr>
              <a:t>• Conversion therapy: harmful, ineffective and associated with severe mental health harm</a:t>
            </a:r>
          </a:p>
          <a:p>
            <a:pPr>
              <a:spcBef>
                <a:spcPts val="400"/>
              </a:spcBef>
            </a:pPr>
            <a:r>
              <a:rPr sz="1700">
                <a:solidFill>
                  <a:srgbClr val="F0F0F0"/>
                </a:solidFill>
              </a:rPr>
              <a:t>• Transgender mental health: gender dysphoria, transition and mental health outcomes</a:t>
            </a:r>
          </a:p>
          <a:p>
            <a:pPr>
              <a:spcBef>
                <a:spcPts val="400"/>
              </a:spcBef>
            </a:pPr>
            <a:r>
              <a:rPr sz="1700">
                <a:solidFill>
                  <a:srgbClr val="F0F0F0"/>
                </a:solidFill>
              </a:rPr>
              <a:t>• Intersectionality: how race, disability and class intersect with LGBTQIA+ identity</a:t>
            </a:r>
          </a:p>
          <a:p>
            <a:pPr>
              <a:spcBef>
                <a:spcPts val="400"/>
              </a:spcBef>
            </a:pPr>
            <a:r>
              <a:rPr sz="1700">
                <a:solidFill>
                  <a:srgbClr val="F0F0F0"/>
                </a:solidFill>
              </a:rPr>
              <a:t>• LGBTQIA+-affirming therapy: validating identity and addressing minority stress</a:t>
            </a:r>
          </a:p>
          <a:p>
            <a:pPr>
              <a:spcBef>
                <a:spcPts val="400"/>
              </a:spcBef>
            </a:pPr>
            <a:r>
              <a:rPr sz="1700">
                <a:solidFill>
                  <a:srgbClr val="F0F0F0"/>
                </a:solidFill>
              </a:rPr>
              <a:t>• Community and chosen family: the importance of LGBTQIA+ community for wellbeing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LGBTQIA+ people are 2–3 times more likely to experience depression and anxiety</a:t>
            </a:r>
          </a:p>
          <a:p>
            <a:pPr>
              <a:spcBef>
                <a:spcPts val="400"/>
              </a:spcBef>
            </a:pPr>
            <a:r>
              <a:rPr sz="1700">
                <a:solidFill>
                  <a:srgbClr val="F0F0F0"/>
                </a:solidFill>
              </a:rPr>
              <a:t>• Transgender people are 4–5 times more likely to experience suicidal ideation</a:t>
            </a:r>
          </a:p>
          <a:p>
            <a:pPr>
              <a:spcBef>
                <a:spcPts val="400"/>
              </a:spcBef>
            </a:pPr>
            <a:r>
              <a:rPr sz="1700">
                <a:solidFill>
                  <a:srgbClr val="F0F0F0"/>
                </a:solidFill>
              </a:rPr>
              <a:t>• 50% of LGBTQIA+ young people have self-harmed (Stonewall, 2022)</a:t>
            </a:r>
          </a:p>
          <a:p>
            <a:pPr>
              <a:spcBef>
                <a:spcPts val="400"/>
              </a:spcBef>
            </a:pPr>
            <a:r>
              <a:rPr sz="1700">
                <a:solidFill>
                  <a:srgbClr val="F0F0F0"/>
                </a:solidFill>
              </a:rPr>
              <a:t>• Conversion therapy increases risk of suicide by 5 times (APA)</a:t>
            </a:r>
          </a:p>
          <a:p>
            <a:pPr>
              <a:spcBef>
                <a:spcPts val="400"/>
              </a:spcBef>
            </a:pPr>
            <a:r>
              <a:rPr sz="1700">
                <a:solidFill>
                  <a:srgbClr val="F0F0F0"/>
                </a:solidFill>
              </a:rPr>
              <a:t>• Only 1 in 5 LGBTQIA+ people feel comfortable disclosing their identity to mental health services</a:t>
            </a:r>
          </a:p>
          <a:p>
            <a:pPr>
              <a:spcBef>
                <a:spcPts val="400"/>
              </a:spcBef>
            </a:pPr>
            <a:r>
              <a:rPr sz="1700">
                <a:solidFill>
                  <a:srgbClr val="F0F0F0"/>
                </a:solidFill>
              </a:rPr>
              <a:t>• Hate crimes against LGBTQIA+ people increased by 112% in the last 5 years (ONS)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LGBTQIA+-affirming therapy significantly improves mental health outcomes</a:t>
            </a:r>
          </a:p>
          <a:p>
            <a:pPr>
              <a:spcBef>
                <a:spcPts val="400"/>
              </a:spcBef>
            </a:pPr>
            <a:r>
              <a:rPr sz="1700">
                <a:solidFill>
                  <a:srgbClr val="F0F0F0"/>
                </a:solidFill>
              </a:rPr>
              <a:t>• Conversion therapy is harmful and ineffective; banned in many countries</a:t>
            </a:r>
          </a:p>
          <a:p>
            <a:pPr>
              <a:spcBef>
                <a:spcPts val="400"/>
              </a:spcBef>
            </a:pPr>
            <a:r>
              <a:rPr sz="1700">
                <a:solidFill>
                  <a:srgbClr val="F0F0F0"/>
                </a:solidFill>
              </a:rPr>
              <a:t>• Social support from LGBTQIA+ community is a powerful protective factor</a:t>
            </a:r>
          </a:p>
          <a:p>
            <a:pPr>
              <a:spcBef>
                <a:spcPts val="400"/>
              </a:spcBef>
            </a:pPr>
            <a:r>
              <a:rPr sz="1700">
                <a:solidFill>
                  <a:srgbClr val="F0F0F0"/>
                </a:solidFill>
              </a:rPr>
              <a:t>• Coming out in a safe environment improves mental health and wellbeing</a:t>
            </a:r>
          </a:p>
          <a:p>
            <a:pPr>
              <a:spcBef>
                <a:spcPts val="400"/>
              </a:spcBef>
            </a:pPr>
            <a:r>
              <a:rPr sz="1700">
                <a:solidFill>
                  <a:srgbClr val="F0F0F0"/>
                </a:solidFill>
              </a:rPr>
              <a:t>• Gender-affirming care significantly reduces depression and suicidal ideation in transgender people</a:t>
            </a:r>
          </a:p>
          <a:p>
            <a:pPr>
              <a:spcBef>
                <a:spcPts val="400"/>
              </a:spcBef>
            </a:pPr>
            <a:r>
              <a:rPr sz="1700">
                <a:solidFill>
                  <a:srgbClr val="F0F0F0"/>
                </a:solidFill>
              </a:rPr>
              <a:t>• Anti-bullying programmes in schools reduce mental health problems in LGBTQIA+ young people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Alex, 22, a non-binary person, experienced severe depression and anxiety following coming out to their family, who rejected them. They struggled to find a therapist who understood their identity. After connecting with a local LGBTQIA+ mental health service, Alex began working with an affirming therapist who validated their identity and helped them process the trauma of family rejection. Alex also found support in a local LGBTQIA+ peer support group. Their mental health improved significantly as they built a chosen family.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LGBTQIA+-affirming therapy: validating identity and addressing minority stress</a:t>
            </a:r>
          </a:p>
          <a:p>
            <a:pPr>
              <a:spcBef>
                <a:spcPts val="400"/>
              </a:spcBef>
            </a:pPr>
            <a:r>
              <a:rPr sz="1700">
                <a:solidFill>
                  <a:srgbClr val="F0F0F0"/>
                </a:solidFill>
              </a:rPr>
              <a:t>• Peer support: LGBTQIA+ community groups, online communities and chosen family</a:t>
            </a:r>
          </a:p>
          <a:p>
            <a:pPr>
              <a:spcBef>
                <a:spcPts val="400"/>
              </a:spcBef>
            </a:pPr>
            <a:r>
              <a:rPr sz="1700">
                <a:solidFill>
                  <a:srgbClr val="F0F0F0"/>
                </a:solidFill>
              </a:rPr>
              <a:t>• Crisis support: Switchboard 0800 0119 100, LGBT Foundation 0345 3 30 30 30</a:t>
            </a:r>
          </a:p>
          <a:p>
            <a:pPr>
              <a:spcBef>
                <a:spcPts val="400"/>
              </a:spcBef>
            </a:pPr>
            <a:r>
              <a:rPr sz="1700">
                <a:solidFill>
                  <a:srgbClr val="F0F0F0"/>
                </a:solidFill>
              </a:rPr>
              <a:t>• Gender-affirming care: supporting transgender people through transition</a:t>
            </a:r>
          </a:p>
          <a:p>
            <a:pPr>
              <a:spcBef>
                <a:spcPts val="400"/>
              </a:spcBef>
            </a:pPr>
            <a:r>
              <a:rPr sz="1700">
                <a:solidFill>
                  <a:srgbClr val="F0F0F0"/>
                </a:solidFill>
              </a:rPr>
              <a:t>• Anti-bullying programmes: creating safe spaces in schools and workplaces</a:t>
            </a:r>
          </a:p>
          <a:p>
            <a:pPr>
              <a:spcBef>
                <a:spcPts val="400"/>
              </a:spcBef>
            </a:pPr>
            <a:r>
              <a:rPr sz="1700">
                <a:solidFill>
                  <a:srgbClr val="F0F0F0"/>
                </a:solidFill>
              </a:rPr>
              <a:t>• Mindfulness and self-compassion: addressing internalised shame and self-criticism</a:t>
            </a:r>
          </a:p>
          <a:p>
            <a:pPr>
              <a:spcBef>
                <a:spcPts val="400"/>
              </a:spcBef>
            </a:pPr>
            <a:r>
              <a:rPr sz="1700">
                <a:solidFill>
                  <a:srgbClr val="F0F0F0"/>
                </a:solidFill>
              </a:rPr>
              <a:t>• Advocacy: challenging discrimination and promoting LGBTQIA+ rights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Inclusive language exercise: Participants practise using inclusive language and pronouns in mental health settings. Discuss: How does it feel to have your identity validated? What barriers do LGBTQIA+ people face in accessing mental health support?</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specific mental health challenges do LGBTQIA+ people face?</a:t>
            </a:r>
          </a:p>
          <a:p>
            <a:pPr>
              <a:spcBef>
                <a:spcPts val="400"/>
              </a:spcBef>
            </a:pPr>
            <a:r>
              <a:rPr sz="1700">
                <a:solidFill>
                  <a:srgbClr val="F0F0F0"/>
                </a:solidFill>
              </a:rPr>
              <a:t>• How does minority stress affect mental health?</a:t>
            </a:r>
          </a:p>
          <a:p>
            <a:pPr>
              <a:spcBef>
                <a:spcPts val="400"/>
              </a:spcBef>
            </a:pPr>
            <a:r>
              <a:rPr sz="1700">
                <a:solidFill>
                  <a:srgbClr val="F0F0F0"/>
                </a:solidFill>
              </a:rPr>
              <a:t>• What is conversion therapy and why is it harmful?</a:t>
            </a:r>
          </a:p>
          <a:p>
            <a:pPr>
              <a:spcBef>
                <a:spcPts val="400"/>
              </a:spcBef>
            </a:pPr>
            <a:r>
              <a:rPr sz="1700">
                <a:solidFill>
                  <a:srgbClr val="F0F0F0"/>
                </a:solidFill>
              </a:rPr>
              <a:t>• How can mental health services become more inclusive and affirming?</a:t>
            </a:r>
          </a:p>
          <a:p>
            <a:pPr>
              <a:spcBef>
                <a:spcPts val="400"/>
              </a:spcBef>
            </a:pPr>
            <a:r>
              <a:rPr sz="1700">
                <a:solidFill>
                  <a:srgbClr val="F0F0F0"/>
                </a:solidFill>
              </a:rPr>
              <a:t>• What LGBTQIA+ mental health resources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Stonewall: stonewall.org.uk</a:t>
            </a:r>
          </a:p>
          <a:p>
            <a:pPr>
              <a:spcBef>
                <a:spcPts val="400"/>
              </a:spcBef>
            </a:pPr>
            <a:r>
              <a:rPr sz="1400">
                <a:solidFill>
                  <a:srgbClr val="F0F0F0"/>
                </a:solidFill>
              </a:rPr>
              <a:t>• LGBT Foundation: lgbt.foundation / 0345 3 30 30 30</a:t>
            </a:r>
          </a:p>
          <a:p>
            <a:pPr>
              <a:spcBef>
                <a:spcPts val="400"/>
              </a:spcBef>
            </a:pPr>
            <a:r>
              <a:rPr sz="1400">
                <a:solidFill>
                  <a:srgbClr val="F0F0F0"/>
                </a:solidFill>
              </a:rPr>
              <a:t>• Switchboard: switchboard.lgbt / 0800 0119 100</a:t>
            </a:r>
          </a:p>
          <a:p>
            <a:pPr>
              <a:spcBef>
                <a:spcPts val="400"/>
              </a:spcBef>
            </a:pPr>
            <a:r>
              <a:rPr sz="1400">
                <a:solidFill>
                  <a:srgbClr val="F0F0F0"/>
                </a:solidFill>
              </a:rPr>
              <a:t>• Mind UK: LGBTQIA+ mental health (mind.org.uk)</a:t>
            </a:r>
          </a:p>
          <a:p>
            <a:pPr>
              <a:spcBef>
                <a:spcPts val="400"/>
              </a:spcBef>
            </a:pPr>
            <a:r>
              <a:rPr sz="1400">
                <a:solidFill>
                  <a:srgbClr val="F0F0F0"/>
                </a:solidFill>
              </a:rPr>
              <a:t>• Mermaids (transgender young people): mermaidsuk.org.uk</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36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LGBTQIA+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36: LGBTQIA+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
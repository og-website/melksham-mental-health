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12</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Mood Disorders: Bipolar Disorder</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Bipolar disorder is a complex mood disorder characterised by episodes of mania or hypomania alternating with depression. This module explores the two main types, the neuroscience of mood dysregulation, and the evidence-based treatments that support stability and recovery.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Distinguish between bipolar I and bipolar II disorder</a:t>
            </a:r>
          </a:p>
          <a:p>
            <a:pPr>
              <a:spcBef>
                <a:spcPts val="400"/>
              </a:spcBef>
            </a:pPr>
            <a:r>
              <a:rPr sz="1700">
                <a:solidFill>
                  <a:srgbClr val="F0F0F0"/>
                </a:solidFill>
              </a:rPr>
              <a:t>• Identify the symptoms of manic, hypomanic and depressive episodes</a:t>
            </a:r>
          </a:p>
          <a:p>
            <a:pPr>
              <a:spcBef>
                <a:spcPts val="400"/>
              </a:spcBef>
            </a:pPr>
            <a:r>
              <a:rPr sz="1700">
                <a:solidFill>
                  <a:srgbClr val="F0F0F0"/>
                </a:solidFill>
              </a:rPr>
              <a:t>• Understand the neuroscience of mood dysregulation in bipolar disorder</a:t>
            </a:r>
          </a:p>
          <a:p>
            <a:pPr>
              <a:spcBef>
                <a:spcPts val="400"/>
              </a:spcBef>
            </a:pPr>
            <a:r>
              <a:rPr sz="1700">
                <a:solidFill>
                  <a:srgbClr val="F0F0F0"/>
                </a:solidFill>
              </a:rPr>
              <a:t>• Explore evidence-based treatments: mood stabilisers, lithium, psychoeducation</a:t>
            </a:r>
          </a:p>
          <a:p>
            <a:pPr>
              <a:spcBef>
                <a:spcPts val="400"/>
              </a:spcBef>
            </a:pPr>
            <a:r>
              <a:rPr sz="1700">
                <a:solidFill>
                  <a:srgbClr val="F0F0F0"/>
                </a:solidFill>
              </a:rPr>
              <a:t>• Develop skills for recognising early warning signs and preventing relapse</a:t>
            </a:r>
          </a:p>
          <a:p>
            <a:pPr>
              <a:spcBef>
                <a:spcPts val="400"/>
              </a:spcBef>
            </a:pPr>
            <a:r>
              <a:rPr sz="1700">
                <a:solidFill>
                  <a:srgbClr val="F0F0F0"/>
                </a:solidFill>
              </a:rPr>
              <a:t>• Understand the impact of bipolar disorder on relationships and daily functioning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12: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Bipolar I: full manic episodes lasting at least 7 days, often requiring hospitalisation</a:t>
            </a:r>
          </a:p>
          <a:p>
            <a:pPr>
              <a:spcBef>
                <a:spcPts val="400"/>
              </a:spcBef>
            </a:pPr>
            <a:r>
              <a:rPr sz="1700">
                <a:solidFill>
                  <a:srgbClr val="F0F0F0"/>
                </a:solidFill>
              </a:rPr>
              <a:t>• Bipolar II: hypomanic episodes (less severe) alternating with major depression</a:t>
            </a:r>
          </a:p>
          <a:p>
            <a:pPr>
              <a:spcBef>
                <a:spcPts val="400"/>
              </a:spcBef>
            </a:pPr>
            <a:r>
              <a:rPr sz="1700">
                <a:solidFill>
                  <a:srgbClr val="F0F0F0"/>
                </a:solidFill>
              </a:rPr>
              <a:t>• Manic symptoms: elevated mood, decreased need for sleep, grandiosity, impulsivity</a:t>
            </a:r>
          </a:p>
          <a:p>
            <a:pPr>
              <a:spcBef>
                <a:spcPts val="400"/>
              </a:spcBef>
            </a:pPr>
            <a:r>
              <a:rPr sz="1700">
                <a:solidFill>
                  <a:srgbClr val="F0F0F0"/>
                </a:solidFill>
              </a:rPr>
              <a:t>• Depressive episodes: identical to major depression; often longer and more frequent</a:t>
            </a:r>
          </a:p>
          <a:p>
            <a:pPr>
              <a:spcBef>
                <a:spcPts val="400"/>
              </a:spcBef>
            </a:pPr>
            <a:r>
              <a:rPr sz="1700">
                <a:solidFill>
                  <a:srgbClr val="F0F0F0"/>
                </a:solidFill>
              </a:rPr>
              <a:t>• Mood stabilisers: lithium, valproate, lamotrigine, quetiapine</a:t>
            </a:r>
          </a:p>
          <a:p>
            <a:pPr>
              <a:spcBef>
                <a:spcPts val="400"/>
              </a:spcBef>
            </a:pPr>
            <a:r>
              <a:rPr sz="1700">
                <a:solidFill>
                  <a:srgbClr val="F0F0F0"/>
                </a:solidFill>
              </a:rPr>
              <a:t>• Psychoeducation: understanding triggers, early warning signs and relapse prevention</a:t>
            </a:r>
          </a:p>
          <a:p>
            <a:pPr>
              <a:spcBef>
                <a:spcPts val="400"/>
              </a:spcBef>
            </a:pPr>
            <a:r>
              <a:rPr sz="1700">
                <a:solidFill>
                  <a:srgbClr val="F0F0F0"/>
                </a:solidFill>
              </a:rPr>
              <a:t>• Lifestyle factors: sleep regulation, substance avoidance, stress management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Bipolar disorder affects approximately 2% of the UK population (approximately 1.3 million)</a:t>
            </a:r>
          </a:p>
          <a:p>
            <a:pPr>
              <a:spcBef>
                <a:spcPts val="400"/>
              </a:spcBef>
            </a:pPr>
            <a:r>
              <a:rPr sz="1700">
                <a:solidFill>
                  <a:srgbClr val="F0F0F0"/>
                </a:solidFill>
              </a:rPr>
              <a:t>• Average delay to diagnosis: 9.5 years from first symptoms (Bipolar UK)</a:t>
            </a:r>
          </a:p>
          <a:p>
            <a:pPr>
              <a:spcBef>
                <a:spcPts val="400"/>
              </a:spcBef>
            </a:pPr>
            <a:r>
              <a:rPr sz="1700">
                <a:solidFill>
                  <a:srgbClr val="F0F0F0"/>
                </a:solidFill>
              </a:rPr>
              <a:t>• Bipolar disorder has the highest suicide rate of any mental health condition</a:t>
            </a:r>
          </a:p>
          <a:p>
            <a:pPr>
              <a:spcBef>
                <a:spcPts val="400"/>
              </a:spcBef>
            </a:pPr>
            <a:r>
              <a:rPr sz="1700">
                <a:solidFill>
                  <a:srgbClr val="F0F0F0"/>
                </a:solidFill>
              </a:rPr>
              <a:t>• 50% of people with bipolar disorder also have a substance use disorder</a:t>
            </a:r>
          </a:p>
          <a:p>
            <a:pPr>
              <a:spcBef>
                <a:spcPts val="400"/>
              </a:spcBef>
            </a:pPr>
            <a:r>
              <a:rPr sz="1700">
                <a:solidFill>
                  <a:srgbClr val="F0F0F0"/>
                </a:solidFill>
              </a:rPr>
              <a:t>• Lithium reduces suicide risk by 60% (Cipriani et al., 2013)</a:t>
            </a:r>
          </a:p>
          <a:p>
            <a:pPr>
              <a:spcBef>
                <a:spcPts val="400"/>
              </a:spcBef>
            </a:pPr>
            <a:r>
              <a:rPr sz="1700">
                <a:solidFill>
                  <a:srgbClr val="F0F0F0"/>
                </a:solidFill>
              </a:rPr>
              <a:t>• Bipolar disorder costs the UK economy £5.2 billion annually (LSE, 2012)</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(CG185): recommends lithium as first-line maintenance treatment</a:t>
            </a:r>
          </a:p>
          <a:p>
            <a:pPr>
              <a:spcBef>
                <a:spcPts val="400"/>
              </a:spcBef>
            </a:pPr>
            <a:r>
              <a:rPr sz="1700">
                <a:solidFill>
                  <a:srgbClr val="F0F0F0"/>
                </a:solidFill>
              </a:rPr>
              <a:t>• Psychoeducation reduces relapse rates by 30–40% in bipolar disorder</a:t>
            </a:r>
          </a:p>
          <a:p>
            <a:pPr>
              <a:spcBef>
                <a:spcPts val="400"/>
              </a:spcBef>
            </a:pPr>
            <a:r>
              <a:rPr sz="1700">
                <a:solidFill>
                  <a:srgbClr val="F0F0F0"/>
                </a:solidFill>
              </a:rPr>
              <a:t>• CBT for bipolar disorder reduces depressive episodes and improves functioning</a:t>
            </a:r>
          </a:p>
          <a:p>
            <a:pPr>
              <a:spcBef>
                <a:spcPts val="400"/>
              </a:spcBef>
            </a:pPr>
            <a:r>
              <a:rPr sz="1700">
                <a:solidFill>
                  <a:srgbClr val="F0F0F0"/>
                </a:solidFill>
              </a:rPr>
              <a:t>• Family-focused therapy reduces expressed emotion and relapse risk</a:t>
            </a:r>
          </a:p>
          <a:p>
            <a:pPr>
              <a:spcBef>
                <a:spcPts val="400"/>
              </a:spcBef>
            </a:pPr>
            <a:r>
              <a:rPr sz="1700">
                <a:solidFill>
                  <a:srgbClr val="F0F0F0"/>
                </a:solidFill>
              </a:rPr>
              <a:t>• Sleep regulation is critical: disrupted sleep is the most common relapse trigger</a:t>
            </a:r>
          </a:p>
          <a:p>
            <a:pPr>
              <a:spcBef>
                <a:spcPts val="400"/>
              </a:spcBef>
            </a:pPr>
            <a:r>
              <a:rPr sz="1700">
                <a:solidFill>
                  <a:srgbClr val="F0F0F0"/>
                </a:solidFill>
              </a:rPr>
              <a:t>• Mood monitoring apps improve self-management and early warning sign detection</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Mark, 35, had experienced two manic episodes requiring hospitalisation before receiving a bipolar I diagnosis. During manic episodes, he spent large sums of money, made impulsive decisions and slept only 2–3 hours per night. With lithium and psychoeducation, Mark learned to recognise his early warning signs (decreased need for sleep, increased energy) and developed a relapse prevention plan. He has been episode-free for three years.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Mood stabilisers: lithium, valproate, lamotrigine and quetiapine</a:t>
            </a:r>
          </a:p>
          <a:p>
            <a:pPr>
              <a:spcBef>
                <a:spcPts val="400"/>
              </a:spcBef>
            </a:pPr>
            <a:r>
              <a:rPr sz="1700">
                <a:solidFill>
                  <a:srgbClr val="F0F0F0"/>
                </a:solidFill>
              </a:rPr>
              <a:t>• Psychoeducation: understanding the condition, triggers and relapse prevention</a:t>
            </a:r>
          </a:p>
          <a:p>
            <a:pPr>
              <a:spcBef>
                <a:spcPts val="400"/>
              </a:spcBef>
            </a:pPr>
            <a:r>
              <a:rPr sz="1700">
                <a:solidFill>
                  <a:srgbClr val="F0F0F0"/>
                </a:solidFill>
              </a:rPr>
              <a:t>• Mood monitoring: daily mood diaries and apps (e.g., Bipolar UK Mood Diary)</a:t>
            </a:r>
          </a:p>
          <a:p>
            <a:pPr>
              <a:spcBef>
                <a:spcPts val="400"/>
              </a:spcBef>
            </a:pPr>
            <a:r>
              <a:rPr sz="1700">
                <a:solidFill>
                  <a:srgbClr val="F0F0F0"/>
                </a:solidFill>
              </a:rPr>
              <a:t>• Sleep regulation: consistent sleep schedule is critical for mood stability</a:t>
            </a:r>
          </a:p>
          <a:p>
            <a:pPr>
              <a:spcBef>
                <a:spcPts val="400"/>
              </a:spcBef>
            </a:pPr>
            <a:r>
              <a:rPr sz="1700">
                <a:solidFill>
                  <a:srgbClr val="F0F0F0"/>
                </a:solidFill>
              </a:rPr>
              <a:t>• CBT for bipolar disorder: addressing negative cognitions and behavioural patterns</a:t>
            </a:r>
          </a:p>
          <a:p>
            <a:pPr>
              <a:spcBef>
                <a:spcPts val="400"/>
              </a:spcBef>
            </a:pPr>
            <a:r>
              <a:rPr sz="1700">
                <a:solidFill>
                  <a:srgbClr val="F0F0F0"/>
                </a:solidFill>
              </a:rPr>
              <a:t>• Family-focused therapy: improving communication and reducing expressed emotion</a:t>
            </a:r>
          </a:p>
          <a:p>
            <a:pPr>
              <a:spcBef>
                <a:spcPts val="400"/>
              </a:spcBef>
            </a:pPr>
            <a:r>
              <a:rPr sz="1700">
                <a:solidFill>
                  <a:srgbClr val="F0F0F0"/>
                </a:solidFill>
              </a:rPr>
              <a:t>• Crisis planning: advance directives and crisis cards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Mood monitoring exercise: Participants learn to use a mood diary to track daily mood, sleep, energy and stress levels. Discuss: How does tracking mood help identify patterns and early warning signs? What triggers might affect mood in bipolar disorder?</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misconceptions exist about bipolar disorder?</a:t>
            </a:r>
          </a:p>
          <a:p>
            <a:pPr>
              <a:spcBef>
                <a:spcPts val="400"/>
              </a:spcBef>
            </a:pPr>
            <a:r>
              <a:rPr sz="1700">
                <a:solidFill>
                  <a:srgbClr val="F0F0F0"/>
                </a:solidFill>
              </a:rPr>
              <a:t>• How does the delay to diagnosis affect people with bipolar disorder?</a:t>
            </a:r>
          </a:p>
          <a:p>
            <a:pPr>
              <a:spcBef>
                <a:spcPts val="400"/>
              </a:spcBef>
            </a:pPr>
            <a:r>
              <a:rPr sz="1700">
                <a:solidFill>
                  <a:srgbClr val="F0F0F0"/>
                </a:solidFill>
              </a:rPr>
              <a:t>• What challenges do people with bipolar disorder face in relationships and work?</a:t>
            </a:r>
          </a:p>
          <a:p>
            <a:pPr>
              <a:spcBef>
                <a:spcPts val="400"/>
              </a:spcBef>
            </a:pPr>
            <a:r>
              <a:rPr sz="1700">
                <a:solidFill>
                  <a:srgbClr val="F0F0F0"/>
                </a:solidFill>
              </a:rPr>
              <a:t>• How can friends and family support someone during a manic or depressive episode?</a:t>
            </a:r>
          </a:p>
          <a:p>
            <a:pPr>
              <a:spcBef>
                <a:spcPts val="400"/>
              </a:spcBef>
            </a:pPr>
            <a:r>
              <a:rPr sz="1700">
                <a:solidFill>
                  <a:srgbClr val="F0F0F0"/>
                </a:solidFill>
              </a:rPr>
              <a:t>• What specialist bipolar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CG185: Bipolar disorder (2014, updated 2023)</a:t>
            </a:r>
          </a:p>
          <a:p>
            <a:pPr>
              <a:spcBef>
                <a:spcPts val="400"/>
              </a:spcBef>
            </a:pPr>
            <a:r>
              <a:rPr sz="1400">
                <a:solidFill>
                  <a:srgbClr val="F0F0F0"/>
                </a:solidFill>
              </a:rPr>
              <a:t>• Bipolar UK: bipolaruk.org</a:t>
            </a:r>
          </a:p>
          <a:p>
            <a:pPr>
              <a:spcBef>
                <a:spcPts val="400"/>
              </a:spcBef>
            </a:pPr>
            <a:r>
              <a:rPr sz="1400">
                <a:solidFill>
                  <a:srgbClr val="F0F0F0"/>
                </a:solidFill>
              </a:rPr>
              <a:t>• Mind UK: Bipolar disorder (mind.org.uk)</a:t>
            </a:r>
          </a:p>
          <a:p>
            <a:pPr>
              <a:spcBef>
                <a:spcPts val="400"/>
              </a:spcBef>
            </a:pPr>
            <a:r>
              <a:rPr sz="1400">
                <a:solidFill>
                  <a:srgbClr val="F0F0F0"/>
                </a:solidFill>
              </a:rPr>
              <a:t>• NHS: Bipolar disorder (nhs.uk/conditions/bipolar-disorder)</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12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Mood Disorders: Bipolar Disorder</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12: Mood Disorders: Bipolar Disorder</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
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18</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Eating Disorders and Body Image</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Eating disorders are serious, potentially life-threatening mental health conditions with the highest mortality rate of any psychiatric disorder. This module explores anorexia nervosa, bulimia nervosa, binge eating disorder and ARFID, alongside the powerful influence of body image, social media and diet culture.</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Identify the diagnostic criteria for anorexia nervosa, bulimia nervosa and BED</a:t>
            </a:r>
          </a:p>
          <a:p>
            <a:pPr>
              <a:spcBef>
                <a:spcPts val="400"/>
              </a:spcBef>
            </a:pPr>
            <a:r>
              <a:rPr sz="1700">
                <a:solidFill>
                  <a:srgbClr val="F0F0F0"/>
                </a:solidFill>
              </a:rPr>
              <a:t>• Understand avoidant/restrictive food intake disorder (ARFID)</a:t>
            </a:r>
          </a:p>
          <a:p>
            <a:pPr>
              <a:spcBef>
                <a:spcPts val="400"/>
              </a:spcBef>
            </a:pPr>
            <a:r>
              <a:rPr sz="1700">
                <a:solidFill>
                  <a:srgbClr val="F0F0F0"/>
                </a:solidFill>
              </a:rPr>
              <a:t>• Explore the role of body image, social media and diet culture in eating disorders</a:t>
            </a:r>
          </a:p>
          <a:p>
            <a:pPr>
              <a:spcBef>
                <a:spcPts val="400"/>
              </a:spcBef>
            </a:pPr>
            <a:r>
              <a:rPr sz="1700">
                <a:solidFill>
                  <a:srgbClr val="F0F0F0"/>
                </a:solidFill>
              </a:rPr>
              <a:t>• Understand the medical complications and mortality risk of eating disorders</a:t>
            </a:r>
          </a:p>
          <a:p>
            <a:pPr>
              <a:spcBef>
                <a:spcPts val="400"/>
              </a:spcBef>
            </a:pPr>
            <a:r>
              <a:rPr sz="1700">
                <a:solidFill>
                  <a:srgbClr val="F0F0F0"/>
                </a:solidFill>
              </a:rPr>
              <a:t>• Explore evidence-based treatments: FBT, CBT-E, MANTRA</a:t>
            </a:r>
          </a:p>
          <a:p>
            <a:pPr>
              <a:spcBef>
                <a:spcPts val="400"/>
              </a:spcBef>
            </a:pPr>
            <a:r>
              <a:rPr sz="1700">
                <a:solidFill>
                  <a:srgbClr val="F0F0F0"/>
                </a:solidFill>
              </a:rPr>
              <a:t>• Develop skills for supporting someone with an eating disorder without enabling</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18: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Anorexia nervosa: restriction of energy intake, intense fear of weight gain, distorted body image</a:t>
            </a:r>
          </a:p>
          <a:p>
            <a:pPr>
              <a:spcBef>
                <a:spcPts val="400"/>
              </a:spcBef>
            </a:pPr>
            <a:r>
              <a:rPr sz="1700">
                <a:solidFill>
                  <a:srgbClr val="F0F0F0"/>
                </a:solidFill>
              </a:rPr>
              <a:t>• Bulimia nervosa: recurrent binge eating followed by compensatory behaviours</a:t>
            </a:r>
          </a:p>
          <a:p>
            <a:pPr>
              <a:spcBef>
                <a:spcPts val="400"/>
              </a:spcBef>
            </a:pPr>
            <a:r>
              <a:rPr sz="1700">
                <a:solidFill>
                  <a:srgbClr val="F0F0F0"/>
                </a:solidFill>
              </a:rPr>
              <a:t>• Binge eating disorder: recurrent binge eating without compensatory behaviours</a:t>
            </a:r>
          </a:p>
          <a:p>
            <a:pPr>
              <a:spcBef>
                <a:spcPts val="400"/>
              </a:spcBef>
            </a:pPr>
            <a:r>
              <a:rPr sz="1700">
                <a:solidFill>
                  <a:srgbClr val="F0F0F0"/>
                </a:solidFill>
              </a:rPr>
              <a:t>• ARFID: avoidance of food based on sensory characteristics, fear of choking or vomiting</a:t>
            </a:r>
          </a:p>
          <a:p>
            <a:pPr>
              <a:spcBef>
                <a:spcPts val="400"/>
              </a:spcBef>
            </a:pPr>
            <a:r>
              <a:rPr sz="1700">
                <a:solidFill>
                  <a:srgbClr val="F0F0F0"/>
                </a:solidFill>
              </a:rPr>
              <a:t>• Body image: how we perceive, think and feel about our bodies</a:t>
            </a:r>
          </a:p>
          <a:p>
            <a:pPr>
              <a:spcBef>
                <a:spcPts val="400"/>
              </a:spcBef>
            </a:pPr>
            <a:r>
              <a:rPr sz="1700">
                <a:solidFill>
                  <a:srgbClr val="F0F0F0"/>
                </a:solidFill>
              </a:rPr>
              <a:t>• Social media: comparison, thinspiration and pro-eating-disorder communities</a:t>
            </a:r>
          </a:p>
          <a:p>
            <a:pPr>
              <a:spcBef>
                <a:spcPts val="400"/>
              </a:spcBef>
            </a:pPr>
            <a:r>
              <a:rPr sz="1700">
                <a:solidFill>
                  <a:srgbClr val="F0F0F0"/>
                </a:solidFill>
              </a:rPr>
              <a:t>• Medical complications: electrolyte imbalances, cardiac arrhythmias, osteoporosis, infertility</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Eating disorders affect 1.25 million people in the UK (Beat Eating Disorders, 2023)</a:t>
            </a:r>
          </a:p>
          <a:p>
            <a:pPr>
              <a:spcBef>
                <a:spcPts val="400"/>
              </a:spcBef>
            </a:pPr>
            <a:r>
              <a:rPr sz="1700">
                <a:solidFill>
                  <a:srgbClr val="F0F0F0"/>
                </a:solidFill>
              </a:rPr>
              <a:t>• Anorexia nervosa has the highest mortality rate of any psychiatric disorder (5–10%)</a:t>
            </a:r>
          </a:p>
          <a:p>
            <a:pPr>
              <a:spcBef>
                <a:spcPts val="400"/>
              </a:spcBef>
            </a:pPr>
            <a:r>
              <a:rPr sz="1700">
                <a:solidFill>
                  <a:srgbClr val="F0F0F0"/>
                </a:solidFill>
              </a:rPr>
              <a:t>• Eating disorders affect all genders: 25% of those affected are male</a:t>
            </a:r>
          </a:p>
          <a:p>
            <a:pPr>
              <a:spcBef>
                <a:spcPts val="400"/>
              </a:spcBef>
            </a:pPr>
            <a:r>
              <a:rPr sz="1700">
                <a:solidFill>
                  <a:srgbClr val="F0F0F0"/>
                </a:solidFill>
              </a:rPr>
              <a:t>• Eating disorders cost the UK £15 billion annually (PricewaterhouseCoopers, 2015)</a:t>
            </a:r>
          </a:p>
          <a:p>
            <a:pPr>
              <a:spcBef>
                <a:spcPts val="400"/>
              </a:spcBef>
            </a:pPr>
            <a:r>
              <a:rPr sz="1700">
                <a:solidFill>
                  <a:srgbClr val="F0F0F0"/>
                </a:solidFill>
              </a:rPr>
              <a:t>• Average wait for eating disorder treatment in England: 18+ weeks (2023)</a:t>
            </a:r>
          </a:p>
          <a:p>
            <a:pPr>
              <a:spcBef>
                <a:spcPts val="400"/>
              </a:spcBef>
            </a:pPr>
            <a:r>
              <a:rPr sz="1700">
                <a:solidFill>
                  <a:srgbClr val="F0F0F0"/>
                </a:solidFill>
              </a:rPr>
              <a:t>• Recovery: 46% of people with anorexia fully recover; 33% partially recover</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NICE (NG69): recommends family-based treatment (FBT) for young people with anorexia</a:t>
            </a:r>
          </a:p>
          <a:p>
            <a:pPr>
              <a:spcBef>
                <a:spcPts val="400"/>
              </a:spcBef>
            </a:pPr>
            <a:r>
              <a:rPr sz="1700">
                <a:solidFill>
                  <a:srgbClr val="F0F0F0"/>
                </a:solidFill>
              </a:rPr>
              <a:t>• CBT-E (enhanced CBT) is effective for bulimia nervosa and binge eating disorder</a:t>
            </a:r>
          </a:p>
          <a:p>
            <a:pPr>
              <a:spcBef>
                <a:spcPts val="400"/>
              </a:spcBef>
            </a:pPr>
            <a:r>
              <a:rPr sz="1700">
                <a:solidFill>
                  <a:srgbClr val="F0F0F0"/>
                </a:solidFill>
              </a:rPr>
              <a:t>• MANTRA (Maudsley Anorexia Nervosa Treatment for Adults) is NICE-recommended</a:t>
            </a:r>
          </a:p>
          <a:p>
            <a:pPr>
              <a:spcBef>
                <a:spcPts val="400"/>
              </a:spcBef>
            </a:pPr>
            <a:r>
              <a:rPr sz="1700">
                <a:solidFill>
                  <a:srgbClr val="F0F0F0"/>
                </a:solidFill>
              </a:rPr>
              <a:t>• Early intervention significantly improves recovery outcomes in eating disorders</a:t>
            </a:r>
          </a:p>
          <a:p>
            <a:pPr>
              <a:spcBef>
                <a:spcPts val="400"/>
              </a:spcBef>
            </a:pPr>
            <a:r>
              <a:rPr sz="1700">
                <a:solidFill>
                  <a:srgbClr val="F0F0F0"/>
                </a:solidFill>
              </a:rPr>
              <a:t>• Dietitian support is essential alongside psychological therapy in eating disorder treatment</a:t>
            </a:r>
          </a:p>
          <a:p>
            <a:pPr>
              <a:spcBef>
                <a:spcPts val="400"/>
              </a:spcBef>
            </a:pPr>
            <a:r>
              <a:rPr sz="1700">
                <a:solidFill>
                  <a:srgbClr val="F0F0F0"/>
                </a:solidFill>
              </a:rPr>
              <a:t>• Body image therapy reduces weight and shape concerns and prevents relapse</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Zoe, 19, developed anorexia at 15 following comments about her weight at school. By 17, her BMI had dropped to 14 and she required inpatient treatment. Following medical stabilisation, Zoe began family-based treatment (FBT) with her parents actively involved in her recovery. She also worked with a dietitian and a body image therapist. At 19, Zoe is weight-restored, studying at university and volunteering with Beat Eating Disorders.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Family-based treatment (FBT): evidence-based for young people with anorexia</a:t>
            </a:r>
          </a:p>
          <a:p>
            <a:pPr>
              <a:spcBef>
                <a:spcPts val="400"/>
              </a:spcBef>
            </a:pPr>
            <a:r>
              <a:rPr sz="1700">
                <a:solidFill>
                  <a:srgbClr val="F0F0F0"/>
                </a:solidFill>
              </a:rPr>
              <a:t>• CBT-E (enhanced CBT): effective for bulimia nervosa and binge eating disorder</a:t>
            </a:r>
          </a:p>
          <a:p>
            <a:pPr>
              <a:spcBef>
                <a:spcPts val="400"/>
              </a:spcBef>
            </a:pPr>
            <a:r>
              <a:rPr sz="1700">
                <a:solidFill>
                  <a:srgbClr val="F0F0F0"/>
                </a:solidFill>
              </a:rPr>
              <a:t>• MANTRA: Maudsley Anorexia Nervosa Treatment for Adults</a:t>
            </a:r>
          </a:p>
          <a:p>
            <a:pPr>
              <a:spcBef>
                <a:spcPts val="400"/>
              </a:spcBef>
            </a:pPr>
            <a:r>
              <a:rPr sz="1700">
                <a:solidFill>
                  <a:srgbClr val="F0F0F0"/>
                </a:solidFill>
              </a:rPr>
              <a:t>• Dietitian support: nutritional rehabilitation and meal planning</a:t>
            </a:r>
          </a:p>
          <a:p>
            <a:pPr>
              <a:spcBef>
                <a:spcPts val="400"/>
              </a:spcBef>
            </a:pPr>
            <a:r>
              <a:rPr sz="1700">
                <a:solidFill>
                  <a:srgbClr val="F0F0F0"/>
                </a:solidFill>
              </a:rPr>
              <a:t>• Body image therapy: challenging distorted body image and diet culture</a:t>
            </a:r>
          </a:p>
          <a:p>
            <a:pPr>
              <a:spcBef>
                <a:spcPts val="400"/>
              </a:spcBef>
            </a:pPr>
            <a:r>
              <a:rPr sz="1700">
                <a:solidFill>
                  <a:srgbClr val="F0F0F0"/>
                </a:solidFill>
              </a:rPr>
              <a:t>• Medical monitoring: regular physical health checks during recovery</a:t>
            </a:r>
          </a:p>
          <a:p>
            <a:pPr>
              <a:spcBef>
                <a:spcPts val="400"/>
              </a:spcBef>
            </a:pPr>
            <a:r>
              <a:rPr sz="1700">
                <a:solidFill>
                  <a:srgbClr val="F0F0F0"/>
                </a:solidFill>
              </a:rPr>
              <a:t>• Peer support: Beat Eating Disorders helpline and online support groups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Body image reflection: Participants write a letter to their body — acknowledging what it does for them, rather than how it looks. Discuss: How does diet culture affect our relationship with food and our bodies? What messages have you received about body size and shape?</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How does social media influence body image and eating behaviours?</a:t>
            </a:r>
          </a:p>
          <a:p>
            <a:pPr>
              <a:spcBef>
                <a:spcPts val="400"/>
              </a:spcBef>
            </a:pPr>
            <a:r>
              <a:rPr sz="1700">
                <a:solidFill>
                  <a:srgbClr val="F0F0F0"/>
                </a:solidFill>
              </a:rPr>
              <a:t>• What misconceptions exist about eating disorders — who they affect and why?</a:t>
            </a:r>
          </a:p>
          <a:p>
            <a:pPr>
              <a:spcBef>
                <a:spcPts val="400"/>
              </a:spcBef>
            </a:pPr>
            <a:r>
              <a:rPr sz="1700">
                <a:solidFill>
                  <a:srgbClr val="F0F0F0"/>
                </a:solidFill>
              </a:rPr>
              <a:t>• How can we talk about food and bodies in ways that don't cause harm?</a:t>
            </a:r>
          </a:p>
          <a:p>
            <a:pPr>
              <a:spcBef>
                <a:spcPts val="400"/>
              </a:spcBef>
            </a:pPr>
            <a:r>
              <a:rPr sz="1700">
                <a:solidFill>
                  <a:srgbClr val="F0F0F0"/>
                </a:solidFill>
              </a:rPr>
              <a:t>• How can we support someone with an eating disorder without commenting on their appearance?</a:t>
            </a:r>
          </a:p>
          <a:p>
            <a:pPr>
              <a:spcBef>
                <a:spcPts val="400"/>
              </a:spcBef>
            </a:pPr>
            <a:r>
              <a:rPr sz="1700">
                <a:solidFill>
                  <a:srgbClr val="F0F0F0"/>
                </a:solidFill>
              </a:rPr>
              <a:t>• What eating disorder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Beat Eating Disorders: beateatingdisorders.org.uk / 0808 801 0677</a:t>
            </a:r>
          </a:p>
          <a:p>
            <a:pPr>
              <a:spcBef>
                <a:spcPts val="400"/>
              </a:spcBef>
            </a:pPr>
            <a:r>
              <a:rPr sz="1400">
                <a:solidFill>
                  <a:srgbClr val="F0F0F0"/>
                </a:solidFill>
              </a:rPr>
              <a:t>• NICE Guideline NG69: Eating disorders (2017, updated 2020)</a:t>
            </a:r>
          </a:p>
          <a:p>
            <a:pPr>
              <a:spcBef>
                <a:spcPts val="400"/>
              </a:spcBef>
            </a:pPr>
            <a:r>
              <a:rPr sz="1400">
                <a:solidFill>
                  <a:srgbClr val="F0F0F0"/>
                </a:solidFill>
              </a:rPr>
              <a:t>• Mind UK: Eating problems (mind.org.uk)</a:t>
            </a:r>
          </a:p>
          <a:p>
            <a:pPr>
              <a:spcBef>
                <a:spcPts val="400"/>
              </a:spcBef>
            </a:pPr>
            <a:r>
              <a:rPr sz="1400">
                <a:solidFill>
                  <a:srgbClr val="F0F0F0"/>
                </a:solidFill>
              </a:rPr>
              <a:t>• NHS: Eating disorders (nhs.uk/conditions/eating-disorders)</a:t>
            </a:r>
          </a:p>
          <a:p>
            <a:pPr>
              <a:spcBef>
                <a:spcPts val="400"/>
              </a:spcBef>
            </a:pPr>
            <a:r>
              <a:rPr sz="1400">
                <a:solidFill>
                  <a:srgbClr val="F0F0F0"/>
                </a:solidFill>
              </a:rPr>
              <a:t>• Anorexia and Bulimia Care: anorexiabulimiacare.org.uk</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18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Eating Disorders and Body Image</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18: Eating Disorders and Body Image</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
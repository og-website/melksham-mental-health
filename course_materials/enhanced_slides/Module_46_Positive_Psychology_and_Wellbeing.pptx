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46</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Positive Psychology and Wellbeing</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Positive psychology focuses on what makes life worth living — strengths, meaning, positive emotions, engagement and relationships. This module explores the PERMA model of wellbeing, the science of happiness and flourishing, and practical positive psychology interventions.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principles of positive psychology and its relationship to mental health</a:t>
            </a:r>
          </a:p>
          <a:p>
            <a:pPr>
              <a:spcBef>
                <a:spcPts val="400"/>
              </a:spcBef>
            </a:pPr>
            <a:r>
              <a:rPr sz="1700">
                <a:solidFill>
                  <a:srgbClr val="F0F0F0"/>
                </a:solidFill>
              </a:rPr>
              <a:t>• Explore the PERMA model: Positive emotions, Engagement, Relationships, Meaning, Accomplishment</a:t>
            </a:r>
          </a:p>
          <a:p>
            <a:pPr>
              <a:spcBef>
                <a:spcPts val="400"/>
              </a:spcBef>
            </a:pPr>
            <a:r>
              <a:rPr sz="1700">
                <a:solidFill>
                  <a:srgbClr val="F0F0F0"/>
                </a:solidFill>
              </a:rPr>
              <a:t>• Identify evidence-based positive psychology interventions</a:t>
            </a:r>
          </a:p>
          <a:p>
            <a:pPr>
              <a:spcBef>
                <a:spcPts val="400"/>
              </a:spcBef>
            </a:pPr>
            <a:r>
              <a:rPr sz="1700">
                <a:solidFill>
                  <a:srgbClr val="F0F0F0"/>
                </a:solidFill>
              </a:rPr>
              <a:t>• Develop skills for identifying and using personal strengths</a:t>
            </a:r>
          </a:p>
          <a:p>
            <a:pPr>
              <a:spcBef>
                <a:spcPts val="400"/>
              </a:spcBef>
            </a:pPr>
            <a:r>
              <a:rPr sz="1700">
                <a:solidFill>
                  <a:srgbClr val="F0F0F0"/>
                </a:solidFill>
              </a:rPr>
              <a:t>• Understand the relationship between gratitude, optimism and wellbeing</a:t>
            </a:r>
          </a:p>
          <a:p>
            <a:pPr>
              <a:spcBef>
                <a:spcPts val="400"/>
              </a:spcBef>
            </a:pPr>
            <a:r>
              <a:rPr sz="1700">
                <a:solidFill>
                  <a:srgbClr val="F0F0F0"/>
                </a:solidFill>
              </a:rPr>
              <a:t>• Develop a personal wellbeing action plan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46: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Positive psychology: the scientific study of what makes life worth living (Seligman, 2011)</a:t>
            </a:r>
          </a:p>
          <a:p>
            <a:pPr>
              <a:spcBef>
                <a:spcPts val="400"/>
              </a:spcBef>
            </a:pPr>
            <a:r>
              <a:rPr sz="1700">
                <a:solidFill>
                  <a:srgbClr val="F0F0F0"/>
                </a:solidFill>
              </a:rPr>
              <a:t>• PERMA model: Positive emotions, Engagement, Relationships, Meaning, Accomplishment</a:t>
            </a:r>
          </a:p>
          <a:p>
            <a:pPr>
              <a:spcBef>
                <a:spcPts val="400"/>
              </a:spcBef>
            </a:pPr>
            <a:r>
              <a:rPr sz="1700">
                <a:solidFill>
                  <a:srgbClr val="F0F0F0"/>
                </a:solidFill>
              </a:rPr>
              <a:t>• Character strengths: 24 universal strengths identified by the VIA Institute</a:t>
            </a:r>
          </a:p>
          <a:p>
            <a:pPr>
              <a:spcBef>
                <a:spcPts val="400"/>
              </a:spcBef>
            </a:pPr>
            <a:r>
              <a:rPr sz="1700">
                <a:solidFill>
                  <a:srgbClr val="F0F0F0"/>
                </a:solidFill>
              </a:rPr>
              <a:t>• Flow: the state of complete absorption in a challenging, meaningful activity</a:t>
            </a:r>
          </a:p>
          <a:p>
            <a:pPr>
              <a:spcBef>
                <a:spcPts val="400"/>
              </a:spcBef>
            </a:pPr>
            <a:r>
              <a:rPr sz="1700">
                <a:solidFill>
                  <a:srgbClr val="F0F0F0"/>
                </a:solidFill>
              </a:rPr>
              <a:t>• Gratitude: regularly expressing gratitude improves wellbeing and reduces depression</a:t>
            </a:r>
          </a:p>
          <a:p>
            <a:pPr>
              <a:spcBef>
                <a:spcPts val="400"/>
              </a:spcBef>
            </a:pPr>
            <a:r>
              <a:rPr sz="1700">
                <a:solidFill>
                  <a:srgbClr val="F0F0F0"/>
                </a:solidFill>
              </a:rPr>
              <a:t>• Optimism: learned optimism can be developed through cognitive techniques</a:t>
            </a:r>
          </a:p>
          <a:p>
            <a:pPr>
              <a:spcBef>
                <a:spcPts val="400"/>
              </a:spcBef>
            </a:pPr>
            <a:r>
              <a:rPr sz="1700">
                <a:solidFill>
                  <a:srgbClr val="F0F0F0"/>
                </a:solidFill>
              </a:rPr>
              <a:t>• Flourishing: the highest level of wellbeing — thriving rather than merely surviving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Gratitude journaling reduces depression by 35% and increases wellbeing (Emmons &amp; McCullough)</a:t>
            </a:r>
          </a:p>
          <a:p>
            <a:pPr>
              <a:spcBef>
                <a:spcPts val="400"/>
              </a:spcBef>
            </a:pPr>
            <a:r>
              <a:rPr sz="1700">
                <a:solidFill>
                  <a:srgbClr val="F0F0F0"/>
                </a:solidFill>
              </a:rPr>
              <a:t>• Using character strengths in new ways increases wellbeing for 6 months (Seligman et al.)</a:t>
            </a:r>
          </a:p>
          <a:p>
            <a:pPr>
              <a:spcBef>
                <a:spcPts val="400"/>
              </a:spcBef>
            </a:pPr>
            <a:r>
              <a:rPr sz="1700">
                <a:solidFill>
                  <a:srgbClr val="F0F0F0"/>
                </a:solidFill>
              </a:rPr>
              <a:t>• Flow activities reduce anxiety and depression and improve life satisfaction</a:t>
            </a:r>
          </a:p>
          <a:p>
            <a:pPr>
              <a:spcBef>
                <a:spcPts val="400"/>
              </a:spcBef>
            </a:pPr>
            <a:r>
              <a:rPr sz="1700">
                <a:solidFill>
                  <a:srgbClr val="F0F0F0"/>
                </a:solidFill>
              </a:rPr>
              <a:t>• Positive relationships are the strongest predictor of long-term happiness (Harvard Study)</a:t>
            </a:r>
          </a:p>
          <a:p>
            <a:pPr>
              <a:spcBef>
                <a:spcPts val="400"/>
              </a:spcBef>
            </a:pPr>
            <a:r>
              <a:rPr sz="1700">
                <a:solidFill>
                  <a:srgbClr val="F0F0F0"/>
                </a:solidFill>
              </a:rPr>
              <a:t>• Optimism is associated with 11–15% longer lifespan (Rozanski et al., 2019)</a:t>
            </a:r>
          </a:p>
          <a:p>
            <a:pPr>
              <a:spcBef>
                <a:spcPts val="400"/>
              </a:spcBef>
            </a:pPr>
            <a:r>
              <a:rPr sz="1700">
                <a:solidFill>
                  <a:srgbClr val="F0F0F0"/>
                </a:solidFill>
              </a:rPr>
              <a:t>• Acts of kindness increase wellbeing for both the giver and receiver</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PERMA model is a validated framework for measuring and improving wellbeing</a:t>
            </a:r>
          </a:p>
          <a:p>
            <a:pPr>
              <a:spcBef>
                <a:spcPts val="400"/>
              </a:spcBef>
            </a:pPr>
            <a:r>
              <a:rPr sz="1700">
                <a:solidFill>
                  <a:srgbClr val="F0F0F0"/>
                </a:solidFill>
              </a:rPr>
              <a:t>• VIA Character Strengths assessment is free and widely used (viacharacter.org)</a:t>
            </a:r>
          </a:p>
          <a:p>
            <a:pPr>
              <a:spcBef>
                <a:spcPts val="400"/>
              </a:spcBef>
            </a:pPr>
            <a:r>
              <a:rPr sz="1700">
                <a:solidFill>
                  <a:srgbClr val="F0F0F0"/>
                </a:solidFill>
              </a:rPr>
              <a:t>• Gratitude interventions are effective for depression and wellbeing improvement</a:t>
            </a:r>
          </a:p>
          <a:p>
            <a:pPr>
              <a:spcBef>
                <a:spcPts val="400"/>
              </a:spcBef>
            </a:pPr>
            <a:r>
              <a:rPr sz="1700">
                <a:solidFill>
                  <a:srgbClr val="F0F0F0"/>
                </a:solidFill>
              </a:rPr>
              <a:t>• Positive psychology interventions are effective adjuncts to CBT for depression</a:t>
            </a:r>
          </a:p>
          <a:p>
            <a:pPr>
              <a:spcBef>
                <a:spcPts val="400"/>
              </a:spcBef>
            </a:pPr>
            <a:r>
              <a:rPr sz="1700">
                <a:solidFill>
                  <a:srgbClr val="F0F0F0"/>
                </a:solidFill>
              </a:rPr>
              <a:t>• Flow activities significantly improve engagement and life satisfaction</a:t>
            </a:r>
          </a:p>
          <a:p>
            <a:pPr>
              <a:spcBef>
                <a:spcPts val="400"/>
              </a:spcBef>
            </a:pPr>
            <a:r>
              <a:rPr sz="1700">
                <a:solidFill>
                  <a:srgbClr val="F0F0F0"/>
                </a:solidFill>
              </a:rPr>
              <a:t>• Positive psychology is most effective when combined with addressing mental health problems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Paul, 52, had recovered from depression but felt his life lacked meaning and purpose. His therapist introduced him to positive psychology and the PERMA model. Paul completed the VIA Character Strengths assessment and identified his top strengths as creativity, curiosity and love of learning. He began volunteering as a mentor for young people, which gave him a sense of purpose and connection. He also started a gratitude journal. Paul described his life as 'transformed' by positive psychology.</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Gratitude journaling: writing 3 things you are grateful for each day</a:t>
            </a:r>
          </a:p>
          <a:p>
            <a:pPr>
              <a:spcBef>
                <a:spcPts val="400"/>
              </a:spcBef>
            </a:pPr>
            <a:r>
              <a:rPr sz="1700">
                <a:solidFill>
                  <a:srgbClr val="F0F0F0"/>
                </a:solidFill>
              </a:rPr>
              <a:t>• VIA Character Strengths: identifying and using your top strengths in new ways</a:t>
            </a:r>
          </a:p>
          <a:p>
            <a:pPr>
              <a:spcBef>
                <a:spcPts val="400"/>
              </a:spcBef>
            </a:pPr>
            <a:r>
              <a:rPr sz="1700">
                <a:solidFill>
                  <a:srgbClr val="F0F0F0"/>
                </a:solidFill>
              </a:rPr>
              <a:t>• Flow activities: identifying and scheduling activities that produce flow</a:t>
            </a:r>
          </a:p>
          <a:p>
            <a:pPr>
              <a:spcBef>
                <a:spcPts val="400"/>
              </a:spcBef>
            </a:pPr>
            <a:r>
              <a:rPr sz="1700">
                <a:solidFill>
                  <a:srgbClr val="F0F0F0"/>
                </a:solidFill>
              </a:rPr>
              <a:t>• Acts of kindness: performing 5 acts of kindness in one day increases wellbeing</a:t>
            </a:r>
          </a:p>
          <a:p>
            <a:pPr>
              <a:spcBef>
                <a:spcPts val="400"/>
              </a:spcBef>
            </a:pPr>
            <a:r>
              <a:rPr sz="1700">
                <a:solidFill>
                  <a:srgbClr val="F0F0F0"/>
                </a:solidFill>
              </a:rPr>
              <a:t>• Mindfulness: present-moment awareness supports positive emotions</a:t>
            </a:r>
          </a:p>
          <a:p>
            <a:pPr>
              <a:spcBef>
                <a:spcPts val="400"/>
              </a:spcBef>
            </a:pPr>
            <a:r>
              <a:rPr sz="1700">
                <a:solidFill>
                  <a:srgbClr val="F0F0F0"/>
                </a:solidFill>
              </a:rPr>
              <a:t>• Positive relationships: investing in close relationships and social connection</a:t>
            </a:r>
          </a:p>
          <a:p>
            <a:pPr>
              <a:spcBef>
                <a:spcPts val="400"/>
              </a:spcBef>
            </a:pPr>
            <a:r>
              <a:rPr sz="1700">
                <a:solidFill>
                  <a:srgbClr val="F0F0F0"/>
                </a:solidFill>
              </a:rPr>
              <a:t>• Meaning and purpose: identifying values and living in alignment with them</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Strengths spotting: Participants complete the free VIA Character Strengths survey (viacharacter.org) and identify their top 5 strengths. Discuss: How do you use your strengths in daily life? How could you use them in new ways to increase wellbeing?</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does 'flourishing' mean to you — what would it look like in your life?</a:t>
            </a:r>
          </a:p>
          <a:p>
            <a:pPr>
              <a:spcBef>
                <a:spcPts val="400"/>
              </a:spcBef>
            </a:pPr>
            <a:r>
              <a:rPr sz="1700">
                <a:solidFill>
                  <a:srgbClr val="F0F0F0"/>
                </a:solidFill>
              </a:rPr>
              <a:t>• How does gratitude affect your mental health and relationships?</a:t>
            </a:r>
          </a:p>
          <a:p>
            <a:pPr>
              <a:spcBef>
                <a:spcPts val="400"/>
              </a:spcBef>
            </a:pPr>
            <a:r>
              <a:rPr sz="1700">
                <a:solidFill>
                  <a:srgbClr val="F0F0F0"/>
                </a:solidFill>
              </a:rPr>
              <a:t>• What activities produce flow for you?</a:t>
            </a:r>
          </a:p>
          <a:p>
            <a:pPr>
              <a:spcBef>
                <a:spcPts val="400"/>
              </a:spcBef>
            </a:pPr>
            <a:r>
              <a:rPr sz="1700">
                <a:solidFill>
                  <a:srgbClr val="F0F0F0"/>
                </a:solidFill>
              </a:rPr>
              <a:t>• How can positive psychology complement traditional mental health treatment?</a:t>
            </a:r>
          </a:p>
          <a:p>
            <a:pPr>
              <a:spcBef>
                <a:spcPts val="400"/>
              </a:spcBef>
            </a:pPr>
            <a:r>
              <a:rPr sz="1700">
                <a:solidFill>
                  <a:srgbClr val="F0F0F0"/>
                </a:solidFill>
              </a:rPr>
              <a:t>• What positive psychology resources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VIA Institute on Character: viacharacter.org (free strengths assessment)</a:t>
            </a:r>
          </a:p>
          <a:p>
            <a:pPr>
              <a:spcBef>
                <a:spcPts val="400"/>
              </a:spcBef>
            </a:pPr>
            <a:r>
              <a:rPr sz="1400">
                <a:solidFill>
                  <a:srgbClr val="F0F0F0"/>
                </a:solidFill>
              </a:rPr>
              <a:t>• Action for Happiness: actionforhappiness.org</a:t>
            </a:r>
          </a:p>
          <a:p>
            <a:pPr>
              <a:spcBef>
                <a:spcPts val="400"/>
              </a:spcBef>
            </a:pPr>
            <a:r>
              <a:rPr sz="1400">
                <a:solidFill>
                  <a:srgbClr val="F0F0F0"/>
                </a:solidFill>
              </a:rPr>
              <a:t>• Mind UK: Wellbeing (mind.org.uk)</a:t>
            </a:r>
          </a:p>
          <a:p>
            <a:pPr>
              <a:spcBef>
                <a:spcPts val="400"/>
              </a:spcBef>
            </a:pPr>
            <a:r>
              <a:rPr sz="1400">
                <a:solidFill>
                  <a:srgbClr val="F0F0F0"/>
                </a:solidFill>
              </a:rPr>
              <a:t>• NHS Every Mind Matters: nhs.uk/every-mind-matters</a:t>
            </a:r>
          </a:p>
          <a:p>
            <a:pPr>
              <a:spcBef>
                <a:spcPts val="400"/>
              </a:spcBef>
            </a:pPr>
            <a:r>
              <a:rPr sz="1400">
                <a:solidFill>
                  <a:srgbClr val="F0F0F0"/>
                </a:solidFill>
              </a:rPr>
              <a:t>• Seligman, M: Flourish (2011)</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46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Positive Psychology and Wellbeing</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46: Positive Psychology and Wellbeing</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
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20</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Impulse-Control and Disruptive Disorders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Impulse-control and disruptive behaviour disorders — including intermittent explosive disorder, conduct disorder, oppositional defiant disorder, kleptomania and pyromania — are characterised by difficulties regulating emotions and behaviour. This module explores their features, causes and evidence-based interventions.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impulse-control and disruptive behaviour disorders</a:t>
            </a:r>
          </a:p>
          <a:p>
            <a:pPr>
              <a:spcBef>
                <a:spcPts val="400"/>
              </a:spcBef>
            </a:pPr>
            <a:r>
              <a:rPr sz="1700">
                <a:solidFill>
                  <a:srgbClr val="F0F0F0"/>
                </a:solidFill>
              </a:rPr>
              <a:t>• Identify the features of IED, conduct disorder, ODD, kleptomania and pyromania</a:t>
            </a:r>
          </a:p>
          <a:p>
            <a:pPr>
              <a:spcBef>
                <a:spcPts val="400"/>
              </a:spcBef>
            </a:pPr>
            <a:r>
              <a:rPr sz="1700">
                <a:solidFill>
                  <a:srgbClr val="F0F0F0"/>
                </a:solidFill>
              </a:rPr>
              <a:t>• Understand the neurobiological and environmental factors contributing to these disorders</a:t>
            </a:r>
          </a:p>
          <a:p>
            <a:pPr>
              <a:spcBef>
                <a:spcPts val="400"/>
              </a:spcBef>
            </a:pPr>
            <a:r>
              <a:rPr sz="1700">
                <a:solidFill>
                  <a:srgbClr val="F0F0F0"/>
                </a:solidFill>
              </a:rPr>
              <a:t>• Explore the relationship between impulse-control disorders and trauma</a:t>
            </a:r>
          </a:p>
          <a:p>
            <a:pPr>
              <a:spcBef>
                <a:spcPts val="400"/>
              </a:spcBef>
            </a:pPr>
            <a:r>
              <a:rPr sz="1700">
                <a:solidFill>
                  <a:srgbClr val="F0F0F0"/>
                </a:solidFill>
              </a:rPr>
              <a:t>• Learn evidence-based interventions: behavioural therapy, parent training, DBT</a:t>
            </a:r>
          </a:p>
          <a:p>
            <a:pPr>
              <a:spcBef>
                <a:spcPts val="400"/>
              </a:spcBef>
            </a:pPr>
            <a:r>
              <a:rPr sz="1700">
                <a:solidFill>
                  <a:srgbClr val="F0F0F0"/>
                </a:solidFill>
              </a:rPr>
              <a:t>• Develop skills for de-escalation and supporting someone in emotional dysregulation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20: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Intermittent explosive disorder (IED): recurrent aggressive outbursts disproportionate to triggers</a:t>
            </a:r>
          </a:p>
          <a:p>
            <a:pPr>
              <a:spcBef>
                <a:spcPts val="400"/>
              </a:spcBef>
            </a:pPr>
            <a:r>
              <a:rPr sz="1700">
                <a:solidFill>
                  <a:srgbClr val="F0F0F0"/>
                </a:solidFill>
              </a:rPr>
              <a:t>• Conduct disorder: persistent pattern of behaviour violating others' rights or social norms</a:t>
            </a:r>
          </a:p>
          <a:p>
            <a:pPr>
              <a:spcBef>
                <a:spcPts val="400"/>
              </a:spcBef>
            </a:pPr>
            <a:r>
              <a:rPr sz="1700">
                <a:solidFill>
                  <a:srgbClr val="F0F0F0"/>
                </a:solidFill>
              </a:rPr>
              <a:t>• Oppositional defiant disorder (ODD): angry, irritable mood, argumentative and defiant behaviour</a:t>
            </a:r>
          </a:p>
          <a:p>
            <a:pPr>
              <a:spcBef>
                <a:spcPts val="400"/>
              </a:spcBef>
            </a:pPr>
            <a:r>
              <a:rPr sz="1700">
                <a:solidFill>
                  <a:srgbClr val="F0F0F0"/>
                </a:solidFill>
              </a:rPr>
              <a:t>• Kleptomania: recurrent failure to resist urges to steal items not needed for personal use</a:t>
            </a:r>
          </a:p>
          <a:p>
            <a:pPr>
              <a:spcBef>
                <a:spcPts val="400"/>
              </a:spcBef>
            </a:pPr>
            <a:r>
              <a:rPr sz="1700">
                <a:solidFill>
                  <a:srgbClr val="F0F0F0"/>
                </a:solidFill>
              </a:rPr>
              <a:t>• Pyromania: deliberate fire-setting for pleasure, tension relief or gratification</a:t>
            </a:r>
          </a:p>
          <a:p>
            <a:pPr>
              <a:spcBef>
                <a:spcPts val="400"/>
              </a:spcBef>
            </a:pPr>
            <a:r>
              <a:rPr sz="1700">
                <a:solidFill>
                  <a:srgbClr val="F0F0F0"/>
                </a:solidFill>
              </a:rPr>
              <a:t>• Neurobiological factors: serotonin dysregulation, amygdala hyperreactivity</a:t>
            </a:r>
          </a:p>
          <a:p>
            <a:pPr>
              <a:spcBef>
                <a:spcPts val="400"/>
              </a:spcBef>
            </a:pPr>
            <a:r>
              <a:rPr sz="1700">
                <a:solidFill>
                  <a:srgbClr val="F0F0F0"/>
                </a:solidFill>
              </a:rPr>
              <a:t>• Environmental factors: trauma, adverse childhood experiences, inconsistent parenting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IED affects 3–5% of adults in the UK</a:t>
            </a:r>
          </a:p>
          <a:p>
            <a:pPr>
              <a:spcBef>
                <a:spcPts val="400"/>
              </a:spcBef>
            </a:pPr>
            <a:r>
              <a:rPr sz="1700">
                <a:solidFill>
                  <a:srgbClr val="F0F0F0"/>
                </a:solidFill>
              </a:rPr>
              <a:t>• Conduct disorder affects 5% of children and adolescents in the UK</a:t>
            </a:r>
          </a:p>
          <a:p>
            <a:pPr>
              <a:spcBef>
                <a:spcPts val="400"/>
              </a:spcBef>
            </a:pPr>
            <a:r>
              <a:rPr sz="1700">
                <a:solidFill>
                  <a:srgbClr val="F0F0F0"/>
                </a:solidFill>
              </a:rPr>
              <a:t>• ODD affects 3–5% of school-age children</a:t>
            </a:r>
          </a:p>
          <a:p>
            <a:pPr>
              <a:spcBef>
                <a:spcPts val="400"/>
              </a:spcBef>
            </a:pPr>
            <a:r>
              <a:rPr sz="1700">
                <a:solidFill>
                  <a:srgbClr val="F0F0F0"/>
                </a:solidFill>
              </a:rPr>
              <a:t>• Trauma is present in 70–80% of young people with conduct disorder</a:t>
            </a:r>
          </a:p>
          <a:p>
            <a:pPr>
              <a:spcBef>
                <a:spcPts val="400"/>
              </a:spcBef>
            </a:pPr>
            <a:r>
              <a:rPr sz="1700">
                <a:solidFill>
                  <a:srgbClr val="F0F0F0"/>
                </a:solidFill>
              </a:rPr>
              <a:t>• Parent training reduces conduct disorder symptoms by 30–50% (NICE)</a:t>
            </a:r>
          </a:p>
          <a:p>
            <a:pPr>
              <a:spcBef>
                <a:spcPts val="400"/>
              </a:spcBef>
            </a:pPr>
            <a:r>
              <a:rPr sz="1700">
                <a:solidFill>
                  <a:srgbClr val="F0F0F0"/>
                </a:solidFill>
              </a:rPr>
              <a:t>• Children with conduct disorder are 4 times more likely to develop antisocial personality disorder</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DBT is effective for emotional dysregulation in impulse-control disorders</a:t>
            </a:r>
          </a:p>
          <a:p>
            <a:pPr>
              <a:spcBef>
                <a:spcPts val="400"/>
              </a:spcBef>
            </a:pPr>
            <a:r>
              <a:rPr sz="1700">
                <a:solidFill>
                  <a:srgbClr val="F0F0F0"/>
                </a:solidFill>
              </a:rPr>
              <a:t>• Multi-systemic therapy (MST) is effective for severe conduct disorder in adolescents</a:t>
            </a:r>
          </a:p>
          <a:p>
            <a:pPr>
              <a:spcBef>
                <a:spcPts val="400"/>
              </a:spcBef>
            </a:pPr>
            <a:r>
              <a:rPr sz="1700">
                <a:solidFill>
                  <a:srgbClr val="F0F0F0"/>
                </a:solidFill>
              </a:rPr>
              <a:t>• Parent training programmes (Incredible Years, Triple P) reduce conduct disorder symptoms</a:t>
            </a:r>
          </a:p>
          <a:p>
            <a:pPr>
              <a:spcBef>
                <a:spcPts val="400"/>
              </a:spcBef>
            </a:pPr>
            <a:r>
              <a:rPr sz="1700">
                <a:solidFill>
                  <a:srgbClr val="F0F0F0"/>
                </a:solidFill>
              </a:rPr>
              <a:t>• Trauma-informed approaches significantly improve outcomes in conduct disorder</a:t>
            </a:r>
          </a:p>
          <a:p>
            <a:pPr>
              <a:spcBef>
                <a:spcPts val="400"/>
              </a:spcBef>
            </a:pPr>
            <a:r>
              <a:rPr sz="1700">
                <a:solidFill>
                  <a:srgbClr val="F0F0F0"/>
                </a:solidFill>
              </a:rPr>
              <a:t>• Medication: risperidone for severe aggression; SSRIs for co-occurring anxiety/depression</a:t>
            </a:r>
          </a:p>
          <a:p>
            <a:pPr>
              <a:spcBef>
                <a:spcPts val="400"/>
              </a:spcBef>
            </a:pPr>
            <a:r>
              <a:rPr sz="1700">
                <a:solidFill>
                  <a:srgbClr val="F0F0F0"/>
                </a:solidFill>
              </a:rPr>
              <a:t>• School-based social-emotional learning programmes reduce disruptive behaviour</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Ryan, 15, had been excluded from three schools for aggressive outbursts and property destruction. He had experienced significant childhood trauma and had been diagnosed with ODD. A specialist CAMHS team worked with Ryan and his foster carers using a trauma-informed approach. Ryan began DBT skills training, learning distress tolerance and emotion regulation techniques. His foster carers received parent training. Over 18 months, Ryan's exclusions reduced to zero and he began engaging positively in education.</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Behavioural therapy: functional analysis, positive reinforcement, contingency management</a:t>
            </a:r>
          </a:p>
          <a:p>
            <a:pPr>
              <a:spcBef>
                <a:spcPts val="400"/>
              </a:spcBef>
            </a:pPr>
            <a:r>
              <a:rPr sz="1700">
                <a:solidFill>
                  <a:srgbClr val="F0F0F0"/>
                </a:solidFill>
              </a:rPr>
              <a:t>• Parent training: Incredible Years, Triple P, Webster-Stratton programmes</a:t>
            </a:r>
          </a:p>
          <a:p>
            <a:pPr>
              <a:spcBef>
                <a:spcPts val="400"/>
              </a:spcBef>
            </a:pPr>
            <a:r>
              <a:rPr sz="1700">
                <a:solidFill>
                  <a:srgbClr val="F0F0F0"/>
                </a:solidFill>
              </a:rPr>
              <a:t>• DBT skills: distress tolerance (TIPP, ACCEPTS), emotion regulation, interpersonal effectiveness</a:t>
            </a:r>
          </a:p>
          <a:p>
            <a:pPr>
              <a:spcBef>
                <a:spcPts val="400"/>
              </a:spcBef>
            </a:pPr>
            <a:r>
              <a:rPr sz="1700">
                <a:solidFill>
                  <a:srgbClr val="F0F0F0"/>
                </a:solidFill>
              </a:rPr>
              <a:t>• Trauma-informed care: addressing underlying trauma driving dysregulation</a:t>
            </a:r>
          </a:p>
          <a:p>
            <a:pPr>
              <a:spcBef>
                <a:spcPts val="400"/>
              </a:spcBef>
            </a:pPr>
            <a:r>
              <a:rPr sz="1700">
                <a:solidFill>
                  <a:srgbClr val="F0F0F0"/>
                </a:solidFill>
              </a:rPr>
              <a:t>• Multi-systemic therapy (MST): intensive family and community-based intervention</a:t>
            </a:r>
          </a:p>
          <a:p>
            <a:pPr>
              <a:spcBef>
                <a:spcPts val="400"/>
              </a:spcBef>
            </a:pPr>
            <a:r>
              <a:rPr sz="1700">
                <a:solidFill>
                  <a:srgbClr val="F0F0F0"/>
                </a:solidFill>
              </a:rPr>
              <a:t>• School-based interventions: social-emotional learning, restorative practice</a:t>
            </a:r>
          </a:p>
          <a:p>
            <a:pPr>
              <a:spcBef>
                <a:spcPts val="400"/>
              </a:spcBef>
            </a:pPr>
            <a:r>
              <a:rPr sz="1700">
                <a:solidFill>
                  <a:srgbClr val="F0F0F0"/>
                </a:solidFill>
              </a:rPr>
              <a:t>• Medication: risperidone for severe aggression; SSRIs for co-occurring anxiety/depression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Emotion regulation exercise: Participants practise the DBT TIPP skill (Temperature, Intense exercise, Paced breathing, Progressive relaxation) for managing overwhelming emotions. Discuss: What triggers emotional dysregulation for you? What helps you regulate?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is the difference between a bad temper and intermittent explosive disorder?</a:t>
            </a:r>
          </a:p>
          <a:p>
            <a:pPr>
              <a:spcBef>
                <a:spcPts val="400"/>
              </a:spcBef>
            </a:pPr>
            <a:r>
              <a:rPr sz="1700">
                <a:solidFill>
                  <a:srgbClr val="F0F0F0"/>
                </a:solidFill>
              </a:rPr>
              <a:t>• How does trauma contribute to impulse-control difficulties?</a:t>
            </a:r>
          </a:p>
          <a:p>
            <a:pPr>
              <a:spcBef>
                <a:spcPts val="400"/>
              </a:spcBef>
            </a:pPr>
            <a:r>
              <a:rPr sz="1700">
                <a:solidFill>
                  <a:srgbClr val="F0F0F0"/>
                </a:solidFill>
              </a:rPr>
              <a:t>• What challenges do children with conduct disorder face in school and society?</a:t>
            </a:r>
          </a:p>
          <a:p>
            <a:pPr>
              <a:spcBef>
                <a:spcPts val="400"/>
              </a:spcBef>
            </a:pPr>
            <a:r>
              <a:rPr sz="1700">
                <a:solidFill>
                  <a:srgbClr val="F0F0F0"/>
                </a:solidFill>
              </a:rPr>
              <a:t>• How can we respond to aggressive behaviour without escalating the situation?</a:t>
            </a:r>
          </a:p>
          <a:p>
            <a:pPr>
              <a:spcBef>
                <a:spcPts val="400"/>
              </a:spcBef>
            </a:pPr>
            <a:r>
              <a:rPr sz="1700">
                <a:solidFill>
                  <a:srgbClr val="F0F0F0"/>
                </a:solidFill>
              </a:rPr>
              <a:t>• What CAMHS and specialist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NG58: Antisocial behaviour and conduct disorders (2013, updated 2017)</a:t>
            </a:r>
          </a:p>
          <a:p>
            <a:pPr>
              <a:spcBef>
                <a:spcPts val="400"/>
              </a:spcBef>
            </a:pPr>
            <a:r>
              <a:rPr sz="1400">
                <a:solidFill>
                  <a:srgbClr val="F0F0F0"/>
                </a:solidFill>
              </a:rPr>
              <a:t>• Mind UK: Anger (mind.org.uk)</a:t>
            </a:r>
          </a:p>
          <a:p>
            <a:pPr>
              <a:spcBef>
                <a:spcPts val="400"/>
              </a:spcBef>
            </a:pPr>
            <a:r>
              <a:rPr sz="1400">
                <a:solidFill>
                  <a:srgbClr val="F0F0F0"/>
                </a:solidFill>
              </a:rPr>
              <a:t>• NHS: Conduct disorder (nhs.uk/conditions/conduct-disorder)</a:t>
            </a:r>
          </a:p>
          <a:p>
            <a:pPr>
              <a:spcBef>
                <a:spcPts val="400"/>
              </a:spcBef>
            </a:pPr>
            <a:r>
              <a:rPr sz="1400">
                <a:solidFill>
                  <a:srgbClr val="F0F0F0"/>
                </a:solidFill>
              </a:rPr>
              <a:t>• Young Minds: youngminds.org.uk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20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Impulse-Control and Disruptive Disorders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20: Impulse-Control and Disruptive Disorders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
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548640"/>
          </a:xfrm>
          <a:prstGeom prst="rect">
            <a:avLst/>
          </a:prstGeom>
          <a:noFill/>
        </p:spPr>
        <p:txBody>
          <a:bodyPr wrap="square">
            <a:spAutoFit/>
          </a:bodyPr>
          <a:lstStyle/>
          <a:p>
            <a:pPr algn="l"/>
            <a:r>
              <a:rPr sz="3600" b="1" i="0">
                <a:solidFill>
                  <a:srgbClr val="1A1A1A"/>
                </a:solidFill>
              </a:rPr>
              <a:t>Module 22</a:t>
            </a:r>
          </a:p>
        </p:txBody>
      </p:sp>
      <p:sp>
        <p:nvSpPr>
          <p:cNvPr id="6" name="TextBox 5"/>
          <p:cNvSpPr txBox="1"/>
          <p:nvPr/>
        </p:nvSpPr>
        <p:spPr>
          <a:xfrm>
            <a:off x="457200" y="640080"/>
            <a:ext cx="7589520" cy="914400"/>
          </a:xfrm>
          <a:prstGeom prst="rect">
            <a:avLst/>
          </a:prstGeom>
          <a:noFill/>
        </p:spPr>
        <p:txBody>
          <a:bodyPr wrap="square">
            <a:spAutoFit/>
          </a:bodyPr>
          <a:lstStyle/>
          <a:p>
            <a:pPr algn="l"/>
            <a:r>
              <a:rPr sz="2600" b="0" i="0">
                <a:solidFill>
                  <a:srgbClr val="1A1A1A"/>
                </a:solidFill>
              </a:rPr>
              <a:t>Psychotic Disorders: Schizophrenia and Related Conditions</a:t>
            </a:r>
          </a:p>
        </p:txBody>
      </p:sp>
      <p:sp>
        <p:nvSpPr>
          <p:cNvPr id="7" name="TextBox 6"/>
          <p:cNvSpPr txBox="1"/>
          <p:nvPr/>
        </p:nvSpPr>
        <p:spPr>
          <a:xfrm>
            <a:off x="457200" y="2100000"/>
            <a:ext cx="8229600" cy="548640"/>
          </a:xfrm>
          <a:prstGeom prst="rect">
            <a:avLst/>
          </a:prstGeom>
          <a:noFill/>
        </p:spPr>
        <p:txBody>
          <a:bodyPr wrap="square">
            <a:spAutoFit/>
          </a:bodyPr>
          <a:lstStyle/>
          <a:p>
            <a:pPr algn="l"/>
            <a:r>
              <a:rPr sz="2000" b="1" i="0">
                <a:solidFill>
                  <a:srgbClr val="FF6B00"/>
                </a:solidFill>
              </a:rPr>
              <a:t>Melksham Mental Health — Comprehensive Course</a:t>
            </a:r>
          </a:p>
        </p:txBody>
      </p:sp>
      <p:sp>
        <p:nvSpPr>
          <p:cNvPr id="8" name="TextBox 7"/>
          <p:cNvSpPr txBox="1"/>
          <p:nvPr/>
        </p:nvSpPr>
        <p:spPr>
          <a:xfrm>
            <a:off x="457200" y="2650000"/>
            <a:ext cx="8229600" cy="457200"/>
          </a:xfrm>
          <a:prstGeom prst="rect">
            <a:avLst/>
          </a:prstGeom>
          <a:noFill/>
        </p:spPr>
        <p:txBody>
          <a:bodyPr wrap="square">
            <a:spAutoFit/>
          </a:bodyPr>
          <a:lstStyle/>
          <a:p>
            <a:pPr algn="l"/>
            <a:r>
              <a:rPr sz="1600" b="0" i="0">
                <a:solidFill>
                  <a:srgbClr val="AAAAAA"/>
                </a:solidFill>
              </a:rPr>
              <a:t>2-hour session  •  Includes 30-minute group discussion</a:t>
            </a:r>
          </a:p>
        </p:txBody>
      </p:sp>
      <p:sp>
        <p:nvSpPr>
          <p:cNvPr id="9" name="TextBox 8"/>
          <p:cNvSpPr txBox="1"/>
          <p:nvPr/>
        </p:nvSpPr>
        <p:spPr>
          <a:xfrm>
            <a:off x="457200" y="5958000"/>
            <a:ext cx="8229600" cy="457200"/>
          </a:xfrm>
          <a:prstGeom prst="rect">
            <a:avLst/>
          </a:prstGeom>
          <a:noFill/>
        </p:spPr>
        <p:txBody>
          <a:bodyPr wrap="square">
            <a:spAutoFit/>
          </a:bodyPr>
          <a:lstStyle/>
          <a:p>
            <a:pPr algn="ctr"/>
            <a:r>
              <a:rPr sz="1200" b="0" i="0">
                <a:solidFill>
                  <a:srgbClr val="AAAAAA"/>
                </a:solidFill>
              </a:rPr>
              <a:t>melksham-mentalhealth.us  |  Melksham-mental-health@outlook.com</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Session Overview</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00000"/>
            <a:ext cx="8229600" cy="1400000"/>
          </a:xfrm>
          <a:prstGeom prst="rect">
            <a:avLst/>
          </a:prstGeom>
          <a:noFill/>
        </p:spPr>
        <p:txBody>
          <a:bodyPr wrap="square">
            <a:spAutoFit/>
          </a:bodyPr>
          <a:lstStyle/>
          <a:p>
            <a:pPr algn="l"/>
            <a:r>
              <a:rPr sz="1500" b="0" i="0">
                <a:solidFill>
                  <a:srgbClr val="F0F0F0"/>
                </a:solidFill>
              </a:rPr>
              <a:t>Psychotic disorders, including schizophrenia, schizoaffective disorder and brief psychotic disorder, are serious mental health conditions characterised by a break from reality. This module explores the positive and negative symptoms of psychosis, the neuroscience of dopamine dysregulation, and the evidence-based treatments that support recovery.</a:t>
            </a:r>
          </a:p>
        </p:txBody>
      </p:sp>
      <p:sp>
        <p:nvSpPr>
          <p:cNvPr id="7" name="TextBox 6"/>
          <p:cNvSpPr txBox="1"/>
          <p:nvPr/>
        </p:nvSpPr>
        <p:spPr>
          <a:xfrm>
            <a:off x="457200" y="2700000"/>
            <a:ext cx="8229600" cy="3200000"/>
          </a:xfrm>
          <a:prstGeom prst="rect">
            <a:avLst/>
          </a:prstGeom>
          <a:noFill/>
        </p:spPr>
        <p:txBody>
          <a:bodyPr wrap="square">
            <a:spAutoFit/>
          </a:bodyPr>
          <a:lstStyle/>
          <a:p>
            <a:pPr>
              <a:spcBef>
                <a:spcPts val="400"/>
              </a:spcBef>
            </a:pPr>
            <a:r>
              <a:rPr sz="1700">
                <a:solidFill>
                  <a:srgbClr val="F0F0F0"/>
                </a:solidFill>
              </a:rPr>
              <a:t>• Introduction &amp; Objectives  (15 min)</a:t>
            </a:r>
          </a:p>
          <a:p>
            <a:pPr>
              <a:spcBef>
                <a:spcPts val="400"/>
              </a:spcBef>
            </a:pPr>
            <a:r>
              <a:rPr sz="1700">
                <a:solidFill>
                  <a:srgbClr val="F0F0F0"/>
                </a:solidFill>
              </a:rPr>
              <a:t>• Evidence-Based Content  (45 min)</a:t>
            </a:r>
          </a:p>
          <a:p>
            <a:pPr>
              <a:spcBef>
                <a:spcPts val="400"/>
              </a:spcBef>
            </a:pPr>
            <a:r>
              <a:rPr sz="1700">
                <a:solidFill>
                  <a:srgbClr val="F0F0F0"/>
                </a:solidFill>
              </a:rPr>
              <a:t>• Case Study  (15 min)</a:t>
            </a:r>
          </a:p>
          <a:p>
            <a:pPr>
              <a:spcBef>
                <a:spcPts val="400"/>
              </a:spcBef>
            </a:pPr>
            <a:r>
              <a:rPr sz="1700">
                <a:solidFill>
                  <a:srgbClr val="F0F0F0"/>
                </a:solidFill>
              </a:rPr>
              <a:t>• Interactive Activity  (30 min)</a:t>
            </a:r>
          </a:p>
          <a:p>
            <a:pPr>
              <a:spcBef>
                <a:spcPts val="400"/>
              </a:spcBef>
            </a:pPr>
            <a:r>
              <a:rPr sz="1700">
                <a:solidFill>
                  <a:srgbClr val="F0F0F0"/>
                </a:solidFill>
              </a:rPr>
              <a:t>• Group Discussion  (30 min)</a:t>
            </a:r>
          </a:p>
          <a:p>
            <a:pPr>
              <a:spcBef>
                <a:spcPts val="400"/>
              </a:spcBef>
            </a:pPr>
            <a:r>
              <a:rPr sz="1700">
                <a:solidFill>
                  <a:srgbClr val="F0F0F0"/>
                </a:solidFill>
              </a:rPr>
              <a:t>• Wrap-Up &amp; Resources  (15 min)</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Learning Objectives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Define psychosis and identify its positive and negative symptoms</a:t>
            </a:r>
          </a:p>
          <a:p>
            <a:pPr>
              <a:spcBef>
                <a:spcPts val="400"/>
              </a:spcBef>
            </a:pPr>
            <a:r>
              <a:rPr sz="1700">
                <a:solidFill>
                  <a:srgbClr val="F0F0F0"/>
                </a:solidFill>
              </a:rPr>
              <a:t>• Understand schizophrenia, schizoaffective disorder and brief psychotic disorder</a:t>
            </a:r>
          </a:p>
          <a:p>
            <a:pPr>
              <a:spcBef>
                <a:spcPts val="400"/>
              </a:spcBef>
            </a:pPr>
            <a:r>
              <a:rPr sz="1700">
                <a:solidFill>
                  <a:srgbClr val="F0F0F0"/>
                </a:solidFill>
              </a:rPr>
              <a:t>• Explore the neuroscience of dopamine dysregulation in psychosis</a:t>
            </a:r>
          </a:p>
          <a:p>
            <a:pPr>
              <a:spcBef>
                <a:spcPts val="400"/>
              </a:spcBef>
            </a:pPr>
            <a:r>
              <a:rPr sz="1700">
                <a:solidFill>
                  <a:srgbClr val="F0F0F0"/>
                </a:solidFill>
              </a:rPr>
              <a:t>• Understand the importance of early intervention in psychosis (EIP)</a:t>
            </a:r>
          </a:p>
          <a:p>
            <a:pPr>
              <a:spcBef>
                <a:spcPts val="400"/>
              </a:spcBef>
            </a:pPr>
            <a:r>
              <a:rPr sz="1700">
                <a:solidFill>
                  <a:srgbClr val="F0F0F0"/>
                </a:solidFill>
              </a:rPr>
              <a:t>• Explore evidence-based treatments: antipsychotics, CBTp, family intervention</a:t>
            </a:r>
          </a:p>
          <a:p>
            <a:pPr>
              <a:spcBef>
                <a:spcPts val="400"/>
              </a:spcBef>
            </a:pPr>
            <a:r>
              <a:rPr sz="1700">
                <a:solidFill>
                  <a:srgbClr val="F0F0F0"/>
                </a:solidFill>
              </a:rPr>
              <a:t>• Develop skills for supporting someone experiencing psychosis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Module 22: Key Topics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Positive symptoms: hallucinations, delusions, disorganised thinking and speech</a:t>
            </a:r>
          </a:p>
          <a:p>
            <a:pPr>
              <a:spcBef>
                <a:spcPts val="400"/>
              </a:spcBef>
            </a:pPr>
            <a:r>
              <a:rPr sz="1700">
                <a:solidFill>
                  <a:srgbClr val="F0F0F0"/>
                </a:solidFill>
              </a:rPr>
              <a:t>• Negative symptoms: flat affect, alogia, avolition, anhedonia, social withdrawal</a:t>
            </a:r>
          </a:p>
          <a:p>
            <a:pPr>
              <a:spcBef>
                <a:spcPts val="400"/>
              </a:spcBef>
            </a:pPr>
            <a:r>
              <a:rPr sz="1700">
                <a:solidFill>
                  <a:srgbClr val="F0F0F0"/>
                </a:solidFill>
              </a:rPr>
              <a:t>• Schizophrenia: chronic psychotic disorder with positive and negative symptoms</a:t>
            </a:r>
          </a:p>
          <a:p>
            <a:pPr>
              <a:spcBef>
                <a:spcPts val="400"/>
              </a:spcBef>
            </a:pPr>
            <a:r>
              <a:rPr sz="1700">
                <a:solidFill>
                  <a:srgbClr val="F0F0F0"/>
                </a:solidFill>
              </a:rPr>
              <a:t>• Schizoaffective disorder: combination of psychotic and mood disorder symptoms</a:t>
            </a:r>
          </a:p>
          <a:p>
            <a:pPr>
              <a:spcBef>
                <a:spcPts val="400"/>
              </a:spcBef>
            </a:pPr>
            <a:r>
              <a:rPr sz="1700">
                <a:solidFill>
                  <a:srgbClr val="F0F0F0"/>
                </a:solidFill>
              </a:rPr>
              <a:t>• Brief psychotic disorder: psychosis lasting less than 1 month</a:t>
            </a:r>
          </a:p>
          <a:p>
            <a:pPr>
              <a:spcBef>
                <a:spcPts val="400"/>
              </a:spcBef>
            </a:pPr>
            <a:r>
              <a:rPr sz="1700">
                <a:solidFill>
                  <a:srgbClr val="F0F0F0"/>
                </a:solidFill>
              </a:rPr>
              <a:t>• Dopamine hypothesis: excess dopamine activity in mesolimbic pathway</a:t>
            </a:r>
          </a:p>
          <a:p>
            <a:pPr>
              <a:spcBef>
                <a:spcPts val="400"/>
              </a:spcBef>
            </a:pPr>
            <a:r>
              <a:rPr sz="1700">
                <a:solidFill>
                  <a:srgbClr val="F0F0F0"/>
                </a:solidFill>
              </a:rPr>
              <a:t>• Early intervention in psychosis (EIP): critical window for treatment and recovery</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Key Statistics &amp; Prevalence</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Schizophrenia affects approximately 1% of the population worldwide</a:t>
            </a:r>
          </a:p>
          <a:p>
            <a:pPr>
              <a:spcBef>
                <a:spcPts val="400"/>
              </a:spcBef>
            </a:pPr>
            <a:r>
              <a:rPr sz="1700">
                <a:solidFill>
                  <a:srgbClr val="F0F0F0"/>
                </a:solidFill>
              </a:rPr>
              <a:t>• Psychosis affects 3 in 100 people at some point in their lives (NHS)</a:t>
            </a:r>
          </a:p>
          <a:p>
            <a:pPr>
              <a:spcBef>
                <a:spcPts val="400"/>
              </a:spcBef>
            </a:pPr>
            <a:r>
              <a:rPr sz="1700">
                <a:solidFill>
                  <a:srgbClr val="F0F0F0"/>
                </a:solidFill>
              </a:rPr>
              <a:t>• Average duration of untreated psychosis (DUP) in England: 1.5 years</a:t>
            </a:r>
          </a:p>
          <a:p>
            <a:pPr>
              <a:spcBef>
                <a:spcPts val="400"/>
              </a:spcBef>
            </a:pPr>
            <a:r>
              <a:rPr sz="1700">
                <a:solidFill>
                  <a:srgbClr val="F0F0F0"/>
                </a:solidFill>
              </a:rPr>
              <a:t>• Life expectancy: people with schizophrenia live 15–20 years less than average</a:t>
            </a:r>
          </a:p>
          <a:p>
            <a:pPr>
              <a:spcBef>
                <a:spcPts val="400"/>
              </a:spcBef>
            </a:pPr>
            <a:r>
              <a:rPr sz="1700">
                <a:solidFill>
                  <a:srgbClr val="F0F0F0"/>
                </a:solidFill>
              </a:rPr>
              <a:t>• Suicide risk: 5–10% of people with schizophrenia die by suicide</a:t>
            </a:r>
          </a:p>
          <a:p>
            <a:pPr>
              <a:spcBef>
                <a:spcPts val="400"/>
              </a:spcBef>
            </a:pPr>
            <a:r>
              <a:rPr sz="1700">
                <a:solidFill>
                  <a:srgbClr val="F0F0F0"/>
                </a:solidFill>
              </a:rPr>
              <a:t>• Early intervention reduces hospitalisation by 50% and improves long-term outcomes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Evidence &amp; Research</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000000"/>
          </a:xfrm>
          <a:prstGeom prst="rect">
            <a:avLst/>
          </a:prstGeom>
          <a:noFill/>
        </p:spPr>
        <p:txBody>
          <a:bodyPr wrap="square">
            <a:spAutoFit/>
          </a:bodyPr>
          <a:lstStyle/>
          <a:p>
            <a:pPr>
              <a:spcBef>
                <a:spcPts val="400"/>
              </a:spcBef>
            </a:pPr>
            <a:r>
              <a:rPr sz="1700">
                <a:solidFill>
                  <a:srgbClr val="F0F0F0"/>
                </a:solidFill>
              </a:rPr>
              <a:t>• NICE (NG185): recommends EIP and CBTp alongside antipsychotic medication</a:t>
            </a:r>
          </a:p>
          <a:p>
            <a:pPr>
              <a:spcBef>
                <a:spcPts val="400"/>
              </a:spcBef>
            </a:pPr>
            <a:r>
              <a:rPr sz="1700">
                <a:solidFill>
                  <a:srgbClr val="F0F0F0"/>
                </a:solidFill>
              </a:rPr>
              <a:t>• Antipsychotic medication is effective for positive symptoms in 70% of cases</a:t>
            </a:r>
          </a:p>
          <a:p>
            <a:pPr>
              <a:spcBef>
                <a:spcPts val="400"/>
              </a:spcBef>
            </a:pPr>
            <a:r>
              <a:rPr sz="1700">
                <a:solidFill>
                  <a:srgbClr val="F0F0F0"/>
                </a:solidFill>
              </a:rPr>
              <a:t>• CBT for psychosis (CBTp) is NICE-recommended alongside medication</a:t>
            </a:r>
          </a:p>
          <a:p>
            <a:pPr>
              <a:spcBef>
                <a:spcPts val="400"/>
              </a:spcBef>
            </a:pPr>
            <a:r>
              <a:rPr sz="1700">
                <a:solidFill>
                  <a:srgbClr val="F0F0F0"/>
                </a:solidFill>
              </a:rPr>
              <a:t>• Family intervention reduces relapse rates by 20–30% in schizophrenia</a:t>
            </a:r>
          </a:p>
          <a:p>
            <a:pPr>
              <a:spcBef>
                <a:spcPts val="400"/>
              </a:spcBef>
            </a:pPr>
            <a:r>
              <a:rPr sz="1700">
                <a:solidFill>
                  <a:srgbClr val="F0F0F0"/>
                </a:solidFill>
              </a:rPr>
              <a:t>• Supported employment (IPS model) significantly improves vocational outcomes</a:t>
            </a:r>
          </a:p>
          <a:p>
            <a:pPr>
              <a:spcBef>
                <a:spcPts val="400"/>
              </a:spcBef>
            </a:pPr>
            <a:r>
              <a:rPr sz="1700">
                <a:solidFill>
                  <a:srgbClr val="F0F0F0"/>
                </a:solidFill>
              </a:rPr>
              <a:t>• Clozapine is effective for treatment-resistant schizophrenia in 30–60% of cases</a:t>
            </a:r>
          </a:p>
        </p:txBody>
      </p:sp>
      <p:sp>
        <p:nvSpPr>
          <p:cNvPr id="7" name="TextBox 6"/>
          <p:cNvSpPr txBox="1"/>
          <p:nvPr/>
        </p:nvSpPr>
        <p:spPr>
          <a:xfrm>
            <a:off x="457200" y="5400000"/>
            <a:ext cx="8229600" cy="457200"/>
          </a:xfrm>
          <a:prstGeom prst="rect">
            <a:avLst/>
          </a:prstGeom>
          <a:noFill/>
        </p:spPr>
        <p:txBody>
          <a:bodyPr wrap="square">
            <a:spAutoFit/>
          </a:bodyPr>
          <a:lstStyle/>
          <a:p>
            <a:pPr algn="l"/>
            <a:r>
              <a:rPr sz="1300" b="1" i="0">
                <a:solidFill>
                  <a:srgbClr val="FF6B00"/>
                </a:solidFill>
              </a:rPr>
              <a:t>This content does not replace professional mental health advice.</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Case Study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200000"/>
          </a:xfrm>
          <a:prstGeom prst="rect">
            <a:avLst/>
          </a:prstGeom>
          <a:noFill/>
        </p:spPr>
        <p:txBody>
          <a:bodyPr wrap="square">
            <a:spAutoFit/>
          </a:bodyPr>
          <a:lstStyle/>
          <a:p>
            <a:pPr algn="l"/>
            <a:r>
              <a:rPr sz="1500" b="0" i="0">
                <a:solidFill>
                  <a:srgbClr val="F0F0F0"/>
                </a:solidFill>
              </a:rPr>
              <a:t>Thomas, 22, began experiencing auditory hallucinations and paranoid delusions during his first year at university. He believed his housemates were conspiring against him and stopped attending lectures. His family contacted an early intervention in psychosis (EIP) service, which assessed Thomas within two weeks. He began risperidone and CBT for psychosis. With support from his EIP team, Thomas returned to university part-time after six months and completed his degree.</a:t>
            </a:r>
          </a:p>
        </p:txBody>
      </p:sp>
      <p:sp>
        <p:nvSpPr>
          <p:cNvPr id="7" name="TextBox 6"/>
          <p:cNvSpPr txBox="1"/>
          <p:nvPr/>
        </p:nvSpPr>
        <p:spPr>
          <a:xfrm>
            <a:off x="457200" y="5600000"/>
            <a:ext cx="8229600" cy="457200"/>
          </a:xfrm>
          <a:prstGeom prst="rect">
            <a:avLst/>
          </a:prstGeom>
          <a:noFill/>
        </p:spPr>
        <p:txBody>
          <a:bodyPr wrap="square">
            <a:spAutoFit/>
          </a:bodyPr>
          <a:lstStyle/>
          <a:p>
            <a:pPr algn="l"/>
            <a:r>
              <a:rPr sz="1100" b="0" i="1">
                <a:solidFill>
                  <a:srgbClr val="AAAAAA"/>
                </a:solidFill>
              </a:rPr>
              <a:t>Names and details are fictional. Any resemblance to real persons is coincidental.</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Coping Strategies &amp; Interventions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Antipsychotic medication: first-generation (haloperidol) and second-generation (risperidone, olanzapine)</a:t>
            </a:r>
          </a:p>
          <a:p>
            <a:pPr>
              <a:spcBef>
                <a:spcPts val="400"/>
              </a:spcBef>
            </a:pPr>
            <a:r>
              <a:rPr sz="1700">
                <a:solidFill>
                  <a:srgbClr val="F0F0F0"/>
                </a:solidFill>
              </a:rPr>
              <a:t>• CBT for psychosis (CBTp): NICE-recommended; reduces positive symptoms and distress</a:t>
            </a:r>
          </a:p>
          <a:p>
            <a:pPr>
              <a:spcBef>
                <a:spcPts val="400"/>
              </a:spcBef>
            </a:pPr>
            <a:r>
              <a:rPr sz="1700">
                <a:solidFill>
                  <a:srgbClr val="F0F0F0"/>
                </a:solidFill>
              </a:rPr>
              <a:t>• Family intervention: psychoeducation and communication skills for families</a:t>
            </a:r>
          </a:p>
          <a:p>
            <a:pPr>
              <a:spcBef>
                <a:spcPts val="400"/>
              </a:spcBef>
            </a:pPr>
            <a:r>
              <a:rPr sz="1700">
                <a:solidFill>
                  <a:srgbClr val="F0F0F0"/>
                </a:solidFill>
              </a:rPr>
              <a:t>• Early intervention in psychosis (EIP): rapid assessment and comprehensive support</a:t>
            </a:r>
          </a:p>
          <a:p>
            <a:pPr>
              <a:spcBef>
                <a:spcPts val="400"/>
              </a:spcBef>
            </a:pPr>
            <a:r>
              <a:rPr sz="1700">
                <a:solidFill>
                  <a:srgbClr val="F0F0F0"/>
                </a:solidFill>
              </a:rPr>
              <a:t>• Social skills training: improving interpersonal functioning and community participation</a:t>
            </a:r>
          </a:p>
          <a:p>
            <a:pPr>
              <a:spcBef>
                <a:spcPts val="400"/>
              </a:spcBef>
            </a:pPr>
            <a:r>
              <a:rPr sz="1700">
                <a:solidFill>
                  <a:srgbClr val="F0F0F0"/>
                </a:solidFill>
              </a:rPr>
              <a:t>• Supported employment: Individual Placement and Support (IPS) model</a:t>
            </a:r>
          </a:p>
          <a:p>
            <a:pPr>
              <a:spcBef>
                <a:spcPts val="400"/>
              </a:spcBef>
            </a:pPr>
            <a:r>
              <a:rPr sz="1700">
                <a:solidFill>
                  <a:srgbClr val="F0F0F0"/>
                </a:solidFill>
              </a:rPr>
              <a:t>• Peer support: lived experience workers and recovery colleges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Interactive Activity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2800000"/>
          </a:xfrm>
          <a:prstGeom prst="rect">
            <a:avLst/>
          </a:prstGeom>
          <a:noFill/>
        </p:spPr>
        <p:txBody>
          <a:bodyPr wrap="square">
            <a:spAutoFit/>
          </a:bodyPr>
          <a:lstStyle/>
          <a:p>
            <a:pPr algn="l"/>
            <a:r>
              <a:rPr sz="1700" b="0" i="0">
                <a:solidFill>
                  <a:srgbClr val="F0F0F0"/>
                </a:solidFill>
              </a:rPr>
              <a:t>Voice hearing simulation: Participants listen to a brief audio simulation of auditory hallucinations while completing a simple task. Discuss: How did it feel to hear voices while trying to concentrate? What does this tell us about the experience of psychosis?</a:t>
            </a:r>
          </a:p>
        </p:txBody>
      </p:sp>
      <p:sp>
        <p:nvSpPr>
          <p:cNvPr id="7" name="TextBox 6"/>
          <p:cNvSpPr txBox="1"/>
          <p:nvPr/>
        </p:nvSpPr>
        <p:spPr>
          <a:xfrm>
            <a:off x="457200" y="4200000"/>
            <a:ext cx="8229600" cy="365760"/>
          </a:xfrm>
          <a:prstGeom prst="rect">
            <a:avLst/>
          </a:prstGeom>
          <a:noFill/>
        </p:spPr>
        <p:txBody>
          <a:bodyPr wrap="square">
            <a:spAutoFit/>
          </a:bodyPr>
          <a:lstStyle/>
          <a:p>
            <a:pPr algn="l"/>
            <a:r>
              <a:rPr sz="1600" b="1" i="0">
                <a:solidFill>
                  <a:srgbClr val="FF6B00"/>
                </a:solidFill>
              </a:rPr>
              <a:t>Instructions:</a:t>
            </a:r>
          </a:p>
        </p:txBody>
      </p:sp>
      <p:sp>
        <p:nvSpPr>
          <p:cNvPr id="8" name="TextBox 7"/>
          <p:cNvSpPr txBox="1"/>
          <p:nvPr/>
        </p:nvSpPr>
        <p:spPr>
          <a:xfrm>
            <a:off x="457200" y="4600000"/>
            <a:ext cx="8229600" cy="1500000"/>
          </a:xfrm>
          <a:prstGeom prst="rect">
            <a:avLst/>
          </a:prstGeom>
          <a:noFill/>
        </p:spPr>
        <p:txBody>
          <a:bodyPr wrap="square">
            <a:spAutoFit/>
          </a:bodyPr>
          <a:lstStyle/>
          <a:p>
            <a:pPr>
              <a:spcBef>
                <a:spcPts val="400"/>
              </a:spcBef>
            </a:pPr>
            <a:r>
              <a:rPr sz="1500">
                <a:solidFill>
                  <a:srgbClr val="AAAAAA"/>
                </a:solidFill>
              </a:rPr>
              <a:t>• Take 5 minutes to reflect individually or in pairs</a:t>
            </a:r>
          </a:p>
          <a:p>
            <a:pPr>
              <a:spcBef>
                <a:spcPts val="400"/>
              </a:spcBef>
            </a:pPr>
            <a:r>
              <a:rPr sz="1500">
                <a:solidFill>
                  <a:srgbClr val="AAAAAA"/>
                </a:solidFill>
              </a:rPr>
              <a:t>• Share your thoughts with the group (optional — sharing is never required)</a:t>
            </a:r>
          </a:p>
          <a:p>
            <a:pPr>
              <a:spcBef>
                <a:spcPts val="400"/>
              </a:spcBef>
            </a:pPr>
            <a:r>
              <a:rPr sz="1500">
                <a:solidFill>
                  <a:srgbClr val="AAAAAA"/>
                </a:solidFill>
              </a:rPr>
              <a:t>• Facilitator will guide and support the discussion</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Group Discussion (30 minutes)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57200"/>
          </a:xfrm>
          <a:prstGeom prst="rect">
            <a:avLst/>
          </a:prstGeom>
          <a:noFill/>
        </p:spPr>
        <p:txBody>
          <a:bodyPr wrap="square">
            <a:spAutoFit/>
          </a:bodyPr>
          <a:lstStyle/>
          <a:p>
            <a:pPr algn="l"/>
            <a:r>
              <a:rPr sz="1800" b="1" i="0">
                <a:solidFill>
                  <a:srgbClr val="00BFBF"/>
                </a:solidFill>
              </a:rPr>
              <a:t>Reflection Questions</a:t>
            </a:r>
          </a:p>
        </p:txBody>
      </p:sp>
      <p:sp>
        <p:nvSpPr>
          <p:cNvPr id="7" name="TextBox 6"/>
          <p:cNvSpPr txBox="1"/>
          <p:nvPr/>
        </p:nvSpPr>
        <p:spPr>
          <a:xfrm>
            <a:off x="457200" y="1800000"/>
            <a:ext cx="8229600" cy="4000000"/>
          </a:xfrm>
          <a:prstGeom prst="rect">
            <a:avLst/>
          </a:prstGeom>
          <a:noFill/>
        </p:spPr>
        <p:txBody>
          <a:bodyPr wrap="square">
            <a:spAutoFit/>
          </a:bodyPr>
          <a:lstStyle/>
          <a:p>
            <a:pPr>
              <a:spcBef>
                <a:spcPts val="400"/>
              </a:spcBef>
            </a:pPr>
            <a:r>
              <a:rPr sz="1700">
                <a:solidFill>
                  <a:srgbClr val="F0F0F0"/>
                </a:solidFill>
              </a:rPr>
              <a:t>• What misconceptions exist about schizophrenia and psychosis?</a:t>
            </a:r>
          </a:p>
          <a:p>
            <a:pPr>
              <a:spcBef>
                <a:spcPts val="400"/>
              </a:spcBef>
            </a:pPr>
            <a:r>
              <a:rPr sz="1700">
                <a:solidFill>
                  <a:srgbClr val="F0F0F0"/>
                </a:solidFill>
              </a:rPr>
              <a:t>• How does stigma affect people with psychotic disorders?</a:t>
            </a:r>
          </a:p>
          <a:p>
            <a:pPr>
              <a:spcBef>
                <a:spcPts val="400"/>
              </a:spcBef>
            </a:pPr>
            <a:r>
              <a:rPr sz="1700">
                <a:solidFill>
                  <a:srgbClr val="F0F0F0"/>
                </a:solidFill>
              </a:rPr>
              <a:t>• What is the difference between psychosis and 'being crazy'?</a:t>
            </a:r>
          </a:p>
          <a:p>
            <a:pPr>
              <a:spcBef>
                <a:spcPts val="400"/>
              </a:spcBef>
            </a:pPr>
            <a:r>
              <a:rPr sz="1700">
                <a:solidFill>
                  <a:srgbClr val="F0F0F0"/>
                </a:solidFill>
              </a:rPr>
              <a:t>• How can we support someone experiencing psychosis without escalating the situation?</a:t>
            </a:r>
          </a:p>
          <a:p>
            <a:pPr>
              <a:spcBef>
                <a:spcPts val="400"/>
              </a:spcBef>
            </a:pPr>
            <a:r>
              <a:rPr sz="1700">
                <a:solidFill>
                  <a:srgbClr val="F0F0F0"/>
                </a:solidFill>
              </a:rPr>
              <a:t>• What early intervention in psychosis services are available in Wiltshire?</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400" b="1" i="0">
                <a:solidFill>
                  <a:srgbClr val="FF6B00"/>
                </a:solidFill>
              </a:rPr>
              <a:t>Remember: You are never alone. Help is always available.</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Resources &amp; Further Support</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365760"/>
          </a:xfrm>
          <a:prstGeom prst="rect">
            <a:avLst/>
          </a:prstGeom>
          <a:noFill/>
        </p:spPr>
        <p:txBody>
          <a:bodyPr wrap="square">
            <a:spAutoFit/>
          </a:bodyPr>
          <a:lstStyle/>
          <a:p>
            <a:pPr algn="l"/>
            <a:r>
              <a:rPr sz="1800" b="1" i="0">
                <a:solidFill>
                  <a:srgbClr val="00BFBF"/>
                </a:solidFill>
              </a:rPr>
              <a:t>Key References</a:t>
            </a:r>
          </a:p>
        </p:txBody>
      </p:sp>
      <p:sp>
        <p:nvSpPr>
          <p:cNvPr id="7" name="TextBox 6"/>
          <p:cNvSpPr txBox="1"/>
          <p:nvPr/>
        </p:nvSpPr>
        <p:spPr>
          <a:xfrm>
            <a:off x="457200" y="1700000"/>
            <a:ext cx="8229600" cy="2200000"/>
          </a:xfrm>
          <a:prstGeom prst="rect">
            <a:avLst/>
          </a:prstGeom>
          <a:noFill/>
        </p:spPr>
        <p:txBody>
          <a:bodyPr wrap="square">
            <a:spAutoFit/>
          </a:bodyPr>
          <a:lstStyle/>
          <a:p>
            <a:pPr>
              <a:spcBef>
                <a:spcPts val="400"/>
              </a:spcBef>
            </a:pPr>
            <a:r>
              <a:rPr sz="1400">
                <a:solidFill>
                  <a:srgbClr val="F0F0F0"/>
                </a:solidFill>
              </a:rPr>
              <a:t>• NICE Guideline NG185: Psychosis and schizophrenia in adults (2014, updated 2020)</a:t>
            </a:r>
          </a:p>
          <a:p>
            <a:pPr>
              <a:spcBef>
                <a:spcPts val="400"/>
              </a:spcBef>
            </a:pPr>
            <a:r>
              <a:rPr sz="1400">
                <a:solidFill>
                  <a:srgbClr val="F0F0F0"/>
                </a:solidFill>
              </a:rPr>
              <a:t>• Rethink Mental Illness: rethink.org</a:t>
            </a:r>
          </a:p>
          <a:p>
            <a:pPr>
              <a:spcBef>
                <a:spcPts val="400"/>
              </a:spcBef>
            </a:pPr>
            <a:r>
              <a:rPr sz="1400">
                <a:solidFill>
                  <a:srgbClr val="F0F0F0"/>
                </a:solidFill>
              </a:rPr>
              <a:t>• Mind UK: Schizophrenia (mind.org.uk)</a:t>
            </a:r>
          </a:p>
          <a:p>
            <a:pPr>
              <a:spcBef>
                <a:spcPts val="400"/>
              </a:spcBef>
            </a:pPr>
            <a:r>
              <a:rPr sz="1400">
                <a:solidFill>
                  <a:srgbClr val="F0F0F0"/>
                </a:solidFill>
              </a:rPr>
              <a:t>• NHS: Schizophrenia (nhs.uk/conditions/schizophrenia)</a:t>
            </a:r>
          </a:p>
          <a:p>
            <a:pPr>
              <a:spcBef>
                <a:spcPts val="400"/>
              </a:spcBef>
            </a:pPr>
            <a:r>
              <a:rPr sz="1400">
                <a:solidFill>
                  <a:srgbClr val="F0F0F0"/>
                </a:solidFill>
              </a:rPr>
              <a:t>• Hearing Voices Network: hearing-voices.org</a:t>
            </a:r>
          </a:p>
        </p:txBody>
      </p:sp>
      <p:sp>
        <p:nvSpPr>
          <p:cNvPr id="8" name="TextBox 7"/>
          <p:cNvSpPr txBox="1"/>
          <p:nvPr/>
        </p:nvSpPr>
        <p:spPr>
          <a:xfrm>
            <a:off x="457200" y="4000000"/>
            <a:ext cx="8229600" cy="365760"/>
          </a:xfrm>
          <a:prstGeom prst="rect">
            <a:avLst/>
          </a:prstGeom>
          <a:noFill/>
        </p:spPr>
        <p:txBody>
          <a:bodyPr wrap="square">
            <a:spAutoFit/>
          </a:bodyPr>
          <a:lstStyle/>
          <a:p>
            <a:pPr algn="l"/>
            <a:r>
              <a:rPr sz="1800" b="1" i="0">
                <a:solidFill>
                  <a:srgbClr val="FF6B00"/>
                </a:solidFill>
              </a:rPr>
              <a:t>Crisis Support</a:t>
            </a:r>
          </a:p>
        </p:txBody>
      </p:sp>
      <p:sp>
        <p:nvSpPr>
          <p:cNvPr id="9" name="TextBox 8"/>
          <p:cNvSpPr txBox="1"/>
          <p:nvPr/>
        </p:nvSpPr>
        <p:spPr>
          <a:xfrm>
            <a:off x="457200" y="4450000"/>
            <a:ext cx="8229600" cy="1800000"/>
          </a:xfrm>
          <a:prstGeom prst="rect">
            <a:avLst/>
          </a:prstGeom>
          <a:noFill/>
        </p:spPr>
        <p:txBody>
          <a:bodyPr wrap="square">
            <a:spAutoFit/>
          </a:bodyPr>
          <a:lstStyle/>
          <a:p>
            <a:pPr>
              <a:spcBef>
                <a:spcPts val="400"/>
              </a:spcBef>
            </a:pPr>
            <a:r>
              <a:rPr sz="1300">
                <a:solidFill>
                  <a:srgbClr val="AAAAAA"/>
                </a:solidFill>
              </a:rPr>
              <a:t>• Emergency: 999</a:t>
            </a:r>
          </a:p>
          <a:p>
            <a:pPr>
              <a:spcBef>
                <a:spcPts val="400"/>
              </a:spcBef>
            </a:pPr>
            <a:r>
              <a:rPr sz="1300">
                <a:solidFill>
                  <a:srgbClr val="AAAAAA"/>
                </a:solidFill>
              </a:rPr>
              <a:t>• NHS 111: 24/7 urgent mental health support</a:t>
            </a:r>
          </a:p>
          <a:p>
            <a:pPr>
              <a:spcBef>
                <a:spcPts val="400"/>
              </a:spcBef>
            </a:pPr>
            <a:r>
              <a:rPr sz="1300">
                <a:solidFill>
                  <a:srgbClr val="AAAAAA"/>
                </a:solidFill>
              </a:rPr>
              <a:t>• Samaritans: 116 123 (free, 24/7)</a:t>
            </a:r>
          </a:p>
          <a:p>
            <a:pPr>
              <a:spcBef>
                <a:spcPts val="400"/>
              </a:spcBef>
            </a:pPr>
            <a:r>
              <a:rPr sz="1300">
                <a:solidFill>
                  <a:srgbClr val="AAAAAA"/>
                </a:solidFill>
              </a:rPr>
              <a:t>• Shout Crisis Text: Text SHOUT to 85258</a:t>
            </a:r>
          </a:p>
          <a:p>
            <a:pPr>
              <a:spcBef>
                <a:spcPts val="400"/>
              </a:spcBef>
            </a:pPr>
            <a:r>
              <a:rPr sz="1300">
                <a:solidFill>
                  <a:srgbClr val="AAAAAA"/>
                </a:solidFill>
              </a:rPr>
              <a:t>• Wiltshire Crisis Line: 0800 953 0110 (24/7)</a:t>
            </a:r>
          </a:p>
          <a:p>
            <a:pPr>
              <a:spcBef>
                <a:spcPts val="400"/>
              </a:spcBef>
            </a:pPr>
            <a:r>
              <a:rPr sz="1300">
                <a:solidFill>
                  <a:srgbClr val="AAAAAA"/>
                </a:solidFill>
              </a:rPr>
              <a:t>• PAPYRUS (under 35): 0800 068 4141</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640080"/>
          </a:xfrm>
          <a:prstGeom prst="rect">
            <a:avLst/>
          </a:prstGeom>
          <a:noFill/>
        </p:spPr>
        <p:txBody>
          <a:bodyPr wrap="square">
            <a:spAutoFit/>
          </a:bodyPr>
          <a:lstStyle/>
          <a:p>
            <a:pPr algn="l"/>
            <a:r>
              <a:rPr sz="3400" b="1" i="0">
                <a:solidFill>
                  <a:srgbClr val="1A1A1A"/>
                </a:solidFill>
              </a:rPr>
              <a:t>Module 22 Complete</a:t>
            </a:r>
          </a:p>
        </p:txBody>
      </p:sp>
      <p:sp>
        <p:nvSpPr>
          <p:cNvPr id="6" name="TextBox 5"/>
          <p:cNvSpPr txBox="1"/>
          <p:nvPr/>
        </p:nvSpPr>
        <p:spPr>
          <a:xfrm>
            <a:off x="457200" y="700000"/>
            <a:ext cx="7589520" cy="640080"/>
          </a:xfrm>
          <a:prstGeom prst="rect">
            <a:avLst/>
          </a:prstGeom>
          <a:noFill/>
        </p:spPr>
        <p:txBody>
          <a:bodyPr wrap="square">
            <a:spAutoFit/>
          </a:bodyPr>
          <a:lstStyle/>
          <a:p>
            <a:pPr algn="l"/>
            <a:r>
              <a:rPr sz="2000" b="0" i="0">
                <a:solidFill>
                  <a:srgbClr val="1A1A1A"/>
                </a:solidFill>
              </a:rPr>
              <a:t>Psychotic Disorders: Schizophrenia and Related Conditions</a:t>
            </a:r>
          </a:p>
        </p:txBody>
      </p:sp>
      <p:sp>
        <p:nvSpPr>
          <p:cNvPr id="7" name="TextBox 6"/>
          <p:cNvSpPr txBox="1"/>
          <p:nvPr/>
        </p:nvSpPr>
        <p:spPr>
          <a:xfrm>
            <a:off x="457200" y="2100000"/>
            <a:ext cx="8229600" cy="3200000"/>
          </a:xfrm>
          <a:prstGeom prst="rect">
            <a:avLst/>
          </a:prstGeom>
          <a:noFill/>
        </p:spPr>
        <p:txBody>
          <a:bodyPr wrap="square">
            <a:spAutoFit/>
          </a:bodyPr>
          <a:lstStyle/>
          <a:p>
            <a:pPr>
              <a:spcBef>
                <a:spcPts val="400"/>
              </a:spcBef>
            </a:pPr>
            <a:r>
              <a:rPr sz="1700">
                <a:solidFill>
                  <a:srgbClr val="F0F0F0"/>
                </a:solidFill>
              </a:rPr>
              <a:t>• You have completed Module 22: Psychotic Disorders: Schizophrenia and Related Conditions</a:t>
            </a:r>
          </a:p>
          <a:p>
            <a:pPr>
              <a:spcBef>
                <a:spcPts val="400"/>
              </a:spcBef>
            </a:pPr>
            <a:r>
              <a:rPr sz="1700">
                <a:solidFill>
                  <a:srgbClr val="F0F0F0"/>
                </a:solidFill>
              </a:rPr>
              <a:t>• Key concepts and evidence-based strategies have been explored</a:t>
            </a:r>
          </a:p>
          <a:p>
            <a:pPr>
              <a:spcBef>
                <a:spcPts val="400"/>
              </a:spcBef>
            </a:pPr>
            <a:r>
              <a:rPr sz="1700">
                <a:solidFill>
                  <a:srgbClr val="F0F0F0"/>
                </a:solidFill>
              </a:rPr>
              <a:t>• Please complete the post-session reflection form</a:t>
            </a:r>
          </a:p>
          <a:p>
            <a:pPr>
              <a:spcBef>
                <a:spcPts val="400"/>
              </a:spcBef>
            </a:pPr>
            <a:r>
              <a:rPr sz="1700">
                <a:solidFill>
                  <a:srgbClr val="F0F0F0"/>
                </a:solidFill>
              </a:rPr>
              <a:t>• Access course materials and handouts in the Members Portal</a:t>
            </a:r>
          </a:p>
          <a:p>
            <a:pPr>
              <a:spcBef>
                <a:spcPts val="400"/>
              </a:spcBef>
            </a:pPr>
            <a:r>
              <a:rPr sz="1700">
                <a:solidFill>
                  <a:srgbClr val="F0F0F0"/>
                </a:solidFill>
              </a:rPr>
              <a:t>• Our next session builds on today's learning</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300" b="0" i="0">
                <a:solidFill>
                  <a:srgbClr val="AAAAAA"/>
                </a:solidFill>
              </a:rPr>
              <a:t>melksham-mentalhealth.us  |  Melksham-mental-health@outlook.com</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
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28</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Social Isolation and Loneliness</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Loneliness and social isolation are significant public health challenges with serious consequences for mental and physical health. This module explores the difference between loneliness and social isolation, the health impacts of chronic loneliness, and the evidence-based interventions that strengthen social connections.</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Define loneliness and social isolation and understand their differences</a:t>
            </a:r>
          </a:p>
          <a:p>
            <a:pPr>
              <a:spcBef>
                <a:spcPts val="400"/>
              </a:spcBef>
            </a:pPr>
            <a:r>
              <a:rPr sz="1700">
                <a:solidFill>
                  <a:srgbClr val="F0F0F0"/>
                </a:solidFill>
              </a:rPr>
              <a:t>• Understand the health consequences of chronic loneliness</a:t>
            </a:r>
          </a:p>
          <a:p>
            <a:pPr>
              <a:spcBef>
                <a:spcPts val="400"/>
              </a:spcBef>
            </a:pPr>
            <a:r>
              <a:rPr sz="1700">
                <a:solidFill>
                  <a:srgbClr val="F0F0F0"/>
                </a:solidFill>
              </a:rPr>
              <a:t>• Identify the populations most at risk of loneliness and social isolation</a:t>
            </a:r>
          </a:p>
          <a:p>
            <a:pPr>
              <a:spcBef>
                <a:spcPts val="400"/>
              </a:spcBef>
            </a:pPr>
            <a:r>
              <a:rPr sz="1700">
                <a:solidFill>
                  <a:srgbClr val="F0F0F0"/>
                </a:solidFill>
              </a:rPr>
              <a:t>• Explore evidence-based interventions: social prescribing, befriending, community activities</a:t>
            </a:r>
          </a:p>
          <a:p>
            <a:pPr>
              <a:spcBef>
                <a:spcPts val="400"/>
              </a:spcBef>
            </a:pPr>
            <a:r>
              <a:rPr sz="1700">
                <a:solidFill>
                  <a:srgbClr val="F0F0F0"/>
                </a:solidFill>
              </a:rPr>
              <a:t>• Develop skills for supporting someone experiencing loneliness</a:t>
            </a:r>
          </a:p>
          <a:p>
            <a:pPr>
              <a:spcBef>
                <a:spcPts val="400"/>
              </a:spcBef>
            </a:pPr>
            <a:r>
              <a:rPr sz="1700">
                <a:solidFill>
                  <a:srgbClr val="F0F0F0"/>
                </a:solidFill>
              </a:rPr>
              <a:t>• Understand the role of technology in both exacerbating and alleviating loneliness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28: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Loneliness: subjective feeling of lacking meaningful social connections</a:t>
            </a:r>
          </a:p>
          <a:p>
            <a:pPr>
              <a:spcBef>
                <a:spcPts val="400"/>
              </a:spcBef>
            </a:pPr>
            <a:r>
              <a:rPr sz="1700">
                <a:solidFill>
                  <a:srgbClr val="F0F0F0"/>
                </a:solidFill>
              </a:rPr>
              <a:t>• Social isolation: objective lack of social contact and relationships</a:t>
            </a:r>
          </a:p>
          <a:p>
            <a:pPr>
              <a:spcBef>
                <a:spcPts val="400"/>
              </a:spcBef>
            </a:pPr>
            <a:r>
              <a:rPr sz="1700">
                <a:solidFill>
                  <a:srgbClr val="F0F0F0"/>
                </a:solidFill>
              </a:rPr>
              <a:t>• Difference: you can be lonely in a crowd; you can be isolated but not lonely</a:t>
            </a:r>
          </a:p>
          <a:p>
            <a:pPr>
              <a:spcBef>
                <a:spcPts val="400"/>
              </a:spcBef>
            </a:pPr>
            <a:r>
              <a:rPr sz="1700">
                <a:solidFill>
                  <a:srgbClr val="F0F0F0"/>
                </a:solidFill>
              </a:rPr>
              <a:t>• Health consequences: loneliness doubles risk of depression, anxiety, self-harm and suicide</a:t>
            </a:r>
          </a:p>
          <a:p>
            <a:pPr>
              <a:spcBef>
                <a:spcPts val="400"/>
              </a:spcBef>
            </a:pPr>
            <a:r>
              <a:rPr sz="1700">
                <a:solidFill>
                  <a:srgbClr val="F0F0F0"/>
                </a:solidFill>
              </a:rPr>
              <a:t>• Physical health: loneliness increases risk of heart disease, stroke and dementia</a:t>
            </a:r>
          </a:p>
          <a:p>
            <a:pPr>
              <a:spcBef>
                <a:spcPts val="400"/>
              </a:spcBef>
            </a:pPr>
            <a:r>
              <a:rPr sz="1700">
                <a:solidFill>
                  <a:srgbClr val="F0F0F0"/>
                </a:solidFill>
              </a:rPr>
              <a:t>• Populations at risk: older adults, young people, carers, people with disabilities, LGBTQIA+ people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Loneliness doubles risk of depression and increases anxiety, self-harm and suicide (NHS)</a:t>
            </a:r>
          </a:p>
          <a:p>
            <a:pPr>
              <a:spcBef>
                <a:spcPts val="400"/>
              </a:spcBef>
            </a:pPr>
            <a:r>
              <a:rPr sz="1700">
                <a:solidFill>
                  <a:srgbClr val="F0F0F0"/>
                </a:solidFill>
              </a:rPr>
              <a:t>• Chronic loneliness is as harmful to health as smoking 15 cigarettes per day (Holt-Lunstad)</a:t>
            </a:r>
          </a:p>
          <a:p>
            <a:pPr>
              <a:spcBef>
                <a:spcPts val="400"/>
              </a:spcBef>
            </a:pPr>
            <a:r>
              <a:rPr sz="1700">
                <a:solidFill>
                  <a:srgbClr val="F0F0F0"/>
                </a:solidFill>
              </a:rPr>
              <a:t>• 3.9 million older adults in England are lonely (Age UK, 2023)</a:t>
            </a:r>
          </a:p>
          <a:p>
            <a:pPr>
              <a:spcBef>
                <a:spcPts val="400"/>
              </a:spcBef>
            </a:pPr>
            <a:r>
              <a:rPr sz="1700">
                <a:solidFill>
                  <a:srgbClr val="F0F0F0"/>
                </a:solidFill>
              </a:rPr>
              <a:t>• 45% of adults in England report feeling occasionally, sometimes or often lonely (ONS, 2023)</a:t>
            </a:r>
          </a:p>
          <a:p>
            <a:pPr>
              <a:spcBef>
                <a:spcPts val="400"/>
              </a:spcBef>
            </a:pPr>
            <a:r>
              <a:rPr sz="1700">
                <a:solidFill>
                  <a:srgbClr val="F0F0F0"/>
                </a:solidFill>
              </a:rPr>
              <a:t>• Young people (16–24) are the loneliest age group in the UK (BBC Loneliness Experiment)</a:t>
            </a:r>
          </a:p>
          <a:p>
            <a:pPr>
              <a:spcBef>
                <a:spcPts val="400"/>
              </a:spcBef>
            </a:pPr>
            <a:r>
              <a:rPr sz="1700">
                <a:solidFill>
                  <a:srgbClr val="F0F0F0"/>
                </a:solidFill>
              </a:rPr>
              <a:t>• Social isolation increases risk of dementia by 50% (Livingston et al., 2020)</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Social prescribing reduces loneliness and improves mental health outcomes</a:t>
            </a:r>
          </a:p>
          <a:p>
            <a:pPr>
              <a:spcBef>
                <a:spcPts val="400"/>
              </a:spcBef>
            </a:pPr>
            <a:r>
              <a:rPr sz="1700">
                <a:solidFill>
                  <a:srgbClr val="F0F0F0"/>
                </a:solidFill>
              </a:rPr>
              <a:t>• Befriending programmes are effective for reducing loneliness in older adults</a:t>
            </a:r>
          </a:p>
          <a:p>
            <a:pPr>
              <a:spcBef>
                <a:spcPts val="400"/>
              </a:spcBef>
            </a:pPr>
            <a:r>
              <a:rPr sz="1700">
                <a:solidFill>
                  <a:srgbClr val="F0F0F0"/>
                </a:solidFill>
              </a:rPr>
              <a:t>• Community activities and volunteering reduce loneliness and improve wellbeing</a:t>
            </a:r>
          </a:p>
          <a:p>
            <a:pPr>
              <a:spcBef>
                <a:spcPts val="400"/>
              </a:spcBef>
            </a:pPr>
            <a:r>
              <a:rPr sz="1700">
                <a:solidFill>
                  <a:srgbClr val="F0F0F0"/>
                </a:solidFill>
              </a:rPr>
              <a:t>• Technology: video calls and online communities can reduce isolation but not replace in-person connection</a:t>
            </a:r>
          </a:p>
          <a:p>
            <a:pPr>
              <a:spcBef>
                <a:spcPts val="400"/>
              </a:spcBef>
            </a:pPr>
            <a:r>
              <a:rPr sz="1700">
                <a:solidFill>
                  <a:srgbClr val="F0F0F0"/>
                </a:solidFill>
              </a:rPr>
              <a:t>• Cognitive behavioural therapy for loneliness addresses negative social cognitions</a:t>
            </a:r>
          </a:p>
          <a:p>
            <a:pPr>
              <a:spcBef>
                <a:spcPts val="400"/>
              </a:spcBef>
            </a:pPr>
            <a:r>
              <a:rPr sz="1700">
                <a:solidFill>
                  <a:srgbClr val="F0F0F0"/>
                </a:solidFill>
              </a:rPr>
              <a:t>• Group-based interventions are more effective than individual interventions for loneliness</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George, 72, lost his wife of 45 years and found himself increasingly isolated. He stopped leaving the house and his physical health deteriorated. His GP referred him to a social prescribing link worker, who connected George with a local men's shed group. George began attending weekly and formed new friendships. He also started volunteering at a local food bank. Within six months, his depression had significantly improved and he had a renewed sense of purpose. His story illustrates the power of social prescribing and community connection.</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Social prescribing: connecting people to community activities and support</a:t>
            </a:r>
          </a:p>
          <a:p>
            <a:pPr>
              <a:spcBef>
                <a:spcPts val="400"/>
              </a:spcBef>
            </a:pPr>
            <a:r>
              <a:rPr sz="1700">
                <a:solidFill>
                  <a:srgbClr val="F0F0F0"/>
                </a:solidFill>
              </a:rPr>
              <a:t>• Befriending programmes: regular contact with a trained volunteer</a:t>
            </a:r>
          </a:p>
          <a:p>
            <a:pPr>
              <a:spcBef>
                <a:spcPts val="400"/>
              </a:spcBef>
            </a:pPr>
            <a:r>
              <a:rPr sz="1700">
                <a:solidFill>
                  <a:srgbClr val="F0F0F0"/>
                </a:solidFill>
              </a:rPr>
              <a:t>• Community activities: men's sheds, gardening clubs, walking groups, arts activities</a:t>
            </a:r>
          </a:p>
          <a:p>
            <a:pPr>
              <a:spcBef>
                <a:spcPts val="400"/>
              </a:spcBef>
            </a:pPr>
            <a:r>
              <a:rPr sz="1700">
                <a:solidFill>
                  <a:srgbClr val="F0F0F0"/>
                </a:solidFill>
              </a:rPr>
              <a:t>• Volunteering: providing purpose, structure and social connection</a:t>
            </a:r>
          </a:p>
          <a:p>
            <a:pPr>
              <a:spcBef>
                <a:spcPts val="400"/>
              </a:spcBef>
            </a:pPr>
            <a:r>
              <a:rPr sz="1700">
                <a:solidFill>
                  <a:srgbClr val="F0F0F0"/>
                </a:solidFill>
              </a:rPr>
              <a:t>• Technology: video calls, online communities and social media for isolated people</a:t>
            </a:r>
          </a:p>
          <a:p>
            <a:pPr>
              <a:spcBef>
                <a:spcPts val="400"/>
              </a:spcBef>
            </a:pPr>
            <a:r>
              <a:rPr sz="1700">
                <a:solidFill>
                  <a:srgbClr val="F0F0F0"/>
                </a:solidFill>
              </a:rPr>
              <a:t>• CBT for loneliness: addressing negative social cognitions and avoidance</a:t>
            </a:r>
          </a:p>
          <a:p>
            <a:pPr>
              <a:spcBef>
                <a:spcPts val="400"/>
              </a:spcBef>
            </a:pPr>
            <a:r>
              <a:rPr sz="1700">
                <a:solidFill>
                  <a:srgbClr val="F0F0F0"/>
                </a:solidFill>
              </a:rPr>
              <a:t>• Peer support: shared experience groups for people experiencing loneliness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Connection mapping: Participants map their social connections — close relationships, acquaintances, community contacts. Discuss: Are there gaps in your social network? What one step could you take to strengthen a connection or build a new one?</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is the difference between being alone and being lonely?</a:t>
            </a:r>
          </a:p>
          <a:p>
            <a:pPr>
              <a:spcBef>
                <a:spcPts val="400"/>
              </a:spcBef>
            </a:pPr>
            <a:r>
              <a:rPr sz="1700">
                <a:solidFill>
                  <a:srgbClr val="F0F0F0"/>
                </a:solidFill>
              </a:rPr>
              <a:t>• How does loneliness affect your mental and physical health?</a:t>
            </a:r>
          </a:p>
          <a:p>
            <a:pPr>
              <a:spcBef>
                <a:spcPts val="400"/>
              </a:spcBef>
            </a:pPr>
            <a:r>
              <a:rPr sz="1700">
                <a:solidFill>
                  <a:srgbClr val="F0F0F0"/>
                </a:solidFill>
              </a:rPr>
              <a:t>• What barriers prevent people from connecting with others?</a:t>
            </a:r>
          </a:p>
          <a:p>
            <a:pPr>
              <a:spcBef>
                <a:spcPts val="400"/>
              </a:spcBef>
            </a:pPr>
            <a:r>
              <a:rPr sz="1700">
                <a:solidFill>
                  <a:srgbClr val="F0F0F0"/>
                </a:solidFill>
              </a:rPr>
              <a:t>• How can communities better support people experiencing loneliness?</a:t>
            </a:r>
          </a:p>
          <a:p>
            <a:pPr>
              <a:spcBef>
                <a:spcPts val="400"/>
              </a:spcBef>
            </a:pPr>
            <a:r>
              <a:rPr sz="1700">
                <a:solidFill>
                  <a:srgbClr val="F0F0F0"/>
                </a:solidFill>
              </a:rPr>
              <a:t>• What social prescribing and community resources are available in Melksham?</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Campaign to End Loneliness: campaigntoendloneliness.org</a:t>
            </a:r>
          </a:p>
          <a:p>
            <a:pPr>
              <a:spcBef>
                <a:spcPts val="400"/>
              </a:spcBef>
            </a:pPr>
            <a:r>
              <a:rPr sz="1400">
                <a:solidFill>
                  <a:srgbClr val="F0F0F0"/>
                </a:solidFill>
              </a:rPr>
              <a:t>• Age UK: ageuk.org.uk / 0800 678 1602</a:t>
            </a:r>
          </a:p>
          <a:p>
            <a:pPr>
              <a:spcBef>
                <a:spcPts val="400"/>
              </a:spcBef>
            </a:pPr>
            <a:r>
              <a:rPr sz="1400">
                <a:solidFill>
                  <a:srgbClr val="F0F0F0"/>
                </a:solidFill>
              </a:rPr>
              <a:t>• Mind UK: Loneliness (mind.org.uk)</a:t>
            </a:r>
          </a:p>
          <a:p>
            <a:pPr>
              <a:spcBef>
                <a:spcPts val="400"/>
              </a:spcBef>
            </a:pPr>
            <a:r>
              <a:rPr sz="1400">
                <a:solidFill>
                  <a:srgbClr val="F0F0F0"/>
                </a:solidFill>
              </a:rPr>
              <a:t>• NHS: Social prescribing (england.nhs.uk/personalisedcare/social-prescribing)</a:t>
            </a:r>
          </a:p>
          <a:p>
            <a:pPr>
              <a:spcBef>
                <a:spcPts val="400"/>
              </a:spcBef>
            </a:pPr>
            <a:r>
              <a:rPr sz="1400">
                <a:solidFill>
                  <a:srgbClr val="F0F0F0"/>
                </a:solidFill>
              </a:rPr>
              <a:t>• Wiltshire Community Foundation: wiltshirecf.org.uk</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28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Social Isolation and Loneliness</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28: Social Isolation and Loneliness</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
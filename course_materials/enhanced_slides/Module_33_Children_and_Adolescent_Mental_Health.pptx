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33</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Children and Adolescent Mental Health</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Mental health problems in children and young people are common, often unrecognised and highly treatable with early intervention. This module explores the most common conditions affecting young people, the role of schools and families, and the pathways to CAMHS and voluntary sector support.</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Identify the most common mental health conditions in children and adolescents</a:t>
            </a:r>
          </a:p>
          <a:p>
            <a:pPr>
              <a:spcBef>
                <a:spcPts val="400"/>
              </a:spcBef>
            </a:pPr>
            <a:r>
              <a:rPr sz="1700">
                <a:solidFill>
                  <a:srgbClr val="F0F0F0"/>
                </a:solidFill>
              </a:rPr>
              <a:t>• Understand the developmental context of mental health in young people</a:t>
            </a:r>
          </a:p>
          <a:p>
            <a:pPr>
              <a:spcBef>
                <a:spcPts val="400"/>
              </a:spcBef>
            </a:pPr>
            <a:r>
              <a:rPr sz="1700">
                <a:solidFill>
                  <a:srgbClr val="F0F0F0"/>
                </a:solidFill>
              </a:rPr>
              <a:t>• Explore the role of schools, families and communities in supporting young people's mental health</a:t>
            </a:r>
          </a:p>
          <a:p>
            <a:pPr>
              <a:spcBef>
                <a:spcPts val="400"/>
              </a:spcBef>
            </a:pPr>
            <a:r>
              <a:rPr sz="1700">
                <a:solidFill>
                  <a:srgbClr val="F0F0F0"/>
                </a:solidFill>
              </a:rPr>
              <a:t>• Understand the CAMHS pathway and eligibility criteria</a:t>
            </a:r>
          </a:p>
          <a:p>
            <a:pPr>
              <a:spcBef>
                <a:spcPts val="400"/>
              </a:spcBef>
            </a:pPr>
            <a:r>
              <a:rPr sz="1700">
                <a:solidFill>
                  <a:srgbClr val="F0F0F0"/>
                </a:solidFill>
              </a:rPr>
              <a:t>• Develop skills for identifying and supporting young people in distress</a:t>
            </a:r>
          </a:p>
          <a:p>
            <a:pPr>
              <a:spcBef>
                <a:spcPts val="400"/>
              </a:spcBef>
            </a:pPr>
            <a:r>
              <a:rPr sz="1700">
                <a:solidFill>
                  <a:srgbClr val="F0F0F0"/>
                </a:solidFill>
              </a:rPr>
              <a:t>• Know the voluntary sector resources available for young people in Wiltshire</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33: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Common conditions: anxiety, depression, ADHD, autism, eating disorders, self-harm</a:t>
            </a:r>
          </a:p>
          <a:p>
            <a:pPr>
              <a:spcBef>
                <a:spcPts val="400"/>
              </a:spcBef>
            </a:pPr>
            <a:r>
              <a:rPr sz="1700">
                <a:solidFill>
                  <a:srgbClr val="F0F0F0"/>
                </a:solidFill>
              </a:rPr>
              <a:t>• Developmental context: adolescence as a period of significant neurological change</a:t>
            </a:r>
          </a:p>
          <a:p>
            <a:pPr>
              <a:spcBef>
                <a:spcPts val="400"/>
              </a:spcBef>
            </a:pPr>
            <a:r>
              <a:rPr sz="1700">
                <a:solidFill>
                  <a:srgbClr val="F0F0F0"/>
                </a:solidFill>
              </a:rPr>
              <a:t>• School-based mental health: pastoral support, counselling and mental health leads</a:t>
            </a:r>
          </a:p>
          <a:p>
            <a:pPr>
              <a:spcBef>
                <a:spcPts val="400"/>
              </a:spcBef>
            </a:pPr>
            <a:r>
              <a:rPr sz="1700">
                <a:solidFill>
                  <a:srgbClr val="F0F0F0"/>
                </a:solidFill>
              </a:rPr>
              <a:t>• Family factors: parenting style, family conflict, domestic abuse and parental mental illness</a:t>
            </a:r>
          </a:p>
          <a:p>
            <a:pPr>
              <a:spcBef>
                <a:spcPts val="400"/>
              </a:spcBef>
            </a:pPr>
            <a:r>
              <a:rPr sz="1700">
                <a:solidFill>
                  <a:srgbClr val="F0F0F0"/>
                </a:solidFill>
              </a:rPr>
              <a:t>• CAMHS: Child and Adolescent Mental Health Services — NHS specialist provision</a:t>
            </a:r>
          </a:p>
          <a:p>
            <a:pPr>
              <a:spcBef>
                <a:spcPts val="400"/>
              </a:spcBef>
            </a:pPr>
            <a:r>
              <a:rPr sz="1700">
                <a:solidFill>
                  <a:srgbClr val="F0F0F0"/>
                </a:solidFill>
              </a:rPr>
              <a:t>• Voluntary sector: Young Minds, Kooth, Place2Be, PAPYRUS</a:t>
            </a:r>
          </a:p>
          <a:p>
            <a:pPr>
              <a:spcBef>
                <a:spcPts val="400"/>
              </a:spcBef>
            </a:pPr>
            <a:r>
              <a:rPr sz="1700">
                <a:solidFill>
                  <a:srgbClr val="F0F0F0"/>
                </a:solidFill>
              </a:rPr>
              <a:t>• Early intervention: 75% of mental health problems emerge before age 24 (WHO)</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75% of mental health problems emerge before age 24 (WHO)</a:t>
            </a:r>
          </a:p>
          <a:p>
            <a:pPr>
              <a:spcBef>
                <a:spcPts val="400"/>
              </a:spcBef>
            </a:pPr>
            <a:r>
              <a:rPr sz="1700">
                <a:solidFill>
                  <a:srgbClr val="F0F0F0"/>
                </a:solidFill>
              </a:rPr>
              <a:t>• 1 in 6 children aged 5–16 have a probable mental health disorder (NHS, 2023)</a:t>
            </a:r>
          </a:p>
          <a:p>
            <a:pPr>
              <a:spcBef>
                <a:spcPts val="400"/>
              </a:spcBef>
            </a:pPr>
            <a:r>
              <a:rPr sz="1700">
                <a:solidFill>
                  <a:srgbClr val="F0F0F0"/>
                </a:solidFill>
              </a:rPr>
              <a:t>• 50% of mental health conditions begin by age 14 (WHO)</a:t>
            </a:r>
          </a:p>
          <a:p>
            <a:pPr>
              <a:spcBef>
                <a:spcPts val="400"/>
              </a:spcBef>
            </a:pPr>
            <a:r>
              <a:rPr sz="1700">
                <a:solidFill>
                  <a:srgbClr val="F0F0F0"/>
                </a:solidFill>
              </a:rPr>
              <a:t>• CAMHS waiting times: average 18 weeks in England; up to 2 years in some areas</a:t>
            </a:r>
          </a:p>
          <a:p>
            <a:pPr>
              <a:spcBef>
                <a:spcPts val="400"/>
              </a:spcBef>
            </a:pPr>
            <a:r>
              <a:rPr sz="1700">
                <a:solidFill>
                  <a:srgbClr val="F0F0F0"/>
                </a:solidFill>
              </a:rPr>
              <a:t>• Suicide is the leading cause of death in people aged 5–34 in the UK</a:t>
            </a:r>
          </a:p>
          <a:p>
            <a:pPr>
              <a:spcBef>
                <a:spcPts val="400"/>
              </a:spcBef>
            </a:pPr>
            <a:r>
              <a:rPr sz="1700">
                <a:solidFill>
                  <a:srgbClr val="F0F0F0"/>
                </a:solidFill>
              </a:rPr>
              <a:t>• School exclusions: 84% of excluded pupils have a mental health problem</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Early intervention significantly improves long-term mental health outcomes</a:t>
            </a:r>
          </a:p>
          <a:p>
            <a:pPr>
              <a:spcBef>
                <a:spcPts val="400"/>
              </a:spcBef>
            </a:pPr>
            <a:r>
              <a:rPr sz="1700">
                <a:solidFill>
                  <a:srgbClr val="F0F0F0"/>
                </a:solidFill>
              </a:rPr>
              <a:t>• School-based counselling reduces anxiety and depression in young people</a:t>
            </a:r>
          </a:p>
          <a:p>
            <a:pPr>
              <a:spcBef>
                <a:spcPts val="400"/>
              </a:spcBef>
            </a:pPr>
            <a:r>
              <a:rPr sz="1700">
                <a:solidFill>
                  <a:srgbClr val="F0F0F0"/>
                </a:solidFill>
              </a:rPr>
              <a:t>• Parenting programmes reduce conduct disorder and improve family functioning</a:t>
            </a:r>
          </a:p>
          <a:p>
            <a:pPr>
              <a:spcBef>
                <a:spcPts val="400"/>
              </a:spcBef>
            </a:pPr>
            <a:r>
              <a:rPr sz="1700">
                <a:solidFill>
                  <a:srgbClr val="F0F0F0"/>
                </a:solidFill>
              </a:rPr>
              <a:t>• Digital mental health tools (Kooth, Headspace) are accessible and effective for young people</a:t>
            </a:r>
          </a:p>
          <a:p>
            <a:pPr>
              <a:spcBef>
                <a:spcPts val="400"/>
              </a:spcBef>
            </a:pPr>
            <a:r>
              <a:rPr sz="1700">
                <a:solidFill>
                  <a:srgbClr val="F0F0F0"/>
                </a:solidFill>
              </a:rPr>
              <a:t>• NICE (NG134): recommends CBT for anxiety and depression in young people</a:t>
            </a:r>
          </a:p>
          <a:p>
            <a:pPr>
              <a:spcBef>
                <a:spcPts val="400"/>
              </a:spcBef>
            </a:pPr>
            <a:r>
              <a:rPr sz="1700">
                <a:solidFill>
                  <a:srgbClr val="F0F0F0"/>
                </a:solidFill>
              </a:rPr>
              <a:t>• Trauma-informed schools reduce exclusions and improve academic outcomes</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Ethan, 14, began refusing to attend school, citing stomach aches and headaches. His parents were concerned but attributed it to 'teenage behaviour'. His school counsellor identified significant anxiety and referred Ethan to CAMHS. After a 6-month wait, Ethan began CBT for school refusal and social anxiety. With school-based support and a gradual reintegration plan, Ethan returned to school full-time within 12 weeks.</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School-based counselling: pastoral support, school counsellors and mental health leads</a:t>
            </a:r>
          </a:p>
          <a:p>
            <a:pPr>
              <a:spcBef>
                <a:spcPts val="400"/>
              </a:spcBef>
            </a:pPr>
            <a:r>
              <a:rPr sz="1700">
                <a:solidFill>
                  <a:srgbClr val="F0F0F0"/>
                </a:solidFill>
              </a:rPr>
              <a:t>• CBT for young people: adapted for developmental stage</a:t>
            </a:r>
          </a:p>
          <a:p>
            <a:pPr>
              <a:spcBef>
                <a:spcPts val="400"/>
              </a:spcBef>
            </a:pPr>
            <a:r>
              <a:rPr sz="1700">
                <a:solidFill>
                  <a:srgbClr val="F0F0F0"/>
                </a:solidFill>
              </a:rPr>
              <a:t>• Parenting programmes: Triple P, Incredible Years, Webster-Stratton</a:t>
            </a:r>
          </a:p>
          <a:p>
            <a:pPr>
              <a:spcBef>
                <a:spcPts val="400"/>
              </a:spcBef>
            </a:pPr>
            <a:r>
              <a:rPr sz="1700">
                <a:solidFill>
                  <a:srgbClr val="F0F0F0"/>
                </a:solidFill>
              </a:rPr>
              <a:t>• Digital tools: Kooth (online counselling), Headspace for Teens, Young Minds app</a:t>
            </a:r>
          </a:p>
          <a:p>
            <a:pPr>
              <a:spcBef>
                <a:spcPts val="400"/>
              </a:spcBef>
            </a:pPr>
            <a:r>
              <a:rPr sz="1700">
                <a:solidFill>
                  <a:srgbClr val="F0F0F0"/>
                </a:solidFill>
              </a:rPr>
              <a:t>• CAMHS: specialist assessment and treatment for complex presentations</a:t>
            </a:r>
          </a:p>
          <a:p>
            <a:pPr>
              <a:spcBef>
                <a:spcPts val="400"/>
              </a:spcBef>
            </a:pPr>
            <a:r>
              <a:rPr sz="1700">
                <a:solidFill>
                  <a:srgbClr val="F0F0F0"/>
                </a:solidFill>
              </a:rPr>
              <a:t>• Voluntary sector: Young Minds, Place2Be, PAPYRUS, Childline</a:t>
            </a:r>
          </a:p>
          <a:p>
            <a:pPr>
              <a:spcBef>
                <a:spcPts val="400"/>
              </a:spcBef>
            </a:pPr>
            <a:r>
              <a:rPr sz="1700">
                <a:solidFill>
                  <a:srgbClr val="F0F0F0"/>
                </a:solidFill>
              </a:rPr>
              <a:t>• Crisis support: PAPYRUS 0800 068 4141, Childline 0800 1111, Samaritans 116 123</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Young person's perspective: Participants consider what it feels like to be a young person experiencing mental health difficulties — the fear of stigma, the barriers to help-seeking, the role of social media. Discuss: What would have helped you at 14? How can adults better support young people's mental health?</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What are the biggest barriers to young people seeking mental health support?</a:t>
            </a:r>
          </a:p>
          <a:p>
            <a:pPr>
              <a:spcBef>
                <a:spcPts val="400"/>
              </a:spcBef>
            </a:pPr>
            <a:r>
              <a:rPr sz="1700">
                <a:solidFill>
                  <a:srgbClr val="F0F0F0"/>
                </a:solidFill>
              </a:rPr>
              <a:t>• How does social media affect young people's mental health?</a:t>
            </a:r>
          </a:p>
          <a:p>
            <a:pPr>
              <a:spcBef>
                <a:spcPts val="400"/>
              </a:spcBef>
            </a:pPr>
            <a:r>
              <a:rPr sz="1700">
                <a:solidFill>
                  <a:srgbClr val="F0F0F0"/>
                </a:solidFill>
              </a:rPr>
              <a:t>• What role should schools play in supporting young people's mental health?</a:t>
            </a:r>
          </a:p>
          <a:p>
            <a:pPr>
              <a:spcBef>
                <a:spcPts val="400"/>
              </a:spcBef>
            </a:pPr>
            <a:r>
              <a:rPr sz="1700">
                <a:solidFill>
                  <a:srgbClr val="F0F0F0"/>
                </a:solidFill>
              </a:rPr>
              <a:t>• How can parents and carers support a young person who is struggling?</a:t>
            </a:r>
          </a:p>
          <a:p>
            <a:pPr>
              <a:spcBef>
                <a:spcPts val="400"/>
              </a:spcBef>
            </a:pPr>
            <a:r>
              <a:rPr sz="1700">
                <a:solidFill>
                  <a:srgbClr val="F0F0F0"/>
                </a:solidFill>
              </a:rPr>
              <a:t>• What CAMHS and voluntary sector support is available in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Young Minds: youngminds.org.uk / 0808 802 5544</a:t>
            </a:r>
          </a:p>
          <a:p>
            <a:pPr>
              <a:spcBef>
                <a:spcPts val="400"/>
              </a:spcBef>
            </a:pPr>
            <a:r>
              <a:rPr sz="1400">
                <a:solidFill>
                  <a:srgbClr val="F0F0F0"/>
                </a:solidFill>
              </a:rPr>
              <a:t>• PAPYRUS: papyrus-uk.org / 0800 068 4141</a:t>
            </a:r>
          </a:p>
          <a:p>
            <a:pPr>
              <a:spcBef>
                <a:spcPts val="400"/>
              </a:spcBef>
            </a:pPr>
            <a:r>
              <a:rPr sz="1400">
                <a:solidFill>
                  <a:srgbClr val="F0F0F0"/>
                </a:solidFill>
              </a:rPr>
              <a:t>• Childline: childline.org.uk / 0800 1111</a:t>
            </a:r>
          </a:p>
          <a:p>
            <a:pPr>
              <a:spcBef>
                <a:spcPts val="400"/>
              </a:spcBef>
            </a:pPr>
            <a:r>
              <a:rPr sz="1400">
                <a:solidFill>
                  <a:srgbClr val="F0F0F0"/>
                </a:solidFill>
              </a:rPr>
              <a:t>• Kooth: kooth.com (free online counselling for young people)</a:t>
            </a:r>
          </a:p>
          <a:p>
            <a:pPr>
              <a:spcBef>
                <a:spcPts val="400"/>
              </a:spcBef>
            </a:pPr>
            <a:r>
              <a:rPr sz="1400">
                <a:solidFill>
                  <a:srgbClr val="F0F0F0"/>
                </a:solidFill>
              </a:rPr>
              <a:t>• Wiltshire CAMHS: wiltshirehealthandcare.nhs.uk/camhs</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33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Children and Adolescent Mental Health</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33: Children and Adolescent Mental Health</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
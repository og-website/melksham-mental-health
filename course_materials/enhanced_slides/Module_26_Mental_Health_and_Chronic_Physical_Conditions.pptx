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jp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 Id="rId18" Type="http://schemas.openxmlformats.org/officeDocument/2006/relationships/slide" Target="slides/slide12.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g"/><Relationship Id="rId3" Type="http://schemas.openxmlformats.org/officeDocument/2006/relationships/image" Target="../media/image2.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g"/><Relationship Id="rId3" Type="http://schemas.openxmlformats.org/officeDocument/2006/relationships/image" Target="../media/image2.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g"/><Relationship Id="rId3" Type="http://schemas.openxmlformats.org/officeDocument/2006/relationships/image" Target="../media/image2.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g"/><Relationship Id="rId3" Type="http://schemas.openxmlformats.org/officeDocument/2006/relationships/image" Target="../media/image2.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g"/><Relationship Id="rId3" Type="http://schemas.openxmlformats.org/officeDocument/2006/relationships/image" Target="../media/image2.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g"/><Relationship Id="rId3" Type="http://schemas.openxmlformats.org/officeDocument/2006/relationships/image" Target="../media/image2.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g"/><Relationship Id="rId3" Type="http://schemas.openxmlformats.org/officeDocument/2006/relationships/image" Target="../media/image2.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g"/><Relationship Id="rId3" Type="http://schemas.openxmlformats.org/officeDocument/2006/relationships/image" Target="../media/image2.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g"/><Relationship Id="rId3" Type="http://schemas.openxmlformats.org/officeDocument/2006/relationships/image" Target="../media/image2.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g"/><Relationship Id="rId3" Type="http://schemas.openxmlformats.org/officeDocument/2006/relationships/image" Target="../media/image2.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g"/><Relationship Id="rId3" Type="http://schemas.openxmlformats.org/officeDocument/2006/relationships/image" Target="../media/image2.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g"/><Relationship Id="rId3" Type="http://schemas.openxmlformats.org/officeDocument/2006/relationships/image" Target="../media/image2.png"/></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1A1A1A"/>
        </a:solidFill>
        <a:effectLst/>
      </p:bgPr>
    </p:bg>
    <p:spTree>
      <p:nvGrpSpPr>
        <p:cNvPr id="1" name=""/>
        <p:cNvGrpSpPr/>
        <p:nvPr/>
      </p:nvGrpSpPr>
      <p:grpSpPr/>
      <p:pic>
        <p:nvPicPr>
          <p:cNvPr id="2" name="Picture 1" descr="bg_opt.jpg"/>
          <p:cNvPicPr>
            <a:picLocks noChangeAspect="1"/>
          </p:cNvPicPr>
          <p:nvPr/>
        </p:nvPicPr>
        <p:blipFill>
          <a:blip r:embed="rId2"/>
          <a:stretch>
            <a:fillRect/>
          </a:stretch>
        </p:blipFill>
        <p:spPr>
          <a:xfrm>
            <a:off x="0" y="0"/>
            <a:ext cx="9144000" cy="6858000"/>
          </a:xfrm>
          <a:prstGeom prst="rect">
            <a:avLst/>
          </a:prstGeom>
        </p:spPr>
      </p:pic>
      <p:pic>
        <p:nvPicPr>
          <p:cNvPr id="3" name="Picture 2" descr="logo_opt.png"/>
          <p:cNvPicPr>
            <a:picLocks noChangeAspect="1"/>
          </p:cNvPicPr>
          <p:nvPr/>
        </p:nvPicPr>
        <p:blipFill>
          <a:blip r:embed="rId3"/>
          <a:stretch>
            <a:fillRect/>
          </a:stretch>
        </p:blipFill>
        <p:spPr>
          <a:xfrm>
            <a:off x="7589520" y="228600"/>
            <a:ext cx="1097280" cy="1097280"/>
          </a:xfrm>
          <a:prstGeom prst="rect">
            <a:avLst/>
          </a:prstGeom>
        </p:spPr>
      </p:pic>
      <p:sp>
        <p:nvSpPr>
          <p:cNvPr id="4" name="Rectangle 3"/>
          <p:cNvSpPr/>
          <p:nvPr/>
        </p:nvSpPr>
        <p:spPr>
          <a:xfrm>
            <a:off x="0" y="0"/>
            <a:ext cx="9144000" cy="1828800"/>
          </a:xfrm>
          <a:prstGeom prst="rect">
            <a:avLst/>
          </a:prstGeom>
          <a:solidFill>
            <a:srgbClr val="FF6B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200000"/>
            <a:ext cx="7589520" cy="548640"/>
          </a:xfrm>
          <a:prstGeom prst="rect">
            <a:avLst/>
          </a:prstGeom>
          <a:noFill/>
        </p:spPr>
        <p:txBody>
          <a:bodyPr wrap="square">
            <a:spAutoFit/>
          </a:bodyPr>
          <a:lstStyle/>
          <a:p>
            <a:pPr algn="l"/>
            <a:r>
              <a:rPr sz="3600" b="1" i="0">
                <a:solidFill>
                  <a:srgbClr val="1A1A1A"/>
                </a:solidFill>
              </a:rPr>
              <a:t>Module 26</a:t>
            </a:r>
          </a:p>
        </p:txBody>
      </p:sp>
      <p:sp>
        <p:nvSpPr>
          <p:cNvPr id="6" name="TextBox 5"/>
          <p:cNvSpPr txBox="1"/>
          <p:nvPr/>
        </p:nvSpPr>
        <p:spPr>
          <a:xfrm>
            <a:off x="457200" y="640080"/>
            <a:ext cx="7589520" cy="914400"/>
          </a:xfrm>
          <a:prstGeom prst="rect">
            <a:avLst/>
          </a:prstGeom>
          <a:noFill/>
        </p:spPr>
        <p:txBody>
          <a:bodyPr wrap="square">
            <a:spAutoFit/>
          </a:bodyPr>
          <a:lstStyle/>
          <a:p>
            <a:pPr algn="l"/>
            <a:r>
              <a:rPr sz="2600" b="0" i="0">
                <a:solidFill>
                  <a:srgbClr val="1A1A1A"/>
                </a:solidFill>
              </a:rPr>
              <a:t>Mental Health and Chronic Physical Conditions</a:t>
            </a:r>
          </a:p>
        </p:txBody>
      </p:sp>
      <p:sp>
        <p:nvSpPr>
          <p:cNvPr id="7" name="TextBox 6"/>
          <p:cNvSpPr txBox="1"/>
          <p:nvPr/>
        </p:nvSpPr>
        <p:spPr>
          <a:xfrm>
            <a:off x="457200" y="2100000"/>
            <a:ext cx="8229600" cy="548640"/>
          </a:xfrm>
          <a:prstGeom prst="rect">
            <a:avLst/>
          </a:prstGeom>
          <a:noFill/>
        </p:spPr>
        <p:txBody>
          <a:bodyPr wrap="square">
            <a:spAutoFit/>
          </a:bodyPr>
          <a:lstStyle/>
          <a:p>
            <a:pPr algn="l"/>
            <a:r>
              <a:rPr sz="2000" b="1" i="0">
                <a:solidFill>
                  <a:srgbClr val="FF6B00"/>
                </a:solidFill>
              </a:rPr>
              <a:t>Melksham Mental Health — Comprehensive Course</a:t>
            </a:r>
          </a:p>
        </p:txBody>
      </p:sp>
      <p:sp>
        <p:nvSpPr>
          <p:cNvPr id="8" name="TextBox 7"/>
          <p:cNvSpPr txBox="1"/>
          <p:nvPr/>
        </p:nvSpPr>
        <p:spPr>
          <a:xfrm>
            <a:off x="457200" y="2650000"/>
            <a:ext cx="8229600" cy="457200"/>
          </a:xfrm>
          <a:prstGeom prst="rect">
            <a:avLst/>
          </a:prstGeom>
          <a:noFill/>
        </p:spPr>
        <p:txBody>
          <a:bodyPr wrap="square">
            <a:spAutoFit/>
          </a:bodyPr>
          <a:lstStyle/>
          <a:p>
            <a:pPr algn="l"/>
            <a:r>
              <a:rPr sz="1600" b="0" i="0">
                <a:solidFill>
                  <a:srgbClr val="AAAAAA"/>
                </a:solidFill>
              </a:rPr>
              <a:t>2-hour session  •  Includes 30-minute group discussion</a:t>
            </a:r>
          </a:p>
        </p:txBody>
      </p:sp>
      <p:sp>
        <p:nvSpPr>
          <p:cNvPr id="9" name="TextBox 8"/>
          <p:cNvSpPr txBox="1"/>
          <p:nvPr/>
        </p:nvSpPr>
        <p:spPr>
          <a:xfrm>
            <a:off x="457200" y="5958000"/>
            <a:ext cx="8229600" cy="457200"/>
          </a:xfrm>
          <a:prstGeom prst="rect">
            <a:avLst/>
          </a:prstGeom>
          <a:noFill/>
        </p:spPr>
        <p:txBody>
          <a:bodyPr wrap="square">
            <a:spAutoFit/>
          </a:bodyPr>
          <a:lstStyle/>
          <a:p>
            <a:pPr algn="ctr"/>
            <a:r>
              <a:rPr sz="1200" b="0" i="0">
                <a:solidFill>
                  <a:srgbClr val="AAAAAA"/>
                </a:solidFill>
              </a:rPr>
              <a:t>melksham-mentalhealth.us  |  Melksham-mental-health@outlook.com</a:t>
            </a:r>
          </a:p>
        </p:txBody>
      </p:sp>
      <p:sp>
        <p:nvSpPr>
          <p:cNvPr id="10" name="TextBox 9"/>
          <p:cNvSpPr txBox="1"/>
          <p:nvPr/>
        </p:nvSpPr>
        <p:spPr>
          <a:xfrm>
            <a:off x="457200" y="6309360"/>
            <a:ext cx="8229600" cy="457200"/>
          </a:xfrm>
          <a:prstGeom prst="rect">
            <a:avLst/>
          </a:prstGeom>
          <a:noFill/>
        </p:spPr>
        <p:txBody>
          <a:bodyPr wrap="square">
            <a:spAutoFit/>
          </a:bodyPr>
          <a:lstStyle/>
          <a:p>
            <a:pPr algn="ctr"/>
            <a:r>
              <a:rPr sz="1100" b="0" i="0">
                <a:solidFill>
                  <a:srgbClr val="AAAAAA"/>
                </a:solidFill>
              </a:rPr>
              <a:t>Crisis? Call 999 or Samaritans 116 123 (free, 24/7)</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1A1A1A"/>
        </a:solidFill>
        <a:effectLst/>
      </p:bgPr>
    </p:bg>
    <p:spTree>
      <p:nvGrpSpPr>
        <p:cNvPr id="1" name=""/>
        <p:cNvGrpSpPr/>
        <p:nvPr/>
      </p:nvGrpSpPr>
      <p:grpSpPr/>
      <p:pic>
        <p:nvPicPr>
          <p:cNvPr id="2" name="Picture 1" descr="bg_opt.jpg"/>
          <p:cNvPicPr>
            <a:picLocks noChangeAspect="1"/>
          </p:cNvPicPr>
          <p:nvPr/>
        </p:nvPicPr>
        <p:blipFill>
          <a:blip r:embed="rId2"/>
          <a:stretch>
            <a:fillRect/>
          </a:stretch>
        </p:blipFill>
        <p:spPr>
          <a:xfrm>
            <a:off x="0" y="0"/>
            <a:ext cx="9144000" cy="6858000"/>
          </a:xfrm>
          <a:prstGeom prst="rect">
            <a:avLst/>
          </a:prstGeom>
        </p:spPr>
      </p:pic>
      <p:pic>
        <p:nvPicPr>
          <p:cNvPr id="3" name="Picture 2" descr="logo_opt.png"/>
          <p:cNvPicPr>
            <a:picLocks noChangeAspect="1"/>
          </p:cNvPicPr>
          <p:nvPr/>
        </p:nvPicPr>
        <p:blipFill>
          <a:blip r:embed="rId3"/>
          <a:stretch>
            <a:fillRect/>
          </a:stretch>
        </p:blipFill>
        <p:spPr>
          <a:xfrm>
            <a:off x="7589520" y="228600"/>
            <a:ext cx="1097280" cy="1097280"/>
          </a:xfrm>
          <a:prstGeom prst="rect">
            <a:avLst/>
          </a:prstGeom>
        </p:spPr>
      </p:pic>
      <p:sp>
        <p:nvSpPr>
          <p:cNvPr id="4" name="TextBox 3"/>
          <p:cNvSpPr txBox="1"/>
          <p:nvPr/>
        </p:nvSpPr>
        <p:spPr>
          <a:xfrm>
            <a:off x="457200" y="457200"/>
            <a:ext cx="8229600" cy="640080"/>
          </a:xfrm>
          <a:prstGeom prst="rect">
            <a:avLst/>
          </a:prstGeom>
          <a:noFill/>
        </p:spPr>
        <p:txBody>
          <a:bodyPr wrap="square">
            <a:spAutoFit/>
          </a:bodyPr>
          <a:lstStyle/>
          <a:p>
            <a:pPr algn="l"/>
            <a:r>
              <a:rPr sz="3000" b="1" i="0">
                <a:solidFill>
                  <a:srgbClr val="FF6B00"/>
                </a:solidFill>
              </a:rPr>
              <a:t>Session Overview</a:t>
            </a:r>
          </a:p>
        </p:txBody>
      </p:sp>
      <p:sp>
        <p:nvSpPr>
          <p:cNvPr id="5" name="Rectangle 4"/>
          <p:cNvSpPr/>
          <p:nvPr/>
        </p:nvSpPr>
        <p:spPr>
          <a:xfrm>
            <a:off x="457200" y="1097280"/>
            <a:ext cx="8229600" cy="45720"/>
          </a:xfrm>
          <a:prstGeom prst="rect">
            <a:avLst/>
          </a:prstGeom>
          <a:solidFill>
            <a:srgbClr val="FF6B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57200" y="1200000"/>
            <a:ext cx="8229600" cy="1400000"/>
          </a:xfrm>
          <a:prstGeom prst="rect">
            <a:avLst/>
          </a:prstGeom>
          <a:noFill/>
        </p:spPr>
        <p:txBody>
          <a:bodyPr wrap="square">
            <a:spAutoFit/>
          </a:bodyPr>
          <a:lstStyle/>
          <a:p>
            <a:pPr algn="l"/>
            <a:r>
              <a:rPr sz="1500" b="0" i="0">
                <a:solidFill>
                  <a:srgbClr val="F0F0F0"/>
                </a:solidFill>
              </a:rPr>
              <a:t>The relationship between mental and physical health is bidirectional and profound. People living with chronic physical conditions are significantly more likely to develop depression and anxiety, while mental health problems worsen physical health outcomes. This module explores this relationship and the integrated care approaches that address both.</a:t>
            </a:r>
          </a:p>
        </p:txBody>
      </p:sp>
      <p:sp>
        <p:nvSpPr>
          <p:cNvPr id="7" name="TextBox 6"/>
          <p:cNvSpPr txBox="1"/>
          <p:nvPr/>
        </p:nvSpPr>
        <p:spPr>
          <a:xfrm>
            <a:off x="457200" y="2700000"/>
            <a:ext cx="8229600" cy="3200000"/>
          </a:xfrm>
          <a:prstGeom prst="rect">
            <a:avLst/>
          </a:prstGeom>
          <a:noFill/>
        </p:spPr>
        <p:txBody>
          <a:bodyPr wrap="square">
            <a:spAutoFit/>
          </a:bodyPr>
          <a:lstStyle/>
          <a:p>
            <a:pPr>
              <a:spcBef>
                <a:spcPts val="400"/>
              </a:spcBef>
            </a:pPr>
            <a:r>
              <a:rPr sz="1700">
                <a:solidFill>
                  <a:srgbClr val="F0F0F0"/>
                </a:solidFill>
              </a:rPr>
              <a:t>• Introduction &amp; Objectives  (15 min)</a:t>
            </a:r>
          </a:p>
          <a:p>
            <a:pPr>
              <a:spcBef>
                <a:spcPts val="400"/>
              </a:spcBef>
            </a:pPr>
            <a:r>
              <a:rPr sz="1700">
                <a:solidFill>
                  <a:srgbClr val="F0F0F0"/>
                </a:solidFill>
              </a:rPr>
              <a:t>• Evidence-Based Content  (45 min)</a:t>
            </a:r>
          </a:p>
          <a:p>
            <a:pPr>
              <a:spcBef>
                <a:spcPts val="400"/>
              </a:spcBef>
            </a:pPr>
            <a:r>
              <a:rPr sz="1700">
                <a:solidFill>
                  <a:srgbClr val="F0F0F0"/>
                </a:solidFill>
              </a:rPr>
              <a:t>• Case Study  (15 min)</a:t>
            </a:r>
          </a:p>
          <a:p>
            <a:pPr>
              <a:spcBef>
                <a:spcPts val="400"/>
              </a:spcBef>
            </a:pPr>
            <a:r>
              <a:rPr sz="1700">
                <a:solidFill>
                  <a:srgbClr val="F0F0F0"/>
                </a:solidFill>
              </a:rPr>
              <a:t>• Interactive Activity  (30 min)</a:t>
            </a:r>
          </a:p>
          <a:p>
            <a:pPr>
              <a:spcBef>
                <a:spcPts val="400"/>
              </a:spcBef>
            </a:pPr>
            <a:r>
              <a:rPr sz="1700">
                <a:solidFill>
                  <a:srgbClr val="F0F0F0"/>
                </a:solidFill>
              </a:rPr>
              <a:t>• Group Discussion  (30 min)</a:t>
            </a:r>
          </a:p>
          <a:p>
            <a:pPr>
              <a:spcBef>
                <a:spcPts val="400"/>
              </a:spcBef>
            </a:pPr>
            <a:r>
              <a:rPr sz="1700">
                <a:solidFill>
                  <a:srgbClr val="F0F0F0"/>
                </a:solidFill>
              </a:rPr>
              <a:t>• Wrap-Up &amp; Resources  (15 min)</a:t>
            </a:r>
          </a:p>
        </p:txBody>
      </p:sp>
      <p:sp>
        <p:nvSpPr>
          <p:cNvPr id="8" name="TextBox 7"/>
          <p:cNvSpPr txBox="1"/>
          <p:nvPr/>
        </p:nvSpPr>
        <p:spPr>
          <a:xfrm>
            <a:off x="457200" y="6309360"/>
            <a:ext cx="8229600" cy="457200"/>
          </a:xfrm>
          <a:prstGeom prst="rect">
            <a:avLst/>
          </a:prstGeom>
          <a:noFill/>
        </p:spPr>
        <p:txBody>
          <a:bodyPr wrap="square">
            <a:spAutoFit/>
          </a:bodyPr>
          <a:lstStyle/>
          <a:p>
            <a:pPr algn="ctr"/>
            <a:r>
              <a:rPr sz="1100" b="0" i="0">
                <a:solidFill>
                  <a:srgbClr val="AAAAAA"/>
                </a:solidFill>
              </a:rPr>
              <a:t>Crisis? Call 999 or Samaritans 116 123 (free, 24/7)</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1A1A1A"/>
        </a:solidFill>
        <a:effectLst/>
      </p:bgPr>
    </p:bg>
    <p:spTree>
      <p:nvGrpSpPr>
        <p:cNvPr id="1" name=""/>
        <p:cNvGrpSpPr/>
        <p:nvPr/>
      </p:nvGrpSpPr>
      <p:grpSpPr/>
      <p:pic>
        <p:nvPicPr>
          <p:cNvPr id="2" name="Picture 1" descr="bg_opt.jpg"/>
          <p:cNvPicPr>
            <a:picLocks noChangeAspect="1"/>
          </p:cNvPicPr>
          <p:nvPr/>
        </p:nvPicPr>
        <p:blipFill>
          <a:blip r:embed="rId2"/>
          <a:stretch>
            <a:fillRect/>
          </a:stretch>
        </p:blipFill>
        <p:spPr>
          <a:xfrm>
            <a:off x="0" y="0"/>
            <a:ext cx="9144000" cy="6858000"/>
          </a:xfrm>
          <a:prstGeom prst="rect">
            <a:avLst/>
          </a:prstGeom>
        </p:spPr>
      </p:pic>
      <p:pic>
        <p:nvPicPr>
          <p:cNvPr id="3" name="Picture 2" descr="logo_opt.png"/>
          <p:cNvPicPr>
            <a:picLocks noChangeAspect="1"/>
          </p:cNvPicPr>
          <p:nvPr/>
        </p:nvPicPr>
        <p:blipFill>
          <a:blip r:embed="rId3"/>
          <a:stretch>
            <a:fillRect/>
          </a:stretch>
        </p:blipFill>
        <p:spPr>
          <a:xfrm>
            <a:off x="7589520" y="228600"/>
            <a:ext cx="1097280" cy="1097280"/>
          </a:xfrm>
          <a:prstGeom prst="rect">
            <a:avLst/>
          </a:prstGeom>
        </p:spPr>
      </p:pic>
      <p:sp>
        <p:nvSpPr>
          <p:cNvPr id="4" name="TextBox 3"/>
          <p:cNvSpPr txBox="1"/>
          <p:nvPr/>
        </p:nvSpPr>
        <p:spPr>
          <a:xfrm>
            <a:off x="457200" y="457200"/>
            <a:ext cx="8229600" cy="640080"/>
          </a:xfrm>
          <a:prstGeom prst="rect">
            <a:avLst/>
          </a:prstGeom>
          <a:noFill/>
        </p:spPr>
        <p:txBody>
          <a:bodyPr wrap="square">
            <a:spAutoFit/>
          </a:bodyPr>
          <a:lstStyle/>
          <a:p>
            <a:pPr algn="l"/>
            <a:r>
              <a:rPr sz="3000" b="1" i="0">
                <a:solidFill>
                  <a:srgbClr val="FF6B00"/>
                </a:solidFill>
              </a:rPr>
              <a:t>Learning Objectives</a:t>
            </a:r>
          </a:p>
        </p:txBody>
      </p:sp>
      <p:sp>
        <p:nvSpPr>
          <p:cNvPr id="5" name="Rectangle 4"/>
          <p:cNvSpPr/>
          <p:nvPr/>
        </p:nvSpPr>
        <p:spPr>
          <a:xfrm>
            <a:off x="457200" y="1097280"/>
            <a:ext cx="8229600" cy="45720"/>
          </a:xfrm>
          <a:prstGeom prst="rect">
            <a:avLst/>
          </a:prstGeom>
          <a:solidFill>
            <a:srgbClr val="FF6B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57200" y="1280160"/>
            <a:ext cx="8229600" cy="4800000"/>
          </a:xfrm>
          <a:prstGeom prst="rect">
            <a:avLst/>
          </a:prstGeom>
          <a:noFill/>
        </p:spPr>
        <p:txBody>
          <a:bodyPr wrap="square">
            <a:spAutoFit/>
          </a:bodyPr>
          <a:lstStyle/>
          <a:p>
            <a:pPr>
              <a:spcBef>
                <a:spcPts val="400"/>
              </a:spcBef>
            </a:pPr>
            <a:r>
              <a:rPr sz="1700">
                <a:solidFill>
                  <a:srgbClr val="F0F0F0"/>
                </a:solidFill>
              </a:rPr>
              <a:t>• Understand the bidirectional relationship between mental and physical health</a:t>
            </a:r>
          </a:p>
          <a:p>
            <a:pPr>
              <a:spcBef>
                <a:spcPts val="400"/>
              </a:spcBef>
            </a:pPr>
            <a:r>
              <a:rPr sz="1700">
                <a:solidFill>
                  <a:srgbClr val="F0F0F0"/>
                </a:solidFill>
              </a:rPr>
              <a:t>• Identify the mental health impact of chronic conditions: diabetes, cancer, heart disease, arthritis</a:t>
            </a:r>
          </a:p>
          <a:p>
            <a:pPr>
              <a:spcBef>
                <a:spcPts val="400"/>
              </a:spcBef>
            </a:pPr>
            <a:r>
              <a:rPr sz="1700">
                <a:solidFill>
                  <a:srgbClr val="F0F0F0"/>
                </a:solidFill>
              </a:rPr>
              <a:t>• Explore the psychological processes linking chronic illness and mental health</a:t>
            </a:r>
          </a:p>
          <a:p>
            <a:pPr>
              <a:spcBef>
                <a:spcPts val="400"/>
              </a:spcBef>
            </a:pPr>
            <a:r>
              <a:rPr sz="1700">
                <a:solidFill>
                  <a:srgbClr val="F0F0F0"/>
                </a:solidFill>
              </a:rPr>
              <a:t>• Understand the concept of medically unexplained symptoms</a:t>
            </a:r>
          </a:p>
          <a:p>
            <a:pPr>
              <a:spcBef>
                <a:spcPts val="400"/>
              </a:spcBef>
            </a:pPr>
            <a:r>
              <a:rPr sz="1700">
                <a:solidFill>
                  <a:srgbClr val="F0F0F0"/>
                </a:solidFill>
              </a:rPr>
              <a:t>• Explore integrated care approaches: collaborative care, liaison psychiatry</a:t>
            </a:r>
          </a:p>
          <a:p>
            <a:pPr>
              <a:spcBef>
                <a:spcPts val="400"/>
              </a:spcBef>
            </a:pPr>
            <a:r>
              <a:rPr sz="1700">
                <a:solidFill>
                  <a:srgbClr val="F0F0F0"/>
                </a:solidFill>
              </a:rPr>
              <a:t>• Develop coping strategies for living with chronic illness</a:t>
            </a:r>
          </a:p>
        </p:txBody>
      </p:sp>
      <p:sp>
        <p:nvSpPr>
          <p:cNvPr id="7" name="TextBox 6"/>
          <p:cNvSpPr txBox="1"/>
          <p:nvPr/>
        </p:nvSpPr>
        <p:spPr>
          <a:xfrm>
            <a:off x="457200" y="6309360"/>
            <a:ext cx="8229600" cy="457200"/>
          </a:xfrm>
          <a:prstGeom prst="rect">
            <a:avLst/>
          </a:prstGeom>
          <a:noFill/>
        </p:spPr>
        <p:txBody>
          <a:bodyPr wrap="square">
            <a:spAutoFit/>
          </a:bodyPr>
          <a:lstStyle/>
          <a:p>
            <a:pPr algn="ctr"/>
            <a:r>
              <a:rPr sz="1100" b="0" i="0">
                <a:solidFill>
                  <a:srgbClr val="AAAAAA"/>
                </a:solidFill>
              </a:rPr>
              <a:t>Crisis? Call 999 or Samaritans 116 123 (free, 24/7)</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1A1A1A"/>
        </a:solidFill>
        <a:effectLst/>
      </p:bgPr>
    </p:bg>
    <p:spTree>
      <p:nvGrpSpPr>
        <p:cNvPr id="1" name=""/>
        <p:cNvGrpSpPr/>
        <p:nvPr/>
      </p:nvGrpSpPr>
      <p:grpSpPr/>
      <p:pic>
        <p:nvPicPr>
          <p:cNvPr id="2" name="Picture 1" descr="bg_opt.jpg"/>
          <p:cNvPicPr>
            <a:picLocks noChangeAspect="1"/>
          </p:cNvPicPr>
          <p:nvPr/>
        </p:nvPicPr>
        <p:blipFill>
          <a:blip r:embed="rId2"/>
          <a:stretch>
            <a:fillRect/>
          </a:stretch>
        </p:blipFill>
        <p:spPr>
          <a:xfrm>
            <a:off x="0" y="0"/>
            <a:ext cx="9144000" cy="6858000"/>
          </a:xfrm>
          <a:prstGeom prst="rect">
            <a:avLst/>
          </a:prstGeom>
        </p:spPr>
      </p:pic>
      <p:pic>
        <p:nvPicPr>
          <p:cNvPr id="3" name="Picture 2" descr="logo_opt.png"/>
          <p:cNvPicPr>
            <a:picLocks noChangeAspect="1"/>
          </p:cNvPicPr>
          <p:nvPr/>
        </p:nvPicPr>
        <p:blipFill>
          <a:blip r:embed="rId3"/>
          <a:stretch>
            <a:fillRect/>
          </a:stretch>
        </p:blipFill>
        <p:spPr>
          <a:xfrm>
            <a:off x="7589520" y="228600"/>
            <a:ext cx="1097280" cy="1097280"/>
          </a:xfrm>
          <a:prstGeom prst="rect">
            <a:avLst/>
          </a:prstGeom>
        </p:spPr>
      </p:pic>
      <p:sp>
        <p:nvSpPr>
          <p:cNvPr id="4" name="TextBox 3"/>
          <p:cNvSpPr txBox="1"/>
          <p:nvPr/>
        </p:nvSpPr>
        <p:spPr>
          <a:xfrm>
            <a:off x="457200" y="457200"/>
            <a:ext cx="8229600" cy="640080"/>
          </a:xfrm>
          <a:prstGeom prst="rect">
            <a:avLst/>
          </a:prstGeom>
          <a:noFill/>
        </p:spPr>
        <p:txBody>
          <a:bodyPr wrap="square">
            <a:spAutoFit/>
          </a:bodyPr>
          <a:lstStyle/>
          <a:p>
            <a:pPr algn="l"/>
            <a:r>
              <a:rPr sz="3000" b="1" i="0">
                <a:solidFill>
                  <a:srgbClr val="FF6B00"/>
                </a:solidFill>
              </a:rPr>
              <a:t>Module 26: Key Topics</a:t>
            </a:r>
          </a:p>
        </p:txBody>
      </p:sp>
      <p:sp>
        <p:nvSpPr>
          <p:cNvPr id="5" name="Rectangle 4"/>
          <p:cNvSpPr/>
          <p:nvPr/>
        </p:nvSpPr>
        <p:spPr>
          <a:xfrm>
            <a:off x="457200" y="1097280"/>
            <a:ext cx="8229600" cy="45720"/>
          </a:xfrm>
          <a:prstGeom prst="rect">
            <a:avLst/>
          </a:prstGeom>
          <a:solidFill>
            <a:srgbClr val="FF6B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57200" y="1280160"/>
            <a:ext cx="8229600" cy="4800000"/>
          </a:xfrm>
          <a:prstGeom prst="rect">
            <a:avLst/>
          </a:prstGeom>
          <a:noFill/>
        </p:spPr>
        <p:txBody>
          <a:bodyPr wrap="square">
            <a:spAutoFit/>
          </a:bodyPr>
          <a:lstStyle/>
          <a:p>
            <a:pPr>
              <a:spcBef>
                <a:spcPts val="400"/>
              </a:spcBef>
            </a:pPr>
            <a:r>
              <a:rPr sz="1700">
                <a:solidFill>
                  <a:srgbClr val="F0F0F0"/>
                </a:solidFill>
              </a:rPr>
              <a:t>• Bidirectional relationship: chronic illness increases risk of depression; depression worsens physical outcomes</a:t>
            </a:r>
          </a:p>
          <a:p>
            <a:pPr>
              <a:spcBef>
                <a:spcPts val="400"/>
              </a:spcBef>
            </a:pPr>
            <a:r>
              <a:rPr sz="1700">
                <a:solidFill>
                  <a:srgbClr val="F0F0F0"/>
                </a:solidFill>
              </a:rPr>
              <a:t>• Prevalence: people with long-term conditions are 2–3 times more likely to develop depression</a:t>
            </a:r>
          </a:p>
          <a:p>
            <a:pPr>
              <a:spcBef>
                <a:spcPts val="400"/>
              </a:spcBef>
            </a:pPr>
            <a:r>
              <a:rPr sz="1700">
                <a:solidFill>
                  <a:srgbClr val="F0F0F0"/>
                </a:solidFill>
              </a:rPr>
              <a:t>• Psychological processes: loss of role, uncertainty, pain, social isolation, medication side effects</a:t>
            </a:r>
          </a:p>
          <a:p>
            <a:pPr>
              <a:spcBef>
                <a:spcPts val="400"/>
              </a:spcBef>
            </a:pPr>
            <a:r>
              <a:rPr sz="1700">
                <a:solidFill>
                  <a:srgbClr val="F0F0F0"/>
                </a:solidFill>
              </a:rPr>
              <a:t>• Chronic pain: strongly associated with depression and anxiety</a:t>
            </a:r>
          </a:p>
          <a:p>
            <a:pPr>
              <a:spcBef>
                <a:spcPts val="400"/>
              </a:spcBef>
            </a:pPr>
            <a:r>
              <a:rPr sz="1700">
                <a:solidFill>
                  <a:srgbClr val="F0F0F0"/>
                </a:solidFill>
              </a:rPr>
              <a:t>• Cancer and mental health: 30–40% of cancer patients experience depression or anxiety</a:t>
            </a:r>
          </a:p>
          <a:p>
            <a:pPr>
              <a:spcBef>
                <a:spcPts val="400"/>
              </a:spcBef>
            </a:pPr>
            <a:r>
              <a:rPr sz="1700">
                <a:solidFill>
                  <a:srgbClr val="F0F0F0"/>
                </a:solidFill>
              </a:rPr>
              <a:t>• Medically unexplained symptoms: physical symptoms without identifiable organic cause</a:t>
            </a:r>
          </a:p>
        </p:txBody>
      </p:sp>
      <p:sp>
        <p:nvSpPr>
          <p:cNvPr id="7" name="TextBox 6"/>
          <p:cNvSpPr txBox="1"/>
          <p:nvPr/>
        </p:nvSpPr>
        <p:spPr>
          <a:xfrm>
            <a:off x="457200" y="6309360"/>
            <a:ext cx="8229600" cy="457200"/>
          </a:xfrm>
          <a:prstGeom prst="rect">
            <a:avLst/>
          </a:prstGeom>
          <a:noFill/>
        </p:spPr>
        <p:txBody>
          <a:bodyPr wrap="square">
            <a:spAutoFit/>
          </a:bodyPr>
          <a:lstStyle/>
          <a:p>
            <a:pPr algn="ctr"/>
            <a:r>
              <a:rPr sz="1100" b="0" i="0">
                <a:solidFill>
                  <a:srgbClr val="AAAAAA"/>
                </a:solidFill>
              </a:rPr>
              <a:t>Crisis? Call 999 or Samaritans 116 123 (free, 24/7)</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1A1A1A"/>
        </a:solidFill>
        <a:effectLst/>
      </p:bgPr>
    </p:bg>
    <p:spTree>
      <p:nvGrpSpPr>
        <p:cNvPr id="1" name=""/>
        <p:cNvGrpSpPr/>
        <p:nvPr/>
      </p:nvGrpSpPr>
      <p:grpSpPr/>
      <p:pic>
        <p:nvPicPr>
          <p:cNvPr id="2" name="Picture 1" descr="bg_opt.jpg"/>
          <p:cNvPicPr>
            <a:picLocks noChangeAspect="1"/>
          </p:cNvPicPr>
          <p:nvPr/>
        </p:nvPicPr>
        <p:blipFill>
          <a:blip r:embed="rId2"/>
          <a:stretch>
            <a:fillRect/>
          </a:stretch>
        </p:blipFill>
        <p:spPr>
          <a:xfrm>
            <a:off x="0" y="0"/>
            <a:ext cx="9144000" cy="6858000"/>
          </a:xfrm>
          <a:prstGeom prst="rect">
            <a:avLst/>
          </a:prstGeom>
        </p:spPr>
      </p:pic>
      <p:pic>
        <p:nvPicPr>
          <p:cNvPr id="3" name="Picture 2" descr="logo_opt.png"/>
          <p:cNvPicPr>
            <a:picLocks noChangeAspect="1"/>
          </p:cNvPicPr>
          <p:nvPr/>
        </p:nvPicPr>
        <p:blipFill>
          <a:blip r:embed="rId3"/>
          <a:stretch>
            <a:fillRect/>
          </a:stretch>
        </p:blipFill>
        <p:spPr>
          <a:xfrm>
            <a:off x="7589520" y="228600"/>
            <a:ext cx="1097280" cy="1097280"/>
          </a:xfrm>
          <a:prstGeom prst="rect">
            <a:avLst/>
          </a:prstGeom>
        </p:spPr>
      </p:pic>
      <p:sp>
        <p:nvSpPr>
          <p:cNvPr id="4" name="TextBox 3"/>
          <p:cNvSpPr txBox="1"/>
          <p:nvPr/>
        </p:nvSpPr>
        <p:spPr>
          <a:xfrm>
            <a:off x="457200" y="457200"/>
            <a:ext cx="8229600" cy="640080"/>
          </a:xfrm>
          <a:prstGeom prst="rect">
            <a:avLst/>
          </a:prstGeom>
          <a:noFill/>
        </p:spPr>
        <p:txBody>
          <a:bodyPr wrap="square">
            <a:spAutoFit/>
          </a:bodyPr>
          <a:lstStyle/>
          <a:p>
            <a:pPr algn="l"/>
            <a:r>
              <a:rPr sz="3000" b="1" i="0">
                <a:solidFill>
                  <a:srgbClr val="FF6B00"/>
                </a:solidFill>
              </a:rPr>
              <a:t>Key Statistics &amp; Prevalence</a:t>
            </a:r>
          </a:p>
        </p:txBody>
      </p:sp>
      <p:sp>
        <p:nvSpPr>
          <p:cNvPr id="5" name="Rectangle 4"/>
          <p:cNvSpPr/>
          <p:nvPr/>
        </p:nvSpPr>
        <p:spPr>
          <a:xfrm>
            <a:off x="457200" y="1097280"/>
            <a:ext cx="8229600" cy="45720"/>
          </a:xfrm>
          <a:prstGeom prst="rect">
            <a:avLst/>
          </a:prstGeom>
          <a:solidFill>
            <a:srgbClr val="FF6B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57200" y="1280160"/>
            <a:ext cx="8229600" cy="4800000"/>
          </a:xfrm>
          <a:prstGeom prst="rect">
            <a:avLst/>
          </a:prstGeom>
          <a:noFill/>
        </p:spPr>
        <p:txBody>
          <a:bodyPr wrap="square">
            <a:spAutoFit/>
          </a:bodyPr>
          <a:lstStyle/>
          <a:p>
            <a:pPr>
              <a:spcBef>
                <a:spcPts val="400"/>
              </a:spcBef>
            </a:pPr>
            <a:r>
              <a:rPr sz="1700">
                <a:solidFill>
                  <a:srgbClr val="F0F0F0"/>
                </a:solidFill>
              </a:rPr>
              <a:t>• People with long-term conditions are 2–3 times more likely to develop depression (NHS)</a:t>
            </a:r>
          </a:p>
          <a:p>
            <a:pPr>
              <a:spcBef>
                <a:spcPts val="400"/>
              </a:spcBef>
            </a:pPr>
            <a:r>
              <a:rPr sz="1700">
                <a:solidFill>
                  <a:srgbClr val="F0F0F0"/>
                </a:solidFill>
              </a:rPr>
              <a:t>• 30–40% of people with diabetes experience depression or anxiety</a:t>
            </a:r>
          </a:p>
          <a:p>
            <a:pPr>
              <a:spcBef>
                <a:spcPts val="400"/>
              </a:spcBef>
            </a:pPr>
            <a:r>
              <a:rPr sz="1700">
                <a:solidFill>
                  <a:srgbClr val="F0F0F0"/>
                </a:solidFill>
              </a:rPr>
              <a:t>• 30–40% of cancer patients experience clinically significant depression or anxiety</a:t>
            </a:r>
          </a:p>
          <a:p>
            <a:pPr>
              <a:spcBef>
                <a:spcPts val="400"/>
              </a:spcBef>
            </a:pPr>
            <a:r>
              <a:rPr sz="1700">
                <a:solidFill>
                  <a:srgbClr val="F0F0F0"/>
                </a:solidFill>
              </a:rPr>
              <a:t>• Chronic pain affects 28 million people in the UK; 50% have co-occurring depression</a:t>
            </a:r>
          </a:p>
          <a:p>
            <a:pPr>
              <a:spcBef>
                <a:spcPts val="400"/>
              </a:spcBef>
            </a:pPr>
            <a:r>
              <a:rPr sz="1700">
                <a:solidFill>
                  <a:srgbClr val="F0F0F0"/>
                </a:solidFill>
              </a:rPr>
              <a:t>• Integrated care reduces depression in chronic illness by 50% (Collaborative Care model)</a:t>
            </a:r>
          </a:p>
          <a:p>
            <a:pPr>
              <a:spcBef>
                <a:spcPts val="400"/>
              </a:spcBef>
            </a:pPr>
            <a:r>
              <a:rPr sz="1700">
                <a:solidFill>
                  <a:srgbClr val="F0F0F0"/>
                </a:solidFill>
              </a:rPr>
              <a:t>• Mental health problems increase the cost of managing chronic illness by 45%</a:t>
            </a:r>
          </a:p>
        </p:txBody>
      </p:sp>
      <p:sp>
        <p:nvSpPr>
          <p:cNvPr id="7" name="TextBox 6"/>
          <p:cNvSpPr txBox="1"/>
          <p:nvPr/>
        </p:nvSpPr>
        <p:spPr>
          <a:xfrm>
            <a:off x="457200" y="6309360"/>
            <a:ext cx="8229600" cy="457200"/>
          </a:xfrm>
          <a:prstGeom prst="rect">
            <a:avLst/>
          </a:prstGeom>
          <a:noFill/>
        </p:spPr>
        <p:txBody>
          <a:bodyPr wrap="square">
            <a:spAutoFit/>
          </a:bodyPr>
          <a:lstStyle/>
          <a:p>
            <a:pPr algn="ctr"/>
            <a:r>
              <a:rPr sz="1100" b="0" i="0">
                <a:solidFill>
                  <a:srgbClr val="AAAAAA"/>
                </a:solidFill>
              </a:rPr>
              <a:t>Crisis? Call 999 or Samaritans 116 123 (free, 24/7)</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1A1A1A"/>
        </a:solidFill>
        <a:effectLst/>
      </p:bgPr>
    </p:bg>
    <p:spTree>
      <p:nvGrpSpPr>
        <p:cNvPr id="1" name=""/>
        <p:cNvGrpSpPr/>
        <p:nvPr/>
      </p:nvGrpSpPr>
      <p:grpSpPr/>
      <p:pic>
        <p:nvPicPr>
          <p:cNvPr id="2" name="Picture 1" descr="bg_opt.jpg"/>
          <p:cNvPicPr>
            <a:picLocks noChangeAspect="1"/>
          </p:cNvPicPr>
          <p:nvPr/>
        </p:nvPicPr>
        <p:blipFill>
          <a:blip r:embed="rId2"/>
          <a:stretch>
            <a:fillRect/>
          </a:stretch>
        </p:blipFill>
        <p:spPr>
          <a:xfrm>
            <a:off x="0" y="0"/>
            <a:ext cx="9144000" cy="6858000"/>
          </a:xfrm>
          <a:prstGeom prst="rect">
            <a:avLst/>
          </a:prstGeom>
        </p:spPr>
      </p:pic>
      <p:pic>
        <p:nvPicPr>
          <p:cNvPr id="3" name="Picture 2" descr="logo_opt.png"/>
          <p:cNvPicPr>
            <a:picLocks noChangeAspect="1"/>
          </p:cNvPicPr>
          <p:nvPr/>
        </p:nvPicPr>
        <p:blipFill>
          <a:blip r:embed="rId3"/>
          <a:stretch>
            <a:fillRect/>
          </a:stretch>
        </p:blipFill>
        <p:spPr>
          <a:xfrm>
            <a:off x="7589520" y="228600"/>
            <a:ext cx="1097280" cy="1097280"/>
          </a:xfrm>
          <a:prstGeom prst="rect">
            <a:avLst/>
          </a:prstGeom>
        </p:spPr>
      </p:pic>
      <p:sp>
        <p:nvSpPr>
          <p:cNvPr id="4" name="TextBox 3"/>
          <p:cNvSpPr txBox="1"/>
          <p:nvPr/>
        </p:nvSpPr>
        <p:spPr>
          <a:xfrm>
            <a:off x="457200" y="457200"/>
            <a:ext cx="8229600" cy="640080"/>
          </a:xfrm>
          <a:prstGeom prst="rect">
            <a:avLst/>
          </a:prstGeom>
          <a:noFill/>
        </p:spPr>
        <p:txBody>
          <a:bodyPr wrap="square">
            <a:spAutoFit/>
          </a:bodyPr>
          <a:lstStyle/>
          <a:p>
            <a:pPr algn="l"/>
            <a:r>
              <a:rPr sz="3000" b="1" i="0">
                <a:solidFill>
                  <a:srgbClr val="FF6B00"/>
                </a:solidFill>
              </a:rPr>
              <a:t>Evidence &amp; Research</a:t>
            </a:r>
          </a:p>
        </p:txBody>
      </p:sp>
      <p:sp>
        <p:nvSpPr>
          <p:cNvPr id="5" name="Rectangle 4"/>
          <p:cNvSpPr/>
          <p:nvPr/>
        </p:nvSpPr>
        <p:spPr>
          <a:xfrm>
            <a:off x="457200" y="1097280"/>
            <a:ext cx="8229600" cy="45720"/>
          </a:xfrm>
          <a:prstGeom prst="rect">
            <a:avLst/>
          </a:prstGeom>
          <a:solidFill>
            <a:srgbClr val="FF6B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57200" y="1280160"/>
            <a:ext cx="8229600" cy="4000000"/>
          </a:xfrm>
          <a:prstGeom prst="rect">
            <a:avLst/>
          </a:prstGeom>
          <a:noFill/>
        </p:spPr>
        <p:txBody>
          <a:bodyPr wrap="square">
            <a:spAutoFit/>
          </a:bodyPr>
          <a:lstStyle/>
          <a:p>
            <a:pPr>
              <a:spcBef>
                <a:spcPts val="400"/>
              </a:spcBef>
            </a:pPr>
            <a:r>
              <a:rPr sz="1700">
                <a:solidFill>
                  <a:srgbClr val="F0F0F0"/>
                </a:solidFill>
              </a:rPr>
              <a:t>• Collaborative care models significantly reduce depression in chronic illness</a:t>
            </a:r>
          </a:p>
          <a:p>
            <a:pPr>
              <a:spcBef>
                <a:spcPts val="400"/>
              </a:spcBef>
            </a:pPr>
            <a:r>
              <a:rPr sz="1700">
                <a:solidFill>
                  <a:srgbClr val="F0F0F0"/>
                </a:solidFill>
              </a:rPr>
              <a:t>• Liaison psychiatry services in hospitals improve outcomes and reduce length of stay</a:t>
            </a:r>
          </a:p>
          <a:p>
            <a:pPr>
              <a:spcBef>
                <a:spcPts val="400"/>
              </a:spcBef>
            </a:pPr>
            <a:r>
              <a:rPr sz="1700">
                <a:solidFill>
                  <a:srgbClr val="F0F0F0"/>
                </a:solidFill>
              </a:rPr>
              <a:t>• CBT for chronic illness reduces depression, anxiety and pain catastrophising</a:t>
            </a:r>
          </a:p>
          <a:p>
            <a:pPr>
              <a:spcBef>
                <a:spcPts val="400"/>
              </a:spcBef>
            </a:pPr>
            <a:r>
              <a:rPr sz="1700">
                <a:solidFill>
                  <a:srgbClr val="F0F0F0"/>
                </a:solidFill>
              </a:rPr>
              <a:t>• Mindfulness-based interventions improve quality of life in chronic illness</a:t>
            </a:r>
          </a:p>
          <a:p>
            <a:pPr>
              <a:spcBef>
                <a:spcPts val="400"/>
              </a:spcBef>
            </a:pPr>
            <a:r>
              <a:rPr sz="1700">
                <a:solidFill>
                  <a:srgbClr val="F0F0F0"/>
                </a:solidFill>
              </a:rPr>
              <a:t>• Exercise is effective for both physical and mental health in chronic conditions</a:t>
            </a:r>
          </a:p>
          <a:p>
            <a:pPr>
              <a:spcBef>
                <a:spcPts val="400"/>
              </a:spcBef>
            </a:pPr>
            <a:r>
              <a:rPr sz="1700">
                <a:solidFill>
                  <a:srgbClr val="F0F0F0"/>
                </a:solidFill>
              </a:rPr>
              <a:t>• Peer support groups for people with chronic illness reduce isolation and depression</a:t>
            </a:r>
          </a:p>
        </p:txBody>
      </p:sp>
      <p:sp>
        <p:nvSpPr>
          <p:cNvPr id="7" name="TextBox 6"/>
          <p:cNvSpPr txBox="1"/>
          <p:nvPr/>
        </p:nvSpPr>
        <p:spPr>
          <a:xfrm>
            <a:off x="457200" y="5400000"/>
            <a:ext cx="8229600" cy="457200"/>
          </a:xfrm>
          <a:prstGeom prst="rect">
            <a:avLst/>
          </a:prstGeom>
          <a:noFill/>
        </p:spPr>
        <p:txBody>
          <a:bodyPr wrap="square">
            <a:spAutoFit/>
          </a:bodyPr>
          <a:lstStyle/>
          <a:p>
            <a:pPr algn="l"/>
            <a:r>
              <a:rPr sz="1300" b="1" i="0">
                <a:solidFill>
                  <a:srgbClr val="FF6B00"/>
                </a:solidFill>
              </a:rPr>
              <a:t>This content does not replace professional mental health advice.</a:t>
            </a:r>
          </a:p>
        </p:txBody>
      </p:sp>
      <p:sp>
        <p:nvSpPr>
          <p:cNvPr id="8" name="TextBox 7"/>
          <p:cNvSpPr txBox="1"/>
          <p:nvPr/>
        </p:nvSpPr>
        <p:spPr>
          <a:xfrm>
            <a:off x="457200" y="6309360"/>
            <a:ext cx="8229600" cy="457200"/>
          </a:xfrm>
          <a:prstGeom prst="rect">
            <a:avLst/>
          </a:prstGeom>
          <a:noFill/>
        </p:spPr>
        <p:txBody>
          <a:bodyPr wrap="square">
            <a:spAutoFit/>
          </a:bodyPr>
          <a:lstStyle/>
          <a:p>
            <a:pPr algn="ctr"/>
            <a:r>
              <a:rPr sz="1100" b="0" i="0">
                <a:solidFill>
                  <a:srgbClr val="AAAAAA"/>
                </a:solidFill>
              </a:rPr>
              <a:t>Crisis? Call 999 or Samaritans 116 123 (free, 24/7)</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1A1A1A"/>
        </a:solidFill>
        <a:effectLst/>
      </p:bgPr>
    </p:bg>
    <p:spTree>
      <p:nvGrpSpPr>
        <p:cNvPr id="1" name=""/>
        <p:cNvGrpSpPr/>
        <p:nvPr/>
      </p:nvGrpSpPr>
      <p:grpSpPr/>
      <p:pic>
        <p:nvPicPr>
          <p:cNvPr id="2" name="Picture 1" descr="bg_opt.jpg"/>
          <p:cNvPicPr>
            <a:picLocks noChangeAspect="1"/>
          </p:cNvPicPr>
          <p:nvPr/>
        </p:nvPicPr>
        <p:blipFill>
          <a:blip r:embed="rId2"/>
          <a:stretch>
            <a:fillRect/>
          </a:stretch>
        </p:blipFill>
        <p:spPr>
          <a:xfrm>
            <a:off x="0" y="0"/>
            <a:ext cx="9144000" cy="6858000"/>
          </a:xfrm>
          <a:prstGeom prst="rect">
            <a:avLst/>
          </a:prstGeom>
        </p:spPr>
      </p:pic>
      <p:pic>
        <p:nvPicPr>
          <p:cNvPr id="3" name="Picture 2" descr="logo_opt.png"/>
          <p:cNvPicPr>
            <a:picLocks noChangeAspect="1"/>
          </p:cNvPicPr>
          <p:nvPr/>
        </p:nvPicPr>
        <p:blipFill>
          <a:blip r:embed="rId3"/>
          <a:stretch>
            <a:fillRect/>
          </a:stretch>
        </p:blipFill>
        <p:spPr>
          <a:xfrm>
            <a:off x="7589520" y="228600"/>
            <a:ext cx="1097280" cy="1097280"/>
          </a:xfrm>
          <a:prstGeom prst="rect">
            <a:avLst/>
          </a:prstGeom>
        </p:spPr>
      </p:pic>
      <p:sp>
        <p:nvSpPr>
          <p:cNvPr id="4" name="TextBox 3"/>
          <p:cNvSpPr txBox="1"/>
          <p:nvPr/>
        </p:nvSpPr>
        <p:spPr>
          <a:xfrm>
            <a:off x="457200" y="457200"/>
            <a:ext cx="8229600" cy="640080"/>
          </a:xfrm>
          <a:prstGeom prst="rect">
            <a:avLst/>
          </a:prstGeom>
          <a:noFill/>
        </p:spPr>
        <p:txBody>
          <a:bodyPr wrap="square">
            <a:spAutoFit/>
          </a:bodyPr>
          <a:lstStyle/>
          <a:p>
            <a:pPr algn="l"/>
            <a:r>
              <a:rPr sz="3000" b="1" i="0">
                <a:solidFill>
                  <a:srgbClr val="FF6B00"/>
                </a:solidFill>
              </a:rPr>
              <a:t>Case Study</a:t>
            </a:r>
          </a:p>
        </p:txBody>
      </p:sp>
      <p:sp>
        <p:nvSpPr>
          <p:cNvPr id="5" name="Rectangle 4"/>
          <p:cNvSpPr/>
          <p:nvPr/>
        </p:nvSpPr>
        <p:spPr>
          <a:xfrm>
            <a:off x="457200" y="1097280"/>
            <a:ext cx="8229600" cy="45720"/>
          </a:xfrm>
          <a:prstGeom prst="rect">
            <a:avLst/>
          </a:prstGeom>
          <a:solidFill>
            <a:srgbClr val="FF6B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57200" y="1280160"/>
            <a:ext cx="8229600" cy="4200000"/>
          </a:xfrm>
          <a:prstGeom prst="rect">
            <a:avLst/>
          </a:prstGeom>
          <a:noFill/>
        </p:spPr>
        <p:txBody>
          <a:bodyPr wrap="square">
            <a:spAutoFit/>
          </a:bodyPr>
          <a:lstStyle/>
          <a:p>
            <a:pPr algn="l"/>
            <a:r>
              <a:rPr sz="1500" b="0" i="0">
                <a:solidFill>
                  <a:srgbClr val="F0F0F0"/>
                </a:solidFill>
              </a:rPr>
              <a:t>Patricia, 58, was diagnosed with type 2 diabetes and rheumatoid arthritis within the same year. She became increasingly depressed, struggling to manage her conditions and withdrawing from social activities. Her GP recognised the mental health impact and referred her to a collaborative care programme. With support from a mental health practitioner embedded in her GP practice, Patricia began CBT and joined a peer support group for people with long-term conditions. Her mood improved significantly and her diabetes management improved as a result.</a:t>
            </a:r>
          </a:p>
        </p:txBody>
      </p:sp>
      <p:sp>
        <p:nvSpPr>
          <p:cNvPr id="7" name="TextBox 6"/>
          <p:cNvSpPr txBox="1"/>
          <p:nvPr/>
        </p:nvSpPr>
        <p:spPr>
          <a:xfrm>
            <a:off x="457200" y="5600000"/>
            <a:ext cx="8229600" cy="457200"/>
          </a:xfrm>
          <a:prstGeom prst="rect">
            <a:avLst/>
          </a:prstGeom>
          <a:noFill/>
        </p:spPr>
        <p:txBody>
          <a:bodyPr wrap="square">
            <a:spAutoFit/>
          </a:bodyPr>
          <a:lstStyle/>
          <a:p>
            <a:pPr algn="l"/>
            <a:r>
              <a:rPr sz="1100" b="0" i="1">
                <a:solidFill>
                  <a:srgbClr val="AAAAAA"/>
                </a:solidFill>
              </a:rPr>
              <a:t>Names and details are fictional. Any resemblance to real persons is coincidental.</a:t>
            </a:r>
          </a:p>
        </p:txBody>
      </p:sp>
      <p:sp>
        <p:nvSpPr>
          <p:cNvPr id="8" name="TextBox 7"/>
          <p:cNvSpPr txBox="1"/>
          <p:nvPr/>
        </p:nvSpPr>
        <p:spPr>
          <a:xfrm>
            <a:off x="457200" y="6309360"/>
            <a:ext cx="8229600" cy="457200"/>
          </a:xfrm>
          <a:prstGeom prst="rect">
            <a:avLst/>
          </a:prstGeom>
          <a:noFill/>
        </p:spPr>
        <p:txBody>
          <a:bodyPr wrap="square">
            <a:spAutoFit/>
          </a:bodyPr>
          <a:lstStyle/>
          <a:p>
            <a:pPr algn="ctr"/>
            <a:r>
              <a:rPr sz="1100" b="0" i="0">
                <a:solidFill>
                  <a:srgbClr val="AAAAAA"/>
                </a:solidFill>
              </a:rPr>
              <a:t>Crisis? Call 999 or Samaritans 116 123 (free, 24/7)</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1A1A1A"/>
        </a:solidFill>
        <a:effectLst/>
      </p:bgPr>
    </p:bg>
    <p:spTree>
      <p:nvGrpSpPr>
        <p:cNvPr id="1" name=""/>
        <p:cNvGrpSpPr/>
        <p:nvPr/>
      </p:nvGrpSpPr>
      <p:grpSpPr/>
      <p:pic>
        <p:nvPicPr>
          <p:cNvPr id="2" name="Picture 1" descr="bg_opt.jpg"/>
          <p:cNvPicPr>
            <a:picLocks noChangeAspect="1"/>
          </p:cNvPicPr>
          <p:nvPr/>
        </p:nvPicPr>
        <p:blipFill>
          <a:blip r:embed="rId2"/>
          <a:stretch>
            <a:fillRect/>
          </a:stretch>
        </p:blipFill>
        <p:spPr>
          <a:xfrm>
            <a:off x="0" y="0"/>
            <a:ext cx="9144000" cy="6858000"/>
          </a:xfrm>
          <a:prstGeom prst="rect">
            <a:avLst/>
          </a:prstGeom>
        </p:spPr>
      </p:pic>
      <p:pic>
        <p:nvPicPr>
          <p:cNvPr id="3" name="Picture 2" descr="logo_opt.png"/>
          <p:cNvPicPr>
            <a:picLocks noChangeAspect="1"/>
          </p:cNvPicPr>
          <p:nvPr/>
        </p:nvPicPr>
        <p:blipFill>
          <a:blip r:embed="rId3"/>
          <a:stretch>
            <a:fillRect/>
          </a:stretch>
        </p:blipFill>
        <p:spPr>
          <a:xfrm>
            <a:off x="7589520" y="228600"/>
            <a:ext cx="1097280" cy="1097280"/>
          </a:xfrm>
          <a:prstGeom prst="rect">
            <a:avLst/>
          </a:prstGeom>
        </p:spPr>
      </p:pic>
      <p:sp>
        <p:nvSpPr>
          <p:cNvPr id="4" name="TextBox 3"/>
          <p:cNvSpPr txBox="1"/>
          <p:nvPr/>
        </p:nvSpPr>
        <p:spPr>
          <a:xfrm>
            <a:off x="457200" y="457200"/>
            <a:ext cx="8229600" cy="640080"/>
          </a:xfrm>
          <a:prstGeom prst="rect">
            <a:avLst/>
          </a:prstGeom>
          <a:noFill/>
        </p:spPr>
        <p:txBody>
          <a:bodyPr wrap="square">
            <a:spAutoFit/>
          </a:bodyPr>
          <a:lstStyle/>
          <a:p>
            <a:pPr algn="l"/>
            <a:r>
              <a:rPr sz="3000" b="1" i="0">
                <a:solidFill>
                  <a:srgbClr val="FF6B00"/>
                </a:solidFill>
              </a:rPr>
              <a:t>Coping Strategies &amp; Interventions</a:t>
            </a:r>
          </a:p>
        </p:txBody>
      </p:sp>
      <p:sp>
        <p:nvSpPr>
          <p:cNvPr id="5" name="Rectangle 4"/>
          <p:cNvSpPr/>
          <p:nvPr/>
        </p:nvSpPr>
        <p:spPr>
          <a:xfrm>
            <a:off x="457200" y="1097280"/>
            <a:ext cx="8229600" cy="45720"/>
          </a:xfrm>
          <a:prstGeom prst="rect">
            <a:avLst/>
          </a:prstGeom>
          <a:solidFill>
            <a:srgbClr val="FF6B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57200" y="1280160"/>
            <a:ext cx="8229600" cy="4800000"/>
          </a:xfrm>
          <a:prstGeom prst="rect">
            <a:avLst/>
          </a:prstGeom>
          <a:noFill/>
        </p:spPr>
        <p:txBody>
          <a:bodyPr wrap="square">
            <a:spAutoFit/>
          </a:bodyPr>
          <a:lstStyle/>
          <a:p>
            <a:pPr>
              <a:spcBef>
                <a:spcPts val="400"/>
              </a:spcBef>
            </a:pPr>
            <a:r>
              <a:rPr sz="1700">
                <a:solidFill>
                  <a:srgbClr val="F0F0F0"/>
                </a:solidFill>
              </a:rPr>
              <a:t>• CBT for chronic illness: addressing depression, anxiety and pain catastrophising</a:t>
            </a:r>
          </a:p>
          <a:p>
            <a:pPr>
              <a:spcBef>
                <a:spcPts val="400"/>
              </a:spcBef>
            </a:pPr>
            <a:r>
              <a:rPr sz="1700">
                <a:solidFill>
                  <a:srgbClr val="F0F0F0"/>
                </a:solidFill>
              </a:rPr>
              <a:t>• Mindfulness-based interventions: improving quality of life and acceptance</a:t>
            </a:r>
          </a:p>
          <a:p>
            <a:pPr>
              <a:spcBef>
                <a:spcPts val="400"/>
              </a:spcBef>
            </a:pPr>
            <a:r>
              <a:rPr sz="1700">
                <a:solidFill>
                  <a:srgbClr val="F0F0F0"/>
                </a:solidFill>
              </a:rPr>
              <a:t>• Exercise: evidence-based for both physical and mental health in chronic conditions</a:t>
            </a:r>
          </a:p>
          <a:p>
            <a:pPr>
              <a:spcBef>
                <a:spcPts val="400"/>
              </a:spcBef>
            </a:pPr>
            <a:r>
              <a:rPr sz="1700">
                <a:solidFill>
                  <a:srgbClr val="F0F0F0"/>
                </a:solidFill>
              </a:rPr>
              <a:t>• Peer support groups: reducing isolation and improving self-management</a:t>
            </a:r>
          </a:p>
          <a:p>
            <a:pPr>
              <a:spcBef>
                <a:spcPts val="400"/>
              </a:spcBef>
            </a:pPr>
            <a:r>
              <a:rPr sz="1700">
                <a:solidFill>
                  <a:srgbClr val="F0F0F0"/>
                </a:solidFill>
              </a:rPr>
              <a:t>• Collaborative care: integrated mental and physical health support</a:t>
            </a:r>
          </a:p>
          <a:p>
            <a:pPr>
              <a:spcBef>
                <a:spcPts val="400"/>
              </a:spcBef>
            </a:pPr>
            <a:r>
              <a:rPr sz="1700">
                <a:solidFill>
                  <a:srgbClr val="F0F0F0"/>
                </a:solidFill>
              </a:rPr>
              <a:t>• Acceptance and Commitment Therapy (ACT): increasing psychological flexibility</a:t>
            </a:r>
          </a:p>
          <a:p>
            <a:pPr>
              <a:spcBef>
                <a:spcPts val="400"/>
              </a:spcBef>
            </a:pPr>
            <a:r>
              <a:rPr sz="1700">
                <a:solidFill>
                  <a:srgbClr val="F0F0F0"/>
                </a:solidFill>
              </a:rPr>
              <a:t>• Pain management programmes: multidisciplinary approach to chronic pain</a:t>
            </a:r>
          </a:p>
        </p:txBody>
      </p:sp>
      <p:sp>
        <p:nvSpPr>
          <p:cNvPr id="7" name="TextBox 6"/>
          <p:cNvSpPr txBox="1"/>
          <p:nvPr/>
        </p:nvSpPr>
        <p:spPr>
          <a:xfrm>
            <a:off x="457200" y="6309360"/>
            <a:ext cx="8229600" cy="457200"/>
          </a:xfrm>
          <a:prstGeom prst="rect">
            <a:avLst/>
          </a:prstGeom>
          <a:noFill/>
        </p:spPr>
        <p:txBody>
          <a:bodyPr wrap="square">
            <a:spAutoFit/>
          </a:bodyPr>
          <a:lstStyle/>
          <a:p>
            <a:pPr algn="ctr"/>
            <a:r>
              <a:rPr sz="1100" b="0" i="0">
                <a:solidFill>
                  <a:srgbClr val="AAAAAA"/>
                </a:solidFill>
              </a:rPr>
              <a:t>Crisis? Call 999 or Samaritans 116 123 (free, 24/7)</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1A1A1A"/>
        </a:solidFill>
        <a:effectLst/>
      </p:bgPr>
    </p:bg>
    <p:spTree>
      <p:nvGrpSpPr>
        <p:cNvPr id="1" name=""/>
        <p:cNvGrpSpPr/>
        <p:nvPr/>
      </p:nvGrpSpPr>
      <p:grpSpPr/>
      <p:pic>
        <p:nvPicPr>
          <p:cNvPr id="2" name="Picture 1" descr="bg_opt.jpg"/>
          <p:cNvPicPr>
            <a:picLocks noChangeAspect="1"/>
          </p:cNvPicPr>
          <p:nvPr/>
        </p:nvPicPr>
        <p:blipFill>
          <a:blip r:embed="rId2"/>
          <a:stretch>
            <a:fillRect/>
          </a:stretch>
        </p:blipFill>
        <p:spPr>
          <a:xfrm>
            <a:off x="0" y="0"/>
            <a:ext cx="9144000" cy="6858000"/>
          </a:xfrm>
          <a:prstGeom prst="rect">
            <a:avLst/>
          </a:prstGeom>
        </p:spPr>
      </p:pic>
      <p:pic>
        <p:nvPicPr>
          <p:cNvPr id="3" name="Picture 2" descr="logo_opt.png"/>
          <p:cNvPicPr>
            <a:picLocks noChangeAspect="1"/>
          </p:cNvPicPr>
          <p:nvPr/>
        </p:nvPicPr>
        <p:blipFill>
          <a:blip r:embed="rId3"/>
          <a:stretch>
            <a:fillRect/>
          </a:stretch>
        </p:blipFill>
        <p:spPr>
          <a:xfrm>
            <a:off x="7589520" y="228600"/>
            <a:ext cx="1097280" cy="1097280"/>
          </a:xfrm>
          <a:prstGeom prst="rect">
            <a:avLst/>
          </a:prstGeom>
        </p:spPr>
      </p:pic>
      <p:sp>
        <p:nvSpPr>
          <p:cNvPr id="4" name="TextBox 3"/>
          <p:cNvSpPr txBox="1"/>
          <p:nvPr/>
        </p:nvSpPr>
        <p:spPr>
          <a:xfrm>
            <a:off x="457200" y="457200"/>
            <a:ext cx="8229600" cy="640080"/>
          </a:xfrm>
          <a:prstGeom prst="rect">
            <a:avLst/>
          </a:prstGeom>
          <a:noFill/>
        </p:spPr>
        <p:txBody>
          <a:bodyPr wrap="square">
            <a:spAutoFit/>
          </a:bodyPr>
          <a:lstStyle/>
          <a:p>
            <a:pPr algn="l"/>
            <a:r>
              <a:rPr sz="3000" b="1" i="0">
                <a:solidFill>
                  <a:srgbClr val="FF6B00"/>
                </a:solidFill>
              </a:rPr>
              <a:t>Interactive Activity</a:t>
            </a:r>
          </a:p>
        </p:txBody>
      </p:sp>
      <p:sp>
        <p:nvSpPr>
          <p:cNvPr id="5" name="Rectangle 4"/>
          <p:cNvSpPr/>
          <p:nvPr/>
        </p:nvSpPr>
        <p:spPr>
          <a:xfrm>
            <a:off x="457200" y="1097280"/>
            <a:ext cx="8229600" cy="45720"/>
          </a:xfrm>
          <a:prstGeom prst="rect">
            <a:avLst/>
          </a:prstGeom>
          <a:solidFill>
            <a:srgbClr val="FF6B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57200" y="1280160"/>
            <a:ext cx="8229600" cy="2800000"/>
          </a:xfrm>
          <a:prstGeom prst="rect">
            <a:avLst/>
          </a:prstGeom>
          <a:noFill/>
        </p:spPr>
        <p:txBody>
          <a:bodyPr wrap="square">
            <a:spAutoFit/>
          </a:bodyPr>
          <a:lstStyle/>
          <a:p>
            <a:pPr algn="l"/>
            <a:r>
              <a:rPr sz="1700" b="0" i="0">
                <a:solidFill>
                  <a:srgbClr val="F0F0F0"/>
                </a:solidFill>
              </a:rPr>
              <a:t>Chronic illness reflection: Participants consider how a chronic physical condition might affect their mental health, daily life and relationships. Discuss: What coping strategies would you use? What support would you need? How can healthcare professionals better address mental health in physical health settings?</a:t>
            </a:r>
          </a:p>
        </p:txBody>
      </p:sp>
      <p:sp>
        <p:nvSpPr>
          <p:cNvPr id="7" name="TextBox 6"/>
          <p:cNvSpPr txBox="1"/>
          <p:nvPr/>
        </p:nvSpPr>
        <p:spPr>
          <a:xfrm>
            <a:off x="457200" y="4200000"/>
            <a:ext cx="8229600" cy="365760"/>
          </a:xfrm>
          <a:prstGeom prst="rect">
            <a:avLst/>
          </a:prstGeom>
          <a:noFill/>
        </p:spPr>
        <p:txBody>
          <a:bodyPr wrap="square">
            <a:spAutoFit/>
          </a:bodyPr>
          <a:lstStyle/>
          <a:p>
            <a:pPr algn="l"/>
            <a:r>
              <a:rPr sz="1600" b="1" i="0">
                <a:solidFill>
                  <a:srgbClr val="FF6B00"/>
                </a:solidFill>
              </a:rPr>
              <a:t>Instructions:</a:t>
            </a:r>
          </a:p>
        </p:txBody>
      </p:sp>
      <p:sp>
        <p:nvSpPr>
          <p:cNvPr id="8" name="TextBox 7"/>
          <p:cNvSpPr txBox="1"/>
          <p:nvPr/>
        </p:nvSpPr>
        <p:spPr>
          <a:xfrm>
            <a:off x="457200" y="4600000"/>
            <a:ext cx="8229600" cy="1500000"/>
          </a:xfrm>
          <a:prstGeom prst="rect">
            <a:avLst/>
          </a:prstGeom>
          <a:noFill/>
        </p:spPr>
        <p:txBody>
          <a:bodyPr wrap="square">
            <a:spAutoFit/>
          </a:bodyPr>
          <a:lstStyle/>
          <a:p>
            <a:pPr>
              <a:spcBef>
                <a:spcPts val="400"/>
              </a:spcBef>
            </a:pPr>
            <a:r>
              <a:rPr sz="1500">
                <a:solidFill>
                  <a:srgbClr val="AAAAAA"/>
                </a:solidFill>
              </a:rPr>
              <a:t>• Take 5 minutes to reflect individually or in pairs</a:t>
            </a:r>
          </a:p>
          <a:p>
            <a:pPr>
              <a:spcBef>
                <a:spcPts val="400"/>
              </a:spcBef>
            </a:pPr>
            <a:r>
              <a:rPr sz="1500">
                <a:solidFill>
                  <a:srgbClr val="AAAAAA"/>
                </a:solidFill>
              </a:rPr>
              <a:t>• Share your thoughts with the group (optional — sharing is never required)</a:t>
            </a:r>
          </a:p>
          <a:p>
            <a:pPr>
              <a:spcBef>
                <a:spcPts val="400"/>
              </a:spcBef>
            </a:pPr>
            <a:r>
              <a:rPr sz="1500">
                <a:solidFill>
                  <a:srgbClr val="AAAAAA"/>
                </a:solidFill>
              </a:rPr>
              <a:t>• Facilitator will guide and support the discussion</a:t>
            </a:r>
          </a:p>
        </p:txBody>
      </p:sp>
      <p:sp>
        <p:nvSpPr>
          <p:cNvPr id="9" name="TextBox 8"/>
          <p:cNvSpPr txBox="1"/>
          <p:nvPr/>
        </p:nvSpPr>
        <p:spPr>
          <a:xfrm>
            <a:off x="457200" y="6309360"/>
            <a:ext cx="8229600" cy="457200"/>
          </a:xfrm>
          <a:prstGeom prst="rect">
            <a:avLst/>
          </a:prstGeom>
          <a:noFill/>
        </p:spPr>
        <p:txBody>
          <a:bodyPr wrap="square">
            <a:spAutoFit/>
          </a:bodyPr>
          <a:lstStyle/>
          <a:p>
            <a:pPr algn="ctr"/>
            <a:r>
              <a:rPr sz="1100" b="0" i="0">
                <a:solidFill>
                  <a:srgbClr val="AAAAAA"/>
                </a:solidFill>
              </a:rPr>
              <a:t>Crisis? Call 999 or Samaritans 116 123 (free, 24/7)</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1A1A1A"/>
        </a:solidFill>
        <a:effectLst/>
      </p:bgPr>
    </p:bg>
    <p:spTree>
      <p:nvGrpSpPr>
        <p:cNvPr id="1" name=""/>
        <p:cNvGrpSpPr/>
        <p:nvPr/>
      </p:nvGrpSpPr>
      <p:grpSpPr/>
      <p:pic>
        <p:nvPicPr>
          <p:cNvPr id="2" name="Picture 1" descr="bg_opt.jpg"/>
          <p:cNvPicPr>
            <a:picLocks noChangeAspect="1"/>
          </p:cNvPicPr>
          <p:nvPr/>
        </p:nvPicPr>
        <p:blipFill>
          <a:blip r:embed="rId2"/>
          <a:stretch>
            <a:fillRect/>
          </a:stretch>
        </p:blipFill>
        <p:spPr>
          <a:xfrm>
            <a:off x="0" y="0"/>
            <a:ext cx="9144000" cy="6858000"/>
          </a:xfrm>
          <a:prstGeom prst="rect">
            <a:avLst/>
          </a:prstGeom>
        </p:spPr>
      </p:pic>
      <p:pic>
        <p:nvPicPr>
          <p:cNvPr id="3" name="Picture 2" descr="logo_opt.png"/>
          <p:cNvPicPr>
            <a:picLocks noChangeAspect="1"/>
          </p:cNvPicPr>
          <p:nvPr/>
        </p:nvPicPr>
        <p:blipFill>
          <a:blip r:embed="rId3"/>
          <a:stretch>
            <a:fillRect/>
          </a:stretch>
        </p:blipFill>
        <p:spPr>
          <a:xfrm>
            <a:off x="7589520" y="228600"/>
            <a:ext cx="1097280" cy="1097280"/>
          </a:xfrm>
          <a:prstGeom prst="rect">
            <a:avLst/>
          </a:prstGeom>
        </p:spPr>
      </p:pic>
      <p:sp>
        <p:nvSpPr>
          <p:cNvPr id="4" name="TextBox 3"/>
          <p:cNvSpPr txBox="1"/>
          <p:nvPr/>
        </p:nvSpPr>
        <p:spPr>
          <a:xfrm>
            <a:off x="457200" y="457200"/>
            <a:ext cx="8229600" cy="640080"/>
          </a:xfrm>
          <a:prstGeom prst="rect">
            <a:avLst/>
          </a:prstGeom>
          <a:noFill/>
        </p:spPr>
        <p:txBody>
          <a:bodyPr wrap="square">
            <a:spAutoFit/>
          </a:bodyPr>
          <a:lstStyle/>
          <a:p>
            <a:pPr algn="l"/>
            <a:r>
              <a:rPr sz="3000" b="1" i="0">
                <a:solidFill>
                  <a:srgbClr val="FF6B00"/>
                </a:solidFill>
              </a:rPr>
              <a:t>Group Discussion (30 minutes)</a:t>
            </a:r>
          </a:p>
        </p:txBody>
      </p:sp>
      <p:sp>
        <p:nvSpPr>
          <p:cNvPr id="5" name="Rectangle 4"/>
          <p:cNvSpPr/>
          <p:nvPr/>
        </p:nvSpPr>
        <p:spPr>
          <a:xfrm>
            <a:off x="457200" y="1097280"/>
            <a:ext cx="8229600" cy="45720"/>
          </a:xfrm>
          <a:prstGeom prst="rect">
            <a:avLst/>
          </a:prstGeom>
          <a:solidFill>
            <a:srgbClr val="FF6B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57200" y="1280160"/>
            <a:ext cx="8229600" cy="457200"/>
          </a:xfrm>
          <a:prstGeom prst="rect">
            <a:avLst/>
          </a:prstGeom>
          <a:noFill/>
        </p:spPr>
        <p:txBody>
          <a:bodyPr wrap="square">
            <a:spAutoFit/>
          </a:bodyPr>
          <a:lstStyle/>
          <a:p>
            <a:pPr algn="l"/>
            <a:r>
              <a:rPr sz="1800" b="1" i="0">
                <a:solidFill>
                  <a:srgbClr val="00BFBF"/>
                </a:solidFill>
              </a:rPr>
              <a:t>Reflection Questions</a:t>
            </a:r>
          </a:p>
        </p:txBody>
      </p:sp>
      <p:sp>
        <p:nvSpPr>
          <p:cNvPr id="7" name="TextBox 6"/>
          <p:cNvSpPr txBox="1"/>
          <p:nvPr/>
        </p:nvSpPr>
        <p:spPr>
          <a:xfrm>
            <a:off x="457200" y="1800000"/>
            <a:ext cx="8229600" cy="4000000"/>
          </a:xfrm>
          <a:prstGeom prst="rect">
            <a:avLst/>
          </a:prstGeom>
          <a:noFill/>
        </p:spPr>
        <p:txBody>
          <a:bodyPr wrap="square">
            <a:spAutoFit/>
          </a:bodyPr>
          <a:lstStyle/>
          <a:p>
            <a:pPr>
              <a:spcBef>
                <a:spcPts val="400"/>
              </a:spcBef>
            </a:pPr>
            <a:r>
              <a:rPr sz="1700">
                <a:solidFill>
                  <a:srgbClr val="F0F0F0"/>
                </a:solidFill>
              </a:rPr>
              <a:t>• How does chronic illness affect mental health and quality of life?</a:t>
            </a:r>
          </a:p>
          <a:p>
            <a:pPr>
              <a:spcBef>
                <a:spcPts val="400"/>
              </a:spcBef>
            </a:pPr>
            <a:r>
              <a:rPr sz="1700">
                <a:solidFill>
                  <a:srgbClr val="F0F0F0"/>
                </a:solidFill>
              </a:rPr>
              <a:t>• What barriers prevent people with chronic illness from accessing mental health support?</a:t>
            </a:r>
          </a:p>
          <a:p>
            <a:pPr>
              <a:spcBef>
                <a:spcPts val="400"/>
              </a:spcBef>
            </a:pPr>
            <a:r>
              <a:rPr sz="1700">
                <a:solidFill>
                  <a:srgbClr val="F0F0F0"/>
                </a:solidFill>
              </a:rPr>
              <a:t>• How can healthcare professionals better integrate mental and physical health care?</a:t>
            </a:r>
          </a:p>
          <a:p>
            <a:pPr>
              <a:spcBef>
                <a:spcPts val="400"/>
              </a:spcBef>
            </a:pPr>
            <a:r>
              <a:rPr sz="1700">
                <a:solidFill>
                  <a:srgbClr val="F0F0F0"/>
                </a:solidFill>
              </a:rPr>
              <a:t>• What coping strategies help people live well with chronic conditions?</a:t>
            </a:r>
          </a:p>
          <a:p>
            <a:pPr>
              <a:spcBef>
                <a:spcPts val="400"/>
              </a:spcBef>
            </a:pPr>
            <a:r>
              <a:rPr sz="1700">
                <a:solidFill>
                  <a:srgbClr val="F0F0F0"/>
                </a:solidFill>
              </a:rPr>
              <a:t>• What integrated care services are available in Wiltshire?</a:t>
            </a:r>
          </a:p>
        </p:txBody>
      </p:sp>
      <p:sp>
        <p:nvSpPr>
          <p:cNvPr id="8" name="TextBox 7"/>
          <p:cNvSpPr txBox="1"/>
          <p:nvPr/>
        </p:nvSpPr>
        <p:spPr>
          <a:xfrm>
            <a:off x="457200" y="5958000"/>
            <a:ext cx="8229600" cy="457200"/>
          </a:xfrm>
          <a:prstGeom prst="rect">
            <a:avLst/>
          </a:prstGeom>
          <a:noFill/>
        </p:spPr>
        <p:txBody>
          <a:bodyPr wrap="square">
            <a:spAutoFit/>
          </a:bodyPr>
          <a:lstStyle/>
          <a:p>
            <a:pPr algn="ctr"/>
            <a:r>
              <a:rPr sz="1400" b="1" i="0">
                <a:solidFill>
                  <a:srgbClr val="FF6B00"/>
                </a:solidFill>
              </a:rPr>
              <a:t>Remember: You are never alone. Help is always available.</a:t>
            </a:r>
          </a:p>
        </p:txBody>
      </p:sp>
      <p:sp>
        <p:nvSpPr>
          <p:cNvPr id="9" name="TextBox 8"/>
          <p:cNvSpPr txBox="1"/>
          <p:nvPr/>
        </p:nvSpPr>
        <p:spPr>
          <a:xfrm>
            <a:off x="457200" y="6309360"/>
            <a:ext cx="8229600" cy="457200"/>
          </a:xfrm>
          <a:prstGeom prst="rect">
            <a:avLst/>
          </a:prstGeom>
          <a:noFill/>
        </p:spPr>
        <p:txBody>
          <a:bodyPr wrap="square">
            <a:spAutoFit/>
          </a:bodyPr>
          <a:lstStyle/>
          <a:p>
            <a:pPr algn="ctr"/>
            <a:r>
              <a:rPr sz="1100" b="0" i="0">
                <a:solidFill>
                  <a:srgbClr val="AAAAAA"/>
                </a:solidFill>
              </a:rPr>
              <a:t>Crisis? Call 999 or Samaritans 116 123 (free, 24/7)</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1A1A1A"/>
        </a:solidFill>
        <a:effectLst/>
      </p:bgPr>
    </p:bg>
    <p:spTree>
      <p:nvGrpSpPr>
        <p:cNvPr id="1" name=""/>
        <p:cNvGrpSpPr/>
        <p:nvPr/>
      </p:nvGrpSpPr>
      <p:grpSpPr/>
      <p:pic>
        <p:nvPicPr>
          <p:cNvPr id="2" name="Picture 1" descr="bg_opt.jpg"/>
          <p:cNvPicPr>
            <a:picLocks noChangeAspect="1"/>
          </p:cNvPicPr>
          <p:nvPr/>
        </p:nvPicPr>
        <p:blipFill>
          <a:blip r:embed="rId2"/>
          <a:stretch>
            <a:fillRect/>
          </a:stretch>
        </p:blipFill>
        <p:spPr>
          <a:xfrm>
            <a:off x="0" y="0"/>
            <a:ext cx="9144000" cy="6858000"/>
          </a:xfrm>
          <a:prstGeom prst="rect">
            <a:avLst/>
          </a:prstGeom>
        </p:spPr>
      </p:pic>
      <p:pic>
        <p:nvPicPr>
          <p:cNvPr id="3" name="Picture 2" descr="logo_opt.png"/>
          <p:cNvPicPr>
            <a:picLocks noChangeAspect="1"/>
          </p:cNvPicPr>
          <p:nvPr/>
        </p:nvPicPr>
        <p:blipFill>
          <a:blip r:embed="rId3"/>
          <a:stretch>
            <a:fillRect/>
          </a:stretch>
        </p:blipFill>
        <p:spPr>
          <a:xfrm>
            <a:off x="7589520" y="228600"/>
            <a:ext cx="1097280" cy="1097280"/>
          </a:xfrm>
          <a:prstGeom prst="rect">
            <a:avLst/>
          </a:prstGeom>
        </p:spPr>
      </p:pic>
      <p:sp>
        <p:nvSpPr>
          <p:cNvPr id="4" name="TextBox 3"/>
          <p:cNvSpPr txBox="1"/>
          <p:nvPr/>
        </p:nvSpPr>
        <p:spPr>
          <a:xfrm>
            <a:off x="457200" y="457200"/>
            <a:ext cx="8229600" cy="640080"/>
          </a:xfrm>
          <a:prstGeom prst="rect">
            <a:avLst/>
          </a:prstGeom>
          <a:noFill/>
        </p:spPr>
        <p:txBody>
          <a:bodyPr wrap="square">
            <a:spAutoFit/>
          </a:bodyPr>
          <a:lstStyle/>
          <a:p>
            <a:pPr algn="l"/>
            <a:r>
              <a:rPr sz="3000" b="1" i="0">
                <a:solidFill>
                  <a:srgbClr val="FF6B00"/>
                </a:solidFill>
              </a:rPr>
              <a:t>Resources &amp; Further Support</a:t>
            </a:r>
          </a:p>
        </p:txBody>
      </p:sp>
      <p:sp>
        <p:nvSpPr>
          <p:cNvPr id="5" name="Rectangle 4"/>
          <p:cNvSpPr/>
          <p:nvPr/>
        </p:nvSpPr>
        <p:spPr>
          <a:xfrm>
            <a:off x="457200" y="1097280"/>
            <a:ext cx="8229600" cy="45720"/>
          </a:xfrm>
          <a:prstGeom prst="rect">
            <a:avLst/>
          </a:prstGeom>
          <a:solidFill>
            <a:srgbClr val="FF6B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57200" y="1280160"/>
            <a:ext cx="8229600" cy="365760"/>
          </a:xfrm>
          <a:prstGeom prst="rect">
            <a:avLst/>
          </a:prstGeom>
          <a:noFill/>
        </p:spPr>
        <p:txBody>
          <a:bodyPr wrap="square">
            <a:spAutoFit/>
          </a:bodyPr>
          <a:lstStyle/>
          <a:p>
            <a:pPr algn="l"/>
            <a:r>
              <a:rPr sz="1800" b="1" i="0">
                <a:solidFill>
                  <a:srgbClr val="00BFBF"/>
                </a:solidFill>
              </a:rPr>
              <a:t>Key References</a:t>
            </a:r>
          </a:p>
        </p:txBody>
      </p:sp>
      <p:sp>
        <p:nvSpPr>
          <p:cNvPr id="7" name="TextBox 6"/>
          <p:cNvSpPr txBox="1"/>
          <p:nvPr/>
        </p:nvSpPr>
        <p:spPr>
          <a:xfrm>
            <a:off x="457200" y="1700000"/>
            <a:ext cx="8229600" cy="2200000"/>
          </a:xfrm>
          <a:prstGeom prst="rect">
            <a:avLst/>
          </a:prstGeom>
          <a:noFill/>
        </p:spPr>
        <p:txBody>
          <a:bodyPr wrap="square">
            <a:spAutoFit/>
          </a:bodyPr>
          <a:lstStyle/>
          <a:p>
            <a:pPr>
              <a:spcBef>
                <a:spcPts val="400"/>
              </a:spcBef>
            </a:pPr>
            <a:r>
              <a:rPr sz="1400">
                <a:solidFill>
                  <a:srgbClr val="F0F0F0"/>
                </a:solidFill>
              </a:rPr>
              <a:t>• NICE Guideline CG91: Depression in adults with a chronic physical health problem (2009)</a:t>
            </a:r>
          </a:p>
          <a:p>
            <a:pPr>
              <a:spcBef>
                <a:spcPts val="400"/>
              </a:spcBef>
            </a:pPr>
            <a:r>
              <a:rPr sz="1400">
                <a:solidFill>
                  <a:srgbClr val="F0F0F0"/>
                </a:solidFill>
              </a:rPr>
              <a:t>• Mind UK: Physical health and mental health (mind.org.uk)</a:t>
            </a:r>
          </a:p>
          <a:p>
            <a:pPr>
              <a:spcBef>
                <a:spcPts val="400"/>
              </a:spcBef>
            </a:pPr>
            <a:r>
              <a:rPr sz="1400">
                <a:solidFill>
                  <a:srgbClr val="F0F0F0"/>
                </a:solidFill>
              </a:rPr>
              <a:t>• NHS: Mental health and physical health (nhs.uk)</a:t>
            </a:r>
          </a:p>
          <a:p>
            <a:pPr>
              <a:spcBef>
                <a:spcPts val="400"/>
              </a:spcBef>
            </a:pPr>
            <a:r>
              <a:rPr sz="1400">
                <a:solidFill>
                  <a:srgbClr val="F0F0F0"/>
                </a:solidFill>
              </a:rPr>
              <a:t>• Long-term conditions and mental health (Kings Fund, 2012)</a:t>
            </a:r>
          </a:p>
          <a:p>
            <a:pPr>
              <a:spcBef>
                <a:spcPts val="400"/>
              </a:spcBef>
            </a:pPr>
            <a:r>
              <a:rPr sz="1400">
                <a:solidFill>
                  <a:srgbClr val="F0F0F0"/>
                </a:solidFill>
              </a:rPr>
              <a:t>• Wiltshire Health and Care: wiltshirehealthandcare.nhs.uk</a:t>
            </a:r>
          </a:p>
        </p:txBody>
      </p:sp>
      <p:sp>
        <p:nvSpPr>
          <p:cNvPr id="8" name="TextBox 7"/>
          <p:cNvSpPr txBox="1"/>
          <p:nvPr/>
        </p:nvSpPr>
        <p:spPr>
          <a:xfrm>
            <a:off x="457200" y="4000000"/>
            <a:ext cx="8229600" cy="365760"/>
          </a:xfrm>
          <a:prstGeom prst="rect">
            <a:avLst/>
          </a:prstGeom>
          <a:noFill/>
        </p:spPr>
        <p:txBody>
          <a:bodyPr wrap="square">
            <a:spAutoFit/>
          </a:bodyPr>
          <a:lstStyle/>
          <a:p>
            <a:pPr algn="l"/>
            <a:r>
              <a:rPr sz="1800" b="1" i="0">
                <a:solidFill>
                  <a:srgbClr val="FF6B00"/>
                </a:solidFill>
              </a:rPr>
              <a:t>Crisis Support</a:t>
            </a:r>
          </a:p>
        </p:txBody>
      </p:sp>
      <p:sp>
        <p:nvSpPr>
          <p:cNvPr id="9" name="TextBox 8"/>
          <p:cNvSpPr txBox="1"/>
          <p:nvPr/>
        </p:nvSpPr>
        <p:spPr>
          <a:xfrm>
            <a:off x="457200" y="4450000"/>
            <a:ext cx="8229600" cy="1800000"/>
          </a:xfrm>
          <a:prstGeom prst="rect">
            <a:avLst/>
          </a:prstGeom>
          <a:noFill/>
        </p:spPr>
        <p:txBody>
          <a:bodyPr wrap="square">
            <a:spAutoFit/>
          </a:bodyPr>
          <a:lstStyle/>
          <a:p>
            <a:pPr>
              <a:spcBef>
                <a:spcPts val="400"/>
              </a:spcBef>
            </a:pPr>
            <a:r>
              <a:rPr sz="1300">
                <a:solidFill>
                  <a:srgbClr val="AAAAAA"/>
                </a:solidFill>
              </a:rPr>
              <a:t>• Emergency: 999</a:t>
            </a:r>
          </a:p>
          <a:p>
            <a:pPr>
              <a:spcBef>
                <a:spcPts val="400"/>
              </a:spcBef>
            </a:pPr>
            <a:r>
              <a:rPr sz="1300">
                <a:solidFill>
                  <a:srgbClr val="AAAAAA"/>
                </a:solidFill>
              </a:rPr>
              <a:t>• NHS 111: 24/7 urgent mental health support</a:t>
            </a:r>
          </a:p>
          <a:p>
            <a:pPr>
              <a:spcBef>
                <a:spcPts val="400"/>
              </a:spcBef>
            </a:pPr>
            <a:r>
              <a:rPr sz="1300">
                <a:solidFill>
                  <a:srgbClr val="AAAAAA"/>
                </a:solidFill>
              </a:rPr>
              <a:t>• Samaritans: 116 123 (free, 24/7)</a:t>
            </a:r>
          </a:p>
          <a:p>
            <a:pPr>
              <a:spcBef>
                <a:spcPts val="400"/>
              </a:spcBef>
            </a:pPr>
            <a:r>
              <a:rPr sz="1300">
                <a:solidFill>
                  <a:srgbClr val="AAAAAA"/>
                </a:solidFill>
              </a:rPr>
              <a:t>• Shout Crisis Text: Text SHOUT to 85258</a:t>
            </a:r>
          </a:p>
          <a:p>
            <a:pPr>
              <a:spcBef>
                <a:spcPts val="400"/>
              </a:spcBef>
            </a:pPr>
            <a:r>
              <a:rPr sz="1300">
                <a:solidFill>
                  <a:srgbClr val="AAAAAA"/>
                </a:solidFill>
              </a:rPr>
              <a:t>• Wiltshire Crisis Line: 0800 953 0110 (24/7)</a:t>
            </a:r>
          </a:p>
          <a:p>
            <a:pPr>
              <a:spcBef>
                <a:spcPts val="400"/>
              </a:spcBef>
            </a:pPr>
            <a:r>
              <a:rPr sz="1300">
                <a:solidFill>
                  <a:srgbClr val="AAAAAA"/>
                </a:solidFill>
              </a:rPr>
              <a:t>• PAPYRUS (under 35): 0800 068 4141</a:t>
            </a:r>
          </a:p>
        </p:txBody>
      </p:sp>
      <p:sp>
        <p:nvSpPr>
          <p:cNvPr id="10" name="TextBox 9"/>
          <p:cNvSpPr txBox="1"/>
          <p:nvPr/>
        </p:nvSpPr>
        <p:spPr>
          <a:xfrm>
            <a:off x="457200" y="6309360"/>
            <a:ext cx="8229600" cy="457200"/>
          </a:xfrm>
          <a:prstGeom prst="rect">
            <a:avLst/>
          </a:prstGeom>
          <a:noFill/>
        </p:spPr>
        <p:txBody>
          <a:bodyPr wrap="square">
            <a:spAutoFit/>
          </a:bodyPr>
          <a:lstStyle/>
          <a:p>
            <a:pPr algn="ctr"/>
            <a:r>
              <a:rPr sz="1100" b="0" i="0">
                <a:solidFill>
                  <a:srgbClr val="AAAAAA"/>
                </a:solidFill>
              </a:rPr>
              <a:t>Crisis? Call 999 or Samaritans 116 123 (free, 24/7)</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1A1A1A"/>
        </a:solidFill>
        <a:effectLst/>
      </p:bgPr>
    </p:bg>
    <p:spTree>
      <p:nvGrpSpPr>
        <p:cNvPr id="1" name=""/>
        <p:cNvGrpSpPr/>
        <p:nvPr/>
      </p:nvGrpSpPr>
      <p:grpSpPr/>
      <p:pic>
        <p:nvPicPr>
          <p:cNvPr id="2" name="Picture 1" descr="bg_opt.jpg"/>
          <p:cNvPicPr>
            <a:picLocks noChangeAspect="1"/>
          </p:cNvPicPr>
          <p:nvPr/>
        </p:nvPicPr>
        <p:blipFill>
          <a:blip r:embed="rId2"/>
          <a:stretch>
            <a:fillRect/>
          </a:stretch>
        </p:blipFill>
        <p:spPr>
          <a:xfrm>
            <a:off x="0" y="0"/>
            <a:ext cx="9144000" cy="6858000"/>
          </a:xfrm>
          <a:prstGeom prst="rect">
            <a:avLst/>
          </a:prstGeom>
        </p:spPr>
      </p:pic>
      <p:pic>
        <p:nvPicPr>
          <p:cNvPr id="3" name="Picture 2" descr="logo_opt.png"/>
          <p:cNvPicPr>
            <a:picLocks noChangeAspect="1"/>
          </p:cNvPicPr>
          <p:nvPr/>
        </p:nvPicPr>
        <p:blipFill>
          <a:blip r:embed="rId3"/>
          <a:stretch>
            <a:fillRect/>
          </a:stretch>
        </p:blipFill>
        <p:spPr>
          <a:xfrm>
            <a:off x="7589520" y="228600"/>
            <a:ext cx="1097280" cy="1097280"/>
          </a:xfrm>
          <a:prstGeom prst="rect">
            <a:avLst/>
          </a:prstGeom>
        </p:spPr>
      </p:pic>
      <p:sp>
        <p:nvSpPr>
          <p:cNvPr id="4" name="Rectangle 3"/>
          <p:cNvSpPr/>
          <p:nvPr/>
        </p:nvSpPr>
        <p:spPr>
          <a:xfrm>
            <a:off x="0" y="0"/>
            <a:ext cx="9144000" cy="1828800"/>
          </a:xfrm>
          <a:prstGeom prst="rect">
            <a:avLst/>
          </a:prstGeom>
          <a:solidFill>
            <a:srgbClr val="FF6B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200000"/>
            <a:ext cx="7589520" cy="640080"/>
          </a:xfrm>
          <a:prstGeom prst="rect">
            <a:avLst/>
          </a:prstGeom>
          <a:noFill/>
        </p:spPr>
        <p:txBody>
          <a:bodyPr wrap="square">
            <a:spAutoFit/>
          </a:bodyPr>
          <a:lstStyle/>
          <a:p>
            <a:pPr algn="l"/>
            <a:r>
              <a:rPr sz="3400" b="1" i="0">
                <a:solidFill>
                  <a:srgbClr val="1A1A1A"/>
                </a:solidFill>
              </a:rPr>
              <a:t>Module 26 Complete</a:t>
            </a:r>
          </a:p>
        </p:txBody>
      </p:sp>
      <p:sp>
        <p:nvSpPr>
          <p:cNvPr id="6" name="TextBox 5"/>
          <p:cNvSpPr txBox="1"/>
          <p:nvPr/>
        </p:nvSpPr>
        <p:spPr>
          <a:xfrm>
            <a:off x="457200" y="700000"/>
            <a:ext cx="7589520" cy="640080"/>
          </a:xfrm>
          <a:prstGeom prst="rect">
            <a:avLst/>
          </a:prstGeom>
          <a:noFill/>
        </p:spPr>
        <p:txBody>
          <a:bodyPr wrap="square">
            <a:spAutoFit/>
          </a:bodyPr>
          <a:lstStyle/>
          <a:p>
            <a:pPr algn="l"/>
            <a:r>
              <a:rPr sz="2000" b="0" i="0">
                <a:solidFill>
                  <a:srgbClr val="1A1A1A"/>
                </a:solidFill>
              </a:rPr>
              <a:t>Mental Health and Chronic Physical Conditions</a:t>
            </a:r>
          </a:p>
        </p:txBody>
      </p:sp>
      <p:sp>
        <p:nvSpPr>
          <p:cNvPr id="7" name="TextBox 6"/>
          <p:cNvSpPr txBox="1"/>
          <p:nvPr/>
        </p:nvSpPr>
        <p:spPr>
          <a:xfrm>
            <a:off x="457200" y="2100000"/>
            <a:ext cx="8229600" cy="3200000"/>
          </a:xfrm>
          <a:prstGeom prst="rect">
            <a:avLst/>
          </a:prstGeom>
          <a:noFill/>
        </p:spPr>
        <p:txBody>
          <a:bodyPr wrap="square">
            <a:spAutoFit/>
          </a:bodyPr>
          <a:lstStyle/>
          <a:p>
            <a:pPr>
              <a:spcBef>
                <a:spcPts val="400"/>
              </a:spcBef>
            </a:pPr>
            <a:r>
              <a:rPr sz="1700">
                <a:solidFill>
                  <a:srgbClr val="F0F0F0"/>
                </a:solidFill>
              </a:rPr>
              <a:t>• You have completed Module 26: Mental Health and Chronic Physical Conditions</a:t>
            </a:r>
          </a:p>
          <a:p>
            <a:pPr>
              <a:spcBef>
                <a:spcPts val="400"/>
              </a:spcBef>
            </a:pPr>
            <a:r>
              <a:rPr sz="1700">
                <a:solidFill>
                  <a:srgbClr val="F0F0F0"/>
                </a:solidFill>
              </a:rPr>
              <a:t>• Key concepts and evidence-based strategies have been explored</a:t>
            </a:r>
          </a:p>
          <a:p>
            <a:pPr>
              <a:spcBef>
                <a:spcPts val="400"/>
              </a:spcBef>
            </a:pPr>
            <a:r>
              <a:rPr sz="1700">
                <a:solidFill>
                  <a:srgbClr val="F0F0F0"/>
                </a:solidFill>
              </a:rPr>
              <a:t>• Please complete the post-session reflection form</a:t>
            </a:r>
          </a:p>
          <a:p>
            <a:pPr>
              <a:spcBef>
                <a:spcPts val="400"/>
              </a:spcBef>
            </a:pPr>
            <a:r>
              <a:rPr sz="1700">
                <a:solidFill>
                  <a:srgbClr val="F0F0F0"/>
                </a:solidFill>
              </a:rPr>
              <a:t>• Access course materials and handouts in the Members Portal</a:t>
            </a:r>
          </a:p>
          <a:p>
            <a:pPr>
              <a:spcBef>
                <a:spcPts val="400"/>
              </a:spcBef>
            </a:pPr>
            <a:r>
              <a:rPr sz="1700">
                <a:solidFill>
                  <a:srgbClr val="F0F0F0"/>
                </a:solidFill>
              </a:rPr>
              <a:t>• Our next session builds on today's learning</a:t>
            </a:r>
          </a:p>
        </p:txBody>
      </p:sp>
      <p:sp>
        <p:nvSpPr>
          <p:cNvPr id="8" name="TextBox 7"/>
          <p:cNvSpPr txBox="1"/>
          <p:nvPr/>
        </p:nvSpPr>
        <p:spPr>
          <a:xfrm>
            <a:off x="457200" y="5958000"/>
            <a:ext cx="8229600" cy="457200"/>
          </a:xfrm>
          <a:prstGeom prst="rect">
            <a:avLst/>
          </a:prstGeom>
          <a:noFill/>
        </p:spPr>
        <p:txBody>
          <a:bodyPr wrap="square">
            <a:spAutoFit/>
          </a:bodyPr>
          <a:lstStyle/>
          <a:p>
            <a:pPr algn="ctr"/>
            <a:r>
              <a:rPr sz="1300" b="0" i="0">
                <a:solidFill>
                  <a:srgbClr val="AAAAAA"/>
                </a:solidFill>
              </a:rPr>
              <a:t>melksham-mentalhealth.us  |  Melksham-mental-health@outlook.com</a:t>
            </a:r>
          </a:p>
        </p:txBody>
      </p:sp>
      <p:sp>
        <p:nvSpPr>
          <p:cNvPr id="9" name="TextBox 8"/>
          <p:cNvSpPr txBox="1"/>
          <p:nvPr/>
        </p:nvSpPr>
        <p:spPr>
          <a:xfrm>
            <a:off x="457200" y="6309360"/>
            <a:ext cx="8229600" cy="457200"/>
          </a:xfrm>
          <a:prstGeom prst="rect">
            <a:avLst/>
          </a:prstGeom>
          <a:noFill/>
        </p:spPr>
        <p:txBody>
          <a:bodyPr wrap="square">
            <a:spAutoFit/>
          </a:bodyPr>
          <a:lstStyle/>
          <a:p>
            <a:pPr algn="ctr"/>
            <a:r>
              <a:rPr sz="1100" b="0" i="0">
                <a:solidFill>
                  <a:srgbClr val="AAAAAA"/>
                </a:solidFill>
              </a:rPr>
              <a:t>Crisis? Call 999 or Samaritans 116 123 (free, 24/7)</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
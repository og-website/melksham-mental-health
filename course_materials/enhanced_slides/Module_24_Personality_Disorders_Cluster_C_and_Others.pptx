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24</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Personality Disorders: Cluster C and Others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Cluster C personality disorders — avoidant, dependent and obsessive-compulsive — are characterised by anxiety and fearfulness. This module also explores narcissistic personality disorder and the emerging understanding of complex trauma as an alternative framework for understanding personality difficulties.</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Identify the features of Cluster C disorders: avoidant, dependent, OCPD</a:t>
            </a:r>
          </a:p>
          <a:p>
            <a:pPr>
              <a:spcBef>
                <a:spcPts val="400"/>
              </a:spcBef>
            </a:pPr>
            <a:r>
              <a:rPr sz="1700">
                <a:solidFill>
                  <a:srgbClr val="F0F0F0"/>
                </a:solidFill>
              </a:rPr>
              <a:t>• Understand narcissistic personality disorder and its impact on relationships</a:t>
            </a:r>
          </a:p>
          <a:p>
            <a:pPr>
              <a:spcBef>
                <a:spcPts val="400"/>
              </a:spcBef>
            </a:pPr>
            <a:r>
              <a:rPr sz="1700">
                <a:solidFill>
                  <a:srgbClr val="F0F0F0"/>
                </a:solidFill>
              </a:rPr>
              <a:t>• Explore the relationship between complex trauma and personality disorder diagnoses</a:t>
            </a:r>
          </a:p>
          <a:p>
            <a:pPr>
              <a:spcBef>
                <a:spcPts val="400"/>
              </a:spcBef>
            </a:pPr>
            <a:r>
              <a:rPr sz="1700">
                <a:solidFill>
                  <a:srgbClr val="F0F0F0"/>
                </a:solidFill>
              </a:rPr>
              <a:t>• Understand cognitive and interpersonal therapy approaches for Cluster C disorders</a:t>
            </a:r>
          </a:p>
          <a:p>
            <a:pPr>
              <a:spcBef>
                <a:spcPts val="400"/>
              </a:spcBef>
            </a:pPr>
            <a:r>
              <a:rPr sz="1700">
                <a:solidFill>
                  <a:srgbClr val="F0F0F0"/>
                </a:solidFill>
              </a:rPr>
              <a:t>• Develop skills for working with people with avoidant and dependent presentations</a:t>
            </a:r>
          </a:p>
          <a:p>
            <a:pPr>
              <a:spcBef>
                <a:spcPts val="400"/>
              </a:spcBef>
            </a:pPr>
            <a:r>
              <a:rPr sz="1700">
                <a:solidFill>
                  <a:srgbClr val="F0F0F0"/>
                </a:solidFill>
              </a:rPr>
              <a:t>• Explore the controversy around personality disorder diagnosis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24: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Avoidant PD: social inhibition, feelings of inadequacy, hypersensitivity to criticism</a:t>
            </a:r>
          </a:p>
          <a:p>
            <a:pPr>
              <a:spcBef>
                <a:spcPts val="400"/>
              </a:spcBef>
            </a:pPr>
            <a:r>
              <a:rPr sz="1700">
                <a:solidFill>
                  <a:srgbClr val="F0F0F0"/>
                </a:solidFill>
              </a:rPr>
              <a:t>• Dependent PD: excessive need to be taken care of, submissive behaviour, fear of separation</a:t>
            </a:r>
          </a:p>
          <a:p>
            <a:pPr>
              <a:spcBef>
                <a:spcPts val="400"/>
              </a:spcBef>
            </a:pPr>
            <a:r>
              <a:rPr sz="1700">
                <a:solidFill>
                  <a:srgbClr val="F0F0F0"/>
                </a:solidFill>
              </a:rPr>
              <a:t>• OCPD: preoccupation with orderliness, perfectionism and control</a:t>
            </a:r>
          </a:p>
          <a:p>
            <a:pPr>
              <a:spcBef>
                <a:spcPts val="400"/>
              </a:spcBef>
            </a:pPr>
            <a:r>
              <a:rPr sz="1700">
                <a:solidFill>
                  <a:srgbClr val="F0F0F0"/>
                </a:solidFill>
              </a:rPr>
              <a:t>• Narcissistic PD: grandiosity, need for admiration, lack of empathy</a:t>
            </a:r>
          </a:p>
          <a:p>
            <a:pPr>
              <a:spcBef>
                <a:spcPts val="400"/>
              </a:spcBef>
            </a:pPr>
            <a:r>
              <a:rPr sz="1700">
                <a:solidFill>
                  <a:srgbClr val="F0F0F0"/>
                </a:solidFill>
              </a:rPr>
              <a:t>• Complex trauma: alternative framework emphasising the role of early adversity</a:t>
            </a:r>
          </a:p>
          <a:p>
            <a:pPr>
              <a:spcBef>
                <a:spcPts val="400"/>
              </a:spcBef>
            </a:pPr>
            <a:r>
              <a:rPr sz="1700">
                <a:solidFill>
                  <a:srgbClr val="F0F0F0"/>
                </a:solidFill>
              </a:rPr>
              <a:t>• Controversy: feminist critiques of personality disorder diagnosis</a:t>
            </a:r>
          </a:p>
          <a:p>
            <a:pPr>
              <a:spcBef>
                <a:spcPts val="400"/>
              </a:spcBef>
            </a:pPr>
            <a:r>
              <a:rPr sz="1700">
                <a:solidFill>
                  <a:srgbClr val="F0F0F0"/>
                </a:solidFill>
              </a:rPr>
              <a:t>• Recovery: personality disorders are treatable with appropriate, sustained therapy</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Avoidant PD affects 2.4% of the general population</a:t>
            </a:r>
          </a:p>
          <a:p>
            <a:pPr>
              <a:spcBef>
                <a:spcPts val="400"/>
              </a:spcBef>
            </a:pPr>
            <a:r>
              <a:rPr sz="1700">
                <a:solidFill>
                  <a:srgbClr val="F0F0F0"/>
                </a:solidFill>
              </a:rPr>
              <a:t>• OCPD affects 2–8% of the population (most common personality disorder)</a:t>
            </a:r>
          </a:p>
          <a:p>
            <a:pPr>
              <a:spcBef>
                <a:spcPts val="400"/>
              </a:spcBef>
            </a:pPr>
            <a:r>
              <a:rPr sz="1700">
                <a:solidFill>
                  <a:srgbClr val="F0F0F0"/>
                </a:solidFill>
              </a:rPr>
              <a:t>• Narcissistic PD affects 1% of the population</a:t>
            </a:r>
          </a:p>
          <a:p>
            <a:pPr>
              <a:spcBef>
                <a:spcPts val="400"/>
              </a:spcBef>
            </a:pPr>
            <a:r>
              <a:rPr sz="1700">
                <a:solidFill>
                  <a:srgbClr val="F0F0F0"/>
                </a:solidFill>
              </a:rPr>
              <a:t>• 85% of people with a personality disorder have at least one comorbid condition</a:t>
            </a:r>
          </a:p>
          <a:p>
            <a:pPr>
              <a:spcBef>
                <a:spcPts val="400"/>
              </a:spcBef>
            </a:pPr>
            <a:r>
              <a:rPr sz="1700">
                <a:solidFill>
                  <a:srgbClr val="F0F0F0"/>
                </a:solidFill>
              </a:rPr>
              <a:t>• Complex PTSD (CPTSD) is now recognised in ICD-11 (WHO, 2022)</a:t>
            </a:r>
          </a:p>
          <a:p>
            <a:pPr>
              <a:spcBef>
                <a:spcPts val="400"/>
              </a:spcBef>
            </a:pPr>
            <a:r>
              <a:rPr sz="1700">
                <a:solidFill>
                  <a:srgbClr val="F0F0F0"/>
                </a:solidFill>
              </a:rPr>
              <a:t>• Personality disorders are treatable: 50% of people with borderline PD no longer meet criteria after 10 years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Cognitive therapy is effective for avoidant and dependent personality disorders</a:t>
            </a:r>
          </a:p>
          <a:p>
            <a:pPr>
              <a:spcBef>
                <a:spcPts val="400"/>
              </a:spcBef>
            </a:pPr>
            <a:r>
              <a:rPr sz="1700">
                <a:solidFill>
                  <a:srgbClr val="F0F0F0"/>
                </a:solidFill>
              </a:rPr>
              <a:t>• Schema therapy addresses early maladaptive schemas underlying personality disorders</a:t>
            </a:r>
          </a:p>
          <a:p>
            <a:pPr>
              <a:spcBef>
                <a:spcPts val="400"/>
              </a:spcBef>
            </a:pPr>
            <a:r>
              <a:rPr sz="1700">
                <a:solidFill>
                  <a:srgbClr val="F0F0F0"/>
                </a:solidFill>
              </a:rPr>
              <a:t>• Interpersonal therapy improves relationship patterns and communication</a:t>
            </a:r>
          </a:p>
          <a:p>
            <a:pPr>
              <a:spcBef>
                <a:spcPts val="400"/>
              </a:spcBef>
            </a:pPr>
            <a:r>
              <a:rPr sz="1700">
                <a:solidFill>
                  <a:srgbClr val="F0F0F0"/>
                </a:solidFill>
              </a:rPr>
              <a:t>• Gradual exposure is effective for avoidant PD — systematic exposure to social situations</a:t>
            </a:r>
          </a:p>
          <a:p>
            <a:pPr>
              <a:spcBef>
                <a:spcPts val="400"/>
              </a:spcBef>
            </a:pPr>
            <a:r>
              <a:rPr sz="1700">
                <a:solidFill>
                  <a:srgbClr val="F0F0F0"/>
                </a:solidFill>
              </a:rPr>
              <a:t>• Assertiveness training builds autonomy and self-efficacy in dependent PD</a:t>
            </a:r>
          </a:p>
          <a:p>
            <a:pPr>
              <a:spcBef>
                <a:spcPts val="400"/>
              </a:spcBef>
            </a:pPr>
            <a:r>
              <a:rPr sz="1700">
                <a:solidFill>
                  <a:srgbClr val="F0F0F0"/>
                </a:solidFill>
              </a:rPr>
              <a:t>• Long-term therapy (1–3 years) is typically required for personality disorder treatment</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Claire, 35, had avoided social situations for as long as she could remember, fearing rejection and humiliation. She had few close relationships and had turned down promotions at work to avoid attention. Following assessment, Claire was diagnosed with avoidant personality disorder. She began cognitive therapy focusing on her core beliefs about being fundamentally flawed and unlovable. Gradual exposure to social situations was incorporated into therapy. After two years of therapy, Claire had developed several close friendships and accepted a promotion.</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Cognitive therapy: addressing negative core beliefs and maladaptive schemas</a:t>
            </a:r>
          </a:p>
          <a:p>
            <a:pPr>
              <a:spcBef>
                <a:spcPts val="400"/>
              </a:spcBef>
            </a:pPr>
            <a:r>
              <a:rPr sz="1700">
                <a:solidFill>
                  <a:srgbClr val="F0F0F0"/>
                </a:solidFill>
              </a:rPr>
              <a:t>• Interpersonal therapy: improving relationship patterns and communication</a:t>
            </a:r>
          </a:p>
          <a:p>
            <a:pPr>
              <a:spcBef>
                <a:spcPts val="400"/>
              </a:spcBef>
            </a:pPr>
            <a:r>
              <a:rPr sz="1700">
                <a:solidFill>
                  <a:srgbClr val="F0F0F0"/>
                </a:solidFill>
              </a:rPr>
              <a:t>• Schema therapy: identifying and healing early maladaptive schemas</a:t>
            </a:r>
          </a:p>
          <a:p>
            <a:pPr>
              <a:spcBef>
                <a:spcPts val="400"/>
              </a:spcBef>
            </a:pPr>
            <a:r>
              <a:rPr sz="1700">
                <a:solidFill>
                  <a:srgbClr val="F0F0F0"/>
                </a:solidFill>
              </a:rPr>
              <a:t>• Gradual exposure: for avoidant PD — systematic exposure to social situations</a:t>
            </a:r>
          </a:p>
          <a:p>
            <a:pPr>
              <a:spcBef>
                <a:spcPts val="400"/>
              </a:spcBef>
            </a:pPr>
            <a:r>
              <a:rPr sz="1700">
                <a:solidFill>
                  <a:srgbClr val="F0F0F0"/>
                </a:solidFill>
              </a:rPr>
              <a:t>• Assertiveness training: for dependent PD — building autonomy and self-efficacy</a:t>
            </a:r>
          </a:p>
          <a:p>
            <a:pPr>
              <a:spcBef>
                <a:spcPts val="400"/>
              </a:spcBef>
            </a:pPr>
            <a:r>
              <a:rPr sz="1700">
                <a:solidFill>
                  <a:srgbClr val="F0F0F0"/>
                </a:solidFill>
              </a:rPr>
              <a:t>• Mindfulness: observing thoughts and emotions without judgment</a:t>
            </a:r>
          </a:p>
          <a:p>
            <a:pPr>
              <a:spcBef>
                <a:spcPts val="400"/>
              </a:spcBef>
            </a:pPr>
            <a:r>
              <a:rPr sz="1700">
                <a:solidFill>
                  <a:srgbClr val="F0F0F0"/>
                </a:solidFill>
              </a:rPr>
              <a:t>• Long-term therapy: personality disorders typically require 1–3 years of treatment</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Core belief exploration: Participants identify one negative core belief about themselves (e.g., 'I am unlovable', 'I am incompetent') and examine the evidence for and against it. Discuss: Where do core beliefs come from? How do they affect our relationships and behaviour?</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is the difference between OCPD and OCD?</a:t>
            </a:r>
          </a:p>
          <a:p>
            <a:pPr>
              <a:spcBef>
                <a:spcPts val="400"/>
              </a:spcBef>
            </a:pPr>
            <a:r>
              <a:rPr sz="1700">
                <a:solidFill>
                  <a:srgbClr val="F0F0F0"/>
                </a:solidFill>
              </a:rPr>
              <a:t>• How does avoidant personality disorder differ from social anxiety disorder?</a:t>
            </a:r>
          </a:p>
          <a:p>
            <a:pPr>
              <a:spcBef>
                <a:spcPts val="400"/>
              </a:spcBef>
            </a:pPr>
            <a:r>
              <a:rPr sz="1700">
                <a:solidFill>
                  <a:srgbClr val="F0F0F0"/>
                </a:solidFill>
              </a:rPr>
              <a:t>• What is the relationship between complex trauma and personality disorder diagnoses?</a:t>
            </a:r>
          </a:p>
          <a:p>
            <a:pPr>
              <a:spcBef>
                <a:spcPts val="400"/>
              </a:spcBef>
            </a:pPr>
            <a:r>
              <a:rPr sz="1700">
                <a:solidFill>
                  <a:srgbClr val="F0F0F0"/>
                </a:solidFill>
              </a:rPr>
              <a:t>• How can we support someone with dependent personality disorder without fostering dependence?</a:t>
            </a:r>
          </a:p>
          <a:p>
            <a:pPr>
              <a:spcBef>
                <a:spcPts val="400"/>
              </a:spcBef>
            </a:pPr>
            <a:r>
              <a:rPr sz="1700">
                <a:solidFill>
                  <a:srgbClr val="F0F0F0"/>
                </a:solidFill>
              </a:rPr>
              <a:t>• What long-term therapy options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CG78: Borderline personality disorder (2009)</a:t>
            </a:r>
          </a:p>
          <a:p>
            <a:pPr>
              <a:spcBef>
                <a:spcPts val="400"/>
              </a:spcBef>
            </a:pPr>
            <a:r>
              <a:rPr sz="1400">
                <a:solidFill>
                  <a:srgbClr val="F0F0F0"/>
                </a:solidFill>
              </a:rPr>
              <a:t>• Mind UK: Personality disorders (mind.org.uk)</a:t>
            </a:r>
          </a:p>
          <a:p>
            <a:pPr>
              <a:spcBef>
                <a:spcPts val="400"/>
              </a:spcBef>
            </a:pPr>
            <a:r>
              <a:rPr sz="1400">
                <a:solidFill>
                  <a:srgbClr val="F0F0F0"/>
                </a:solidFill>
              </a:rPr>
              <a:t>• NHS: Personality disorder (nhs.uk/conditions/personality-disorder)</a:t>
            </a:r>
          </a:p>
          <a:p>
            <a:pPr>
              <a:spcBef>
                <a:spcPts val="400"/>
              </a:spcBef>
            </a:pPr>
            <a:r>
              <a:rPr sz="1400">
                <a:solidFill>
                  <a:srgbClr val="F0F0F0"/>
                </a:solidFill>
              </a:rPr>
              <a:t>• Emergence: emergenceplus.org.uk</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24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Personality Disorders: Cluster C and Others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24: Personality Disorders: Cluster C and Others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
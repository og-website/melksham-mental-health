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548640"/>
          </a:xfrm>
          <a:prstGeom prst="rect">
            <a:avLst/>
          </a:prstGeom>
          <a:noFill/>
        </p:spPr>
        <p:txBody>
          <a:bodyPr wrap="square">
            <a:spAutoFit/>
          </a:bodyPr>
          <a:lstStyle/>
          <a:p>
            <a:pPr algn="l"/>
            <a:r>
              <a:rPr sz="3600" b="1" i="0">
                <a:solidFill>
                  <a:srgbClr val="1A1A1A"/>
                </a:solidFill>
              </a:rPr>
              <a:t>Module 5</a:t>
            </a:r>
          </a:p>
        </p:txBody>
      </p:sp>
      <p:sp>
        <p:nvSpPr>
          <p:cNvPr id="6" name="TextBox 5"/>
          <p:cNvSpPr txBox="1"/>
          <p:nvPr/>
        </p:nvSpPr>
        <p:spPr>
          <a:xfrm>
            <a:off x="457200" y="640080"/>
            <a:ext cx="7589520" cy="914400"/>
          </a:xfrm>
          <a:prstGeom prst="rect">
            <a:avLst/>
          </a:prstGeom>
          <a:noFill/>
        </p:spPr>
        <p:txBody>
          <a:bodyPr wrap="square">
            <a:spAutoFit/>
          </a:bodyPr>
          <a:lstStyle/>
          <a:p>
            <a:pPr algn="l"/>
            <a:r>
              <a:rPr sz="2600" b="0" i="0">
                <a:solidFill>
                  <a:srgbClr val="1A1A1A"/>
                </a:solidFill>
              </a:rPr>
              <a:t>Neurodevelopmental Disorders: Intellectual and Learning Disabilities</a:t>
            </a:r>
          </a:p>
        </p:txBody>
      </p:sp>
      <p:sp>
        <p:nvSpPr>
          <p:cNvPr id="7" name="TextBox 6"/>
          <p:cNvSpPr txBox="1"/>
          <p:nvPr/>
        </p:nvSpPr>
        <p:spPr>
          <a:xfrm>
            <a:off x="457200" y="2100000"/>
            <a:ext cx="8229600" cy="548640"/>
          </a:xfrm>
          <a:prstGeom prst="rect">
            <a:avLst/>
          </a:prstGeom>
          <a:noFill/>
        </p:spPr>
        <p:txBody>
          <a:bodyPr wrap="square">
            <a:spAutoFit/>
          </a:bodyPr>
          <a:lstStyle/>
          <a:p>
            <a:pPr algn="l"/>
            <a:r>
              <a:rPr sz="2000" b="1" i="0">
                <a:solidFill>
                  <a:srgbClr val="FF6B00"/>
                </a:solidFill>
              </a:rPr>
              <a:t>Melksham Mental Health — Comprehensive Course</a:t>
            </a:r>
          </a:p>
        </p:txBody>
      </p:sp>
      <p:sp>
        <p:nvSpPr>
          <p:cNvPr id="8" name="TextBox 7"/>
          <p:cNvSpPr txBox="1"/>
          <p:nvPr/>
        </p:nvSpPr>
        <p:spPr>
          <a:xfrm>
            <a:off x="457200" y="2650000"/>
            <a:ext cx="8229600" cy="457200"/>
          </a:xfrm>
          <a:prstGeom prst="rect">
            <a:avLst/>
          </a:prstGeom>
          <a:noFill/>
        </p:spPr>
        <p:txBody>
          <a:bodyPr wrap="square">
            <a:spAutoFit/>
          </a:bodyPr>
          <a:lstStyle/>
          <a:p>
            <a:pPr algn="l"/>
            <a:r>
              <a:rPr sz="1600" b="0" i="0">
                <a:solidFill>
                  <a:srgbClr val="AAAAAA"/>
                </a:solidFill>
              </a:rPr>
              <a:t>2-hour session  •  Includes 30-minute group discussion</a:t>
            </a:r>
          </a:p>
        </p:txBody>
      </p:sp>
      <p:sp>
        <p:nvSpPr>
          <p:cNvPr id="9" name="TextBox 8"/>
          <p:cNvSpPr txBox="1"/>
          <p:nvPr/>
        </p:nvSpPr>
        <p:spPr>
          <a:xfrm>
            <a:off x="457200" y="5958000"/>
            <a:ext cx="8229600" cy="457200"/>
          </a:xfrm>
          <a:prstGeom prst="rect">
            <a:avLst/>
          </a:prstGeom>
          <a:noFill/>
        </p:spPr>
        <p:txBody>
          <a:bodyPr wrap="square">
            <a:spAutoFit/>
          </a:bodyPr>
          <a:lstStyle/>
          <a:p>
            <a:pPr algn="ctr"/>
            <a:r>
              <a:rPr sz="1200" b="0" i="0">
                <a:solidFill>
                  <a:srgbClr val="AAAAAA"/>
                </a:solidFill>
              </a:rPr>
              <a:t>melksham-mentalhealth.us  |  Melksham-mental-health@outlook.com</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Session Overview</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00000"/>
            <a:ext cx="8229600" cy="1400000"/>
          </a:xfrm>
          <a:prstGeom prst="rect">
            <a:avLst/>
          </a:prstGeom>
          <a:noFill/>
        </p:spPr>
        <p:txBody>
          <a:bodyPr wrap="square">
            <a:spAutoFit/>
          </a:bodyPr>
          <a:lstStyle/>
          <a:p>
            <a:pPr algn="l"/>
            <a:r>
              <a:rPr sz="1500" b="0" i="0">
                <a:solidFill>
                  <a:srgbClr val="F0F0F0"/>
                </a:solidFill>
              </a:rPr>
              <a:t>Intellectual disability and learning disorders such as dyslexia, dyspraxia and dyscalculia affect millions of people in the UK. This module emphasises early intervention, inclusive education, and the importance of recognising and building on individual strengths.</a:t>
            </a:r>
          </a:p>
        </p:txBody>
      </p:sp>
      <p:sp>
        <p:nvSpPr>
          <p:cNvPr id="7" name="TextBox 6"/>
          <p:cNvSpPr txBox="1"/>
          <p:nvPr/>
        </p:nvSpPr>
        <p:spPr>
          <a:xfrm>
            <a:off x="457200" y="2700000"/>
            <a:ext cx="8229600" cy="3200000"/>
          </a:xfrm>
          <a:prstGeom prst="rect">
            <a:avLst/>
          </a:prstGeom>
          <a:noFill/>
        </p:spPr>
        <p:txBody>
          <a:bodyPr wrap="square">
            <a:spAutoFit/>
          </a:bodyPr>
          <a:lstStyle/>
          <a:p>
            <a:pPr>
              <a:spcBef>
                <a:spcPts val="400"/>
              </a:spcBef>
            </a:pPr>
            <a:r>
              <a:rPr sz="1700">
                <a:solidFill>
                  <a:srgbClr val="F0F0F0"/>
                </a:solidFill>
              </a:rPr>
              <a:t>• Introduction &amp; Objectives  (15 min)</a:t>
            </a:r>
          </a:p>
          <a:p>
            <a:pPr>
              <a:spcBef>
                <a:spcPts val="400"/>
              </a:spcBef>
            </a:pPr>
            <a:r>
              <a:rPr sz="1700">
                <a:solidFill>
                  <a:srgbClr val="F0F0F0"/>
                </a:solidFill>
              </a:rPr>
              <a:t>• Evidence-Based Content  (45 min)</a:t>
            </a:r>
          </a:p>
          <a:p>
            <a:pPr>
              <a:spcBef>
                <a:spcPts val="400"/>
              </a:spcBef>
            </a:pPr>
            <a:r>
              <a:rPr sz="1700">
                <a:solidFill>
                  <a:srgbClr val="F0F0F0"/>
                </a:solidFill>
              </a:rPr>
              <a:t>• Case Study  (15 min)</a:t>
            </a:r>
          </a:p>
          <a:p>
            <a:pPr>
              <a:spcBef>
                <a:spcPts val="400"/>
              </a:spcBef>
            </a:pPr>
            <a:r>
              <a:rPr sz="1700">
                <a:solidFill>
                  <a:srgbClr val="F0F0F0"/>
                </a:solidFill>
              </a:rPr>
              <a:t>• Interactive Activity  (30 min)</a:t>
            </a:r>
          </a:p>
          <a:p>
            <a:pPr>
              <a:spcBef>
                <a:spcPts val="400"/>
              </a:spcBef>
            </a:pPr>
            <a:r>
              <a:rPr sz="1700">
                <a:solidFill>
                  <a:srgbClr val="F0F0F0"/>
                </a:solidFill>
              </a:rPr>
              <a:t>• Group Discussion  (30 min)</a:t>
            </a:r>
          </a:p>
          <a:p>
            <a:pPr>
              <a:spcBef>
                <a:spcPts val="400"/>
              </a:spcBef>
            </a:pPr>
            <a:r>
              <a:rPr sz="1700">
                <a:solidFill>
                  <a:srgbClr val="F0F0F0"/>
                </a:solidFill>
              </a:rPr>
              <a:t>• Wrap-Up &amp; Resources  (15 min)</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Learning Objectives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Define intellectual disability and distinguish it from learning disorders</a:t>
            </a:r>
          </a:p>
          <a:p>
            <a:pPr>
              <a:spcBef>
                <a:spcPts val="400"/>
              </a:spcBef>
            </a:pPr>
            <a:r>
              <a:rPr sz="1700">
                <a:solidFill>
                  <a:srgbClr val="F0F0F0"/>
                </a:solidFill>
              </a:rPr>
              <a:t>• Understand global developmental delay and its implications</a:t>
            </a:r>
          </a:p>
          <a:p>
            <a:pPr>
              <a:spcBef>
                <a:spcPts val="400"/>
              </a:spcBef>
            </a:pPr>
            <a:r>
              <a:rPr sz="1700">
                <a:solidFill>
                  <a:srgbClr val="F0F0F0"/>
                </a:solidFill>
              </a:rPr>
              <a:t>• Identify common learning disorders: dyslexia, dyspraxia, dyscalculia</a:t>
            </a:r>
          </a:p>
          <a:p>
            <a:pPr>
              <a:spcBef>
                <a:spcPts val="400"/>
              </a:spcBef>
            </a:pPr>
            <a:r>
              <a:rPr sz="1700">
                <a:solidFill>
                  <a:srgbClr val="F0F0F0"/>
                </a:solidFill>
              </a:rPr>
              <a:t>• Explore early intervention strategies and inclusive education approaches</a:t>
            </a:r>
          </a:p>
          <a:p>
            <a:pPr>
              <a:spcBef>
                <a:spcPts val="400"/>
              </a:spcBef>
            </a:pPr>
            <a:r>
              <a:rPr sz="1700">
                <a:solidFill>
                  <a:srgbClr val="F0F0F0"/>
                </a:solidFill>
              </a:rPr>
              <a:t>• Recognise the mental health impact of unidentified learning differences</a:t>
            </a:r>
          </a:p>
          <a:p>
            <a:pPr>
              <a:spcBef>
                <a:spcPts val="400"/>
              </a:spcBef>
            </a:pPr>
            <a:r>
              <a:rPr sz="1700">
                <a:solidFill>
                  <a:srgbClr val="F0F0F0"/>
                </a:solidFill>
              </a:rPr>
              <a:t>• Develop strategies for supporting people with intellectual and learning disabilities</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Module 5: Key Topics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Intellectual disability: limitations in intellectual functioning and adaptive behaviour</a:t>
            </a:r>
          </a:p>
          <a:p>
            <a:pPr>
              <a:spcBef>
                <a:spcPts val="400"/>
              </a:spcBef>
            </a:pPr>
            <a:r>
              <a:rPr sz="1700">
                <a:solidFill>
                  <a:srgbClr val="F0F0F0"/>
                </a:solidFill>
              </a:rPr>
              <a:t>• Global developmental delay: delays across multiple developmental domains</a:t>
            </a:r>
          </a:p>
          <a:p>
            <a:pPr>
              <a:spcBef>
                <a:spcPts val="400"/>
              </a:spcBef>
            </a:pPr>
            <a:r>
              <a:rPr sz="1700">
                <a:solidFill>
                  <a:srgbClr val="F0F0F0"/>
                </a:solidFill>
              </a:rPr>
              <a:t>• Dyslexia: difficulties with reading, spelling and phonological processing</a:t>
            </a:r>
          </a:p>
          <a:p>
            <a:pPr>
              <a:spcBef>
                <a:spcPts val="400"/>
              </a:spcBef>
            </a:pPr>
            <a:r>
              <a:rPr sz="1700">
                <a:solidFill>
                  <a:srgbClr val="F0F0F0"/>
                </a:solidFill>
              </a:rPr>
              <a:t>• Dyspraxia (DCD): difficulties with motor coordination and planning</a:t>
            </a:r>
          </a:p>
          <a:p>
            <a:pPr>
              <a:spcBef>
                <a:spcPts val="400"/>
              </a:spcBef>
            </a:pPr>
            <a:r>
              <a:rPr sz="1700">
                <a:solidFill>
                  <a:srgbClr val="F0F0F0"/>
                </a:solidFill>
              </a:rPr>
              <a:t>• Dyscalculia: specific difficulties with number sense and mathematical reasoning</a:t>
            </a:r>
          </a:p>
          <a:p>
            <a:pPr>
              <a:spcBef>
                <a:spcPts val="400"/>
              </a:spcBef>
            </a:pPr>
            <a:r>
              <a:rPr sz="1700">
                <a:solidFill>
                  <a:srgbClr val="F0F0F0"/>
                </a:solidFill>
              </a:rPr>
              <a:t>• Early intervention: speech therapy, occupational therapy, educational support</a:t>
            </a:r>
          </a:p>
          <a:p>
            <a:pPr>
              <a:spcBef>
                <a:spcPts val="400"/>
              </a:spcBef>
            </a:pPr>
            <a:r>
              <a:rPr sz="1700">
                <a:solidFill>
                  <a:srgbClr val="F0F0F0"/>
                </a:solidFill>
              </a:rPr>
              <a:t>• Inclusive education: reasonable adjustments, assistive technology and EHCPs</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Key Statistics &amp; Prevalence</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Intellectual disability affects approximately 2–3% of the population worldwide</a:t>
            </a:r>
          </a:p>
          <a:p>
            <a:pPr>
              <a:spcBef>
                <a:spcPts val="400"/>
              </a:spcBef>
            </a:pPr>
            <a:r>
              <a:rPr sz="1700">
                <a:solidFill>
                  <a:srgbClr val="F0F0F0"/>
                </a:solidFill>
              </a:rPr>
              <a:t>• Dyslexia affects 10% of the UK population; 4% severely (British Dyslexia Association)</a:t>
            </a:r>
          </a:p>
          <a:p>
            <a:pPr>
              <a:spcBef>
                <a:spcPts val="400"/>
              </a:spcBef>
            </a:pPr>
            <a:r>
              <a:rPr sz="1700">
                <a:solidFill>
                  <a:srgbClr val="F0F0F0"/>
                </a:solidFill>
              </a:rPr>
              <a:t>• People with intellectual disabilities are 4–7 times more likely to have mental health problems</a:t>
            </a:r>
          </a:p>
          <a:p>
            <a:pPr>
              <a:spcBef>
                <a:spcPts val="400"/>
              </a:spcBef>
            </a:pPr>
            <a:r>
              <a:rPr sz="1700">
                <a:solidFill>
                  <a:srgbClr val="F0F0F0"/>
                </a:solidFill>
              </a:rPr>
              <a:t>• Only 6% of people with learning disabilities are in paid employment (Mencap, 2022)</a:t>
            </a:r>
          </a:p>
          <a:p>
            <a:pPr>
              <a:spcBef>
                <a:spcPts val="400"/>
              </a:spcBef>
            </a:pPr>
            <a:r>
              <a:rPr sz="1700">
                <a:solidFill>
                  <a:srgbClr val="F0F0F0"/>
                </a:solidFill>
              </a:rPr>
              <a:t>• EHCP applications in England increased by 140% between 2015 and 2023</a:t>
            </a:r>
          </a:p>
          <a:p>
            <a:pPr>
              <a:spcBef>
                <a:spcPts val="400"/>
              </a:spcBef>
            </a:pPr>
            <a:r>
              <a:rPr sz="1700">
                <a:solidFill>
                  <a:srgbClr val="F0F0F0"/>
                </a:solidFill>
              </a:rPr>
              <a:t>• People with intellectual disabilities have a life expectancy 20 years shorter than average</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Evidence &amp; Research</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000000"/>
          </a:xfrm>
          <a:prstGeom prst="rect">
            <a:avLst/>
          </a:prstGeom>
          <a:noFill/>
        </p:spPr>
        <p:txBody>
          <a:bodyPr wrap="square">
            <a:spAutoFit/>
          </a:bodyPr>
          <a:lstStyle/>
          <a:p>
            <a:pPr>
              <a:spcBef>
                <a:spcPts val="400"/>
              </a:spcBef>
            </a:pPr>
            <a:r>
              <a:rPr sz="1700">
                <a:solidFill>
                  <a:srgbClr val="F0F0F0"/>
                </a:solidFill>
              </a:rPr>
              <a:t>• Early intervention before age 5 significantly improves long-term outcomes</a:t>
            </a:r>
          </a:p>
          <a:p>
            <a:pPr>
              <a:spcBef>
                <a:spcPts val="400"/>
              </a:spcBef>
            </a:pPr>
            <a:r>
              <a:rPr sz="1700">
                <a:solidFill>
                  <a:srgbClr val="F0F0F0"/>
                </a:solidFill>
              </a:rPr>
              <a:t>• SEND Code of Practice (2015): legal framework for educational support in England</a:t>
            </a:r>
          </a:p>
          <a:p>
            <a:pPr>
              <a:spcBef>
                <a:spcPts val="400"/>
              </a:spcBef>
            </a:pPr>
            <a:r>
              <a:rPr sz="1700">
                <a:solidFill>
                  <a:srgbClr val="F0F0F0"/>
                </a:solidFill>
              </a:rPr>
              <a:t>• Assistive technology (e.g., text-to-speech software) improves literacy outcomes</a:t>
            </a:r>
          </a:p>
          <a:p>
            <a:pPr>
              <a:spcBef>
                <a:spcPts val="400"/>
              </a:spcBef>
            </a:pPr>
            <a:r>
              <a:rPr sz="1700">
                <a:solidFill>
                  <a:srgbClr val="F0F0F0"/>
                </a:solidFill>
              </a:rPr>
              <a:t>• Positive behaviour support is the evidence-based approach for intellectual disabilities</a:t>
            </a:r>
          </a:p>
          <a:p>
            <a:pPr>
              <a:spcBef>
                <a:spcPts val="400"/>
              </a:spcBef>
            </a:pPr>
            <a:r>
              <a:rPr sz="1700">
                <a:solidFill>
                  <a:srgbClr val="F0F0F0"/>
                </a:solidFill>
              </a:rPr>
              <a:t>• 70% of people with intellectual disabilities experience mental health problems</a:t>
            </a:r>
          </a:p>
          <a:p>
            <a:pPr>
              <a:spcBef>
                <a:spcPts val="400"/>
              </a:spcBef>
            </a:pPr>
            <a:r>
              <a:rPr sz="1700">
                <a:solidFill>
                  <a:srgbClr val="F0F0F0"/>
                </a:solidFill>
              </a:rPr>
              <a:t>• Mencap: only 6% of people with learning disabilities are in paid employment</a:t>
            </a:r>
          </a:p>
        </p:txBody>
      </p:sp>
      <p:sp>
        <p:nvSpPr>
          <p:cNvPr id="7" name="TextBox 6"/>
          <p:cNvSpPr txBox="1"/>
          <p:nvPr/>
        </p:nvSpPr>
        <p:spPr>
          <a:xfrm>
            <a:off x="457200" y="5400000"/>
            <a:ext cx="8229600" cy="457200"/>
          </a:xfrm>
          <a:prstGeom prst="rect">
            <a:avLst/>
          </a:prstGeom>
          <a:noFill/>
        </p:spPr>
        <p:txBody>
          <a:bodyPr wrap="square">
            <a:spAutoFit/>
          </a:bodyPr>
          <a:lstStyle/>
          <a:p>
            <a:pPr algn="l"/>
            <a:r>
              <a:rPr sz="1300" b="1" i="0">
                <a:solidFill>
                  <a:srgbClr val="FF6B00"/>
                </a:solidFill>
              </a:rPr>
              <a:t>This content does not replace professional mental health advice.</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Case Study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200000"/>
          </a:xfrm>
          <a:prstGeom prst="rect">
            <a:avLst/>
          </a:prstGeom>
          <a:noFill/>
        </p:spPr>
        <p:txBody>
          <a:bodyPr wrap="square">
            <a:spAutoFit/>
          </a:bodyPr>
          <a:lstStyle/>
          <a:p>
            <a:pPr algn="l"/>
            <a:r>
              <a:rPr sz="1500" b="0" i="0">
                <a:solidFill>
                  <a:srgbClr val="F0F0F0"/>
                </a:solidFill>
              </a:rPr>
              <a:t>Tom, 8, was struggling at school with reading and writing despite being bright and curious. His teacher noticed he reversed letters and struggled to decode words. Following a dyslexia assessment, Tom received specialist teaching support and was provided with coloured overlays and text-to-speech software. His confidence grew significantly. Tom's parents were supported through the EHCP process, ensuring he received the adjustments he needed throughout his education. His story shows the power of early identification and inclusive practice.</a:t>
            </a:r>
          </a:p>
        </p:txBody>
      </p:sp>
      <p:sp>
        <p:nvSpPr>
          <p:cNvPr id="7" name="TextBox 6"/>
          <p:cNvSpPr txBox="1"/>
          <p:nvPr/>
        </p:nvSpPr>
        <p:spPr>
          <a:xfrm>
            <a:off x="457200" y="5600000"/>
            <a:ext cx="8229600" cy="457200"/>
          </a:xfrm>
          <a:prstGeom prst="rect">
            <a:avLst/>
          </a:prstGeom>
          <a:noFill/>
        </p:spPr>
        <p:txBody>
          <a:bodyPr wrap="square">
            <a:spAutoFit/>
          </a:bodyPr>
          <a:lstStyle/>
          <a:p>
            <a:pPr algn="l"/>
            <a:r>
              <a:rPr sz="1100" b="0" i="1">
                <a:solidFill>
                  <a:srgbClr val="AAAAAA"/>
                </a:solidFill>
              </a:rPr>
              <a:t>Names and details are fictional. Any resemblance to real persons is coincidental.</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Coping Strategies &amp; Interventions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Educational support: specialist teaching, reading programmes, phonics interventions</a:t>
            </a:r>
          </a:p>
          <a:p>
            <a:pPr>
              <a:spcBef>
                <a:spcPts val="400"/>
              </a:spcBef>
            </a:pPr>
            <a:r>
              <a:rPr sz="1700">
                <a:solidFill>
                  <a:srgbClr val="F0F0F0"/>
                </a:solidFill>
              </a:rPr>
              <a:t>• Assistive technology: text-to-speech, speech-to-text, mind mapping software</a:t>
            </a:r>
          </a:p>
          <a:p>
            <a:pPr>
              <a:spcBef>
                <a:spcPts val="400"/>
              </a:spcBef>
            </a:pPr>
            <a:r>
              <a:rPr sz="1700">
                <a:solidFill>
                  <a:srgbClr val="F0F0F0"/>
                </a:solidFill>
              </a:rPr>
              <a:t>• Occupational therapy: for dyspraxia and sensory processing difficulties</a:t>
            </a:r>
          </a:p>
          <a:p>
            <a:pPr>
              <a:spcBef>
                <a:spcPts val="400"/>
              </a:spcBef>
            </a:pPr>
            <a:r>
              <a:rPr sz="1700">
                <a:solidFill>
                  <a:srgbClr val="F0F0F0"/>
                </a:solidFill>
              </a:rPr>
              <a:t>• Speech and language therapy: for communication and language development</a:t>
            </a:r>
          </a:p>
          <a:p>
            <a:pPr>
              <a:spcBef>
                <a:spcPts val="400"/>
              </a:spcBef>
            </a:pPr>
            <a:r>
              <a:rPr sz="1700">
                <a:solidFill>
                  <a:srgbClr val="F0F0F0"/>
                </a:solidFill>
              </a:rPr>
              <a:t>• Positive behaviour support: evidence-based approach for intellectual disabilities</a:t>
            </a:r>
          </a:p>
          <a:p>
            <a:pPr>
              <a:spcBef>
                <a:spcPts val="400"/>
              </a:spcBef>
            </a:pPr>
            <a:r>
              <a:rPr sz="1700">
                <a:solidFill>
                  <a:srgbClr val="F0F0F0"/>
                </a:solidFill>
              </a:rPr>
              <a:t>• Family support: parent training programmes and carer support groups</a:t>
            </a:r>
          </a:p>
          <a:p>
            <a:pPr>
              <a:spcBef>
                <a:spcPts val="400"/>
              </a:spcBef>
            </a:pPr>
            <a:r>
              <a:rPr sz="1700">
                <a:solidFill>
                  <a:srgbClr val="F0F0F0"/>
                </a:solidFill>
              </a:rPr>
              <a:t>• Advocacy: self-advocacy skills and supported decision-making</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Interactive Activity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2800000"/>
          </a:xfrm>
          <a:prstGeom prst="rect">
            <a:avLst/>
          </a:prstGeom>
          <a:noFill/>
        </p:spPr>
        <p:txBody>
          <a:bodyPr wrap="square">
            <a:spAutoFit/>
          </a:bodyPr>
          <a:lstStyle/>
          <a:p>
            <a:pPr algn="l"/>
            <a:r>
              <a:rPr sz="1700" b="0" i="0">
                <a:solidFill>
                  <a:srgbClr val="F0F0F0"/>
                </a:solidFill>
              </a:rPr>
              <a:t>Inclusive design challenge: Participants redesign a simple information leaflet to be accessible for someone with dyslexia (larger font, sans-serif typeface, plain language, bullet points, pastel background). Discuss: What barriers do people with learning disabilities face in everyday life?</a:t>
            </a:r>
          </a:p>
        </p:txBody>
      </p:sp>
      <p:sp>
        <p:nvSpPr>
          <p:cNvPr id="7" name="TextBox 6"/>
          <p:cNvSpPr txBox="1"/>
          <p:nvPr/>
        </p:nvSpPr>
        <p:spPr>
          <a:xfrm>
            <a:off x="457200" y="4200000"/>
            <a:ext cx="8229600" cy="365760"/>
          </a:xfrm>
          <a:prstGeom prst="rect">
            <a:avLst/>
          </a:prstGeom>
          <a:noFill/>
        </p:spPr>
        <p:txBody>
          <a:bodyPr wrap="square">
            <a:spAutoFit/>
          </a:bodyPr>
          <a:lstStyle/>
          <a:p>
            <a:pPr algn="l"/>
            <a:r>
              <a:rPr sz="1600" b="1" i="0">
                <a:solidFill>
                  <a:srgbClr val="FF6B00"/>
                </a:solidFill>
              </a:rPr>
              <a:t>Instructions:</a:t>
            </a:r>
          </a:p>
        </p:txBody>
      </p:sp>
      <p:sp>
        <p:nvSpPr>
          <p:cNvPr id="8" name="TextBox 7"/>
          <p:cNvSpPr txBox="1"/>
          <p:nvPr/>
        </p:nvSpPr>
        <p:spPr>
          <a:xfrm>
            <a:off x="457200" y="4600000"/>
            <a:ext cx="8229600" cy="1500000"/>
          </a:xfrm>
          <a:prstGeom prst="rect">
            <a:avLst/>
          </a:prstGeom>
          <a:noFill/>
        </p:spPr>
        <p:txBody>
          <a:bodyPr wrap="square">
            <a:spAutoFit/>
          </a:bodyPr>
          <a:lstStyle/>
          <a:p>
            <a:pPr>
              <a:spcBef>
                <a:spcPts val="400"/>
              </a:spcBef>
            </a:pPr>
            <a:r>
              <a:rPr sz="1500">
                <a:solidFill>
                  <a:srgbClr val="AAAAAA"/>
                </a:solidFill>
              </a:rPr>
              <a:t>• Take 5 minutes to reflect individually or in pairs</a:t>
            </a:r>
          </a:p>
          <a:p>
            <a:pPr>
              <a:spcBef>
                <a:spcPts val="400"/>
              </a:spcBef>
            </a:pPr>
            <a:r>
              <a:rPr sz="1500">
                <a:solidFill>
                  <a:srgbClr val="AAAAAA"/>
                </a:solidFill>
              </a:rPr>
              <a:t>• Share your thoughts with the group (optional — sharing is never required)</a:t>
            </a:r>
          </a:p>
          <a:p>
            <a:pPr>
              <a:spcBef>
                <a:spcPts val="400"/>
              </a:spcBef>
            </a:pPr>
            <a:r>
              <a:rPr sz="1500">
                <a:solidFill>
                  <a:srgbClr val="AAAAAA"/>
                </a:solidFill>
              </a:rPr>
              <a:t>• Facilitator will guide and support the discussion</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Group Discussion (30 minutes)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57200"/>
          </a:xfrm>
          <a:prstGeom prst="rect">
            <a:avLst/>
          </a:prstGeom>
          <a:noFill/>
        </p:spPr>
        <p:txBody>
          <a:bodyPr wrap="square">
            <a:spAutoFit/>
          </a:bodyPr>
          <a:lstStyle/>
          <a:p>
            <a:pPr algn="l"/>
            <a:r>
              <a:rPr sz="1800" b="1" i="0">
                <a:solidFill>
                  <a:srgbClr val="00BFBF"/>
                </a:solidFill>
              </a:rPr>
              <a:t>Reflection Questions</a:t>
            </a:r>
          </a:p>
        </p:txBody>
      </p:sp>
      <p:sp>
        <p:nvSpPr>
          <p:cNvPr id="7" name="TextBox 6"/>
          <p:cNvSpPr txBox="1"/>
          <p:nvPr/>
        </p:nvSpPr>
        <p:spPr>
          <a:xfrm>
            <a:off x="457200" y="1800000"/>
            <a:ext cx="8229600" cy="4000000"/>
          </a:xfrm>
          <a:prstGeom prst="rect">
            <a:avLst/>
          </a:prstGeom>
          <a:noFill/>
        </p:spPr>
        <p:txBody>
          <a:bodyPr wrap="square">
            <a:spAutoFit/>
          </a:bodyPr>
          <a:lstStyle/>
          <a:p>
            <a:pPr>
              <a:spcBef>
                <a:spcPts val="400"/>
              </a:spcBef>
            </a:pPr>
            <a:r>
              <a:rPr sz="1700">
                <a:solidFill>
                  <a:srgbClr val="F0F0F0"/>
                </a:solidFill>
              </a:rPr>
              <a:t>• What assumptions do we make about intelligence and learning?</a:t>
            </a:r>
          </a:p>
          <a:p>
            <a:pPr>
              <a:spcBef>
                <a:spcPts val="400"/>
              </a:spcBef>
            </a:pPr>
            <a:r>
              <a:rPr sz="1700">
                <a:solidFill>
                  <a:srgbClr val="F0F0F0"/>
                </a:solidFill>
              </a:rPr>
              <a:t>• How does an unidentified learning disability affect a child's self-esteem?</a:t>
            </a:r>
          </a:p>
          <a:p>
            <a:pPr>
              <a:spcBef>
                <a:spcPts val="400"/>
              </a:spcBef>
            </a:pPr>
            <a:r>
              <a:rPr sz="1700">
                <a:solidFill>
                  <a:srgbClr val="F0F0F0"/>
                </a:solidFill>
              </a:rPr>
              <a:t>• What reasonable adjustments could schools and workplaces make?</a:t>
            </a:r>
          </a:p>
          <a:p>
            <a:pPr>
              <a:spcBef>
                <a:spcPts val="400"/>
              </a:spcBef>
            </a:pPr>
            <a:r>
              <a:rPr sz="1700">
                <a:solidFill>
                  <a:srgbClr val="F0F0F0"/>
                </a:solidFill>
              </a:rPr>
              <a:t>• How can we advocate for people with intellectual disabilities?</a:t>
            </a:r>
          </a:p>
          <a:p>
            <a:pPr>
              <a:spcBef>
                <a:spcPts val="400"/>
              </a:spcBef>
            </a:pPr>
            <a:r>
              <a:rPr sz="1700">
                <a:solidFill>
                  <a:srgbClr val="F0F0F0"/>
                </a:solidFill>
              </a:rPr>
              <a:t>• What SEND support is available in Wiltshire schools?</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400" b="1" i="0">
                <a:solidFill>
                  <a:srgbClr val="FF6B00"/>
                </a:solidFill>
              </a:rPr>
              <a:t>Remember: You are never alone. Help is always available.</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Resources &amp; Further Support</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365760"/>
          </a:xfrm>
          <a:prstGeom prst="rect">
            <a:avLst/>
          </a:prstGeom>
          <a:noFill/>
        </p:spPr>
        <p:txBody>
          <a:bodyPr wrap="square">
            <a:spAutoFit/>
          </a:bodyPr>
          <a:lstStyle/>
          <a:p>
            <a:pPr algn="l"/>
            <a:r>
              <a:rPr sz="1800" b="1" i="0">
                <a:solidFill>
                  <a:srgbClr val="00BFBF"/>
                </a:solidFill>
              </a:rPr>
              <a:t>Key References</a:t>
            </a:r>
          </a:p>
        </p:txBody>
      </p:sp>
      <p:sp>
        <p:nvSpPr>
          <p:cNvPr id="7" name="TextBox 6"/>
          <p:cNvSpPr txBox="1"/>
          <p:nvPr/>
        </p:nvSpPr>
        <p:spPr>
          <a:xfrm>
            <a:off x="457200" y="1700000"/>
            <a:ext cx="8229600" cy="2200000"/>
          </a:xfrm>
          <a:prstGeom prst="rect">
            <a:avLst/>
          </a:prstGeom>
          <a:noFill/>
        </p:spPr>
        <p:txBody>
          <a:bodyPr wrap="square">
            <a:spAutoFit/>
          </a:bodyPr>
          <a:lstStyle/>
          <a:p>
            <a:pPr>
              <a:spcBef>
                <a:spcPts val="400"/>
              </a:spcBef>
            </a:pPr>
            <a:r>
              <a:rPr sz="1400">
                <a:solidFill>
                  <a:srgbClr val="F0F0F0"/>
                </a:solidFill>
              </a:rPr>
              <a:t>• British Dyslexia Association: bdadyslexia.org.uk</a:t>
            </a:r>
          </a:p>
          <a:p>
            <a:pPr>
              <a:spcBef>
                <a:spcPts val="400"/>
              </a:spcBef>
            </a:pPr>
            <a:r>
              <a:rPr sz="1400">
                <a:solidFill>
                  <a:srgbClr val="F0F0F0"/>
                </a:solidFill>
              </a:rPr>
              <a:t>• Mencap: mencap.org.uk</a:t>
            </a:r>
          </a:p>
          <a:p>
            <a:pPr>
              <a:spcBef>
                <a:spcPts val="400"/>
              </a:spcBef>
            </a:pPr>
            <a:r>
              <a:rPr sz="1400">
                <a:solidFill>
                  <a:srgbClr val="F0F0F0"/>
                </a:solidFill>
              </a:rPr>
              <a:t>• SEND Code of Practice (DfE, 2015)</a:t>
            </a:r>
          </a:p>
          <a:p>
            <a:pPr>
              <a:spcBef>
                <a:spcPts val="400"/>
              </a:spcBef>
            </a:pPr>
            <a:r>
              <a:rPr sz="1400">
                <a:solidFill>
                  <a:srgbClr val="F0F0F0"/>
                </a:solidFill>
              </a:rPr>
              <a:t>• NHS: Learning disabilities (nhs.uk/conditions/learning-disabilities)</a:t>
            </a:r>
          </a:p>
          <a:p>
            <a:pPr>
              <a:spcBef>
                <a:spcPts val="400"/>
              </a:spcBef>
            </a:pPr>
            <a:r>
              <a:rPr sz="1400">
                <a:solidFill>
                  <a:srgbClr val="F0F0F0"/>
                </a:solidFill>
              </a:rPr>
              <a:t>• Dyspraxia Foundation: dyspraxiafoundation.org.uk</a:t>
            </a:r>
          </a:p>
        </p:txBody>
      </p:sp>
      <p:sp>
        <p:nvSpPr>
          <p:cNvPr id="8" name="TextBox 7"/>
          <p:cNvSpPr txBox="1"/>
          <p:nvPr/>
        </p:nvSpPr>
        <p:spPr>
          <a:xfrm>
            <a:off x="457200" y="4000000"/>
            <a:ext cx="8229600" cy="365760"/>
          </a:xfrm>
          <a:prstGeom prst="rect">
            <a:avLst/>
          </a:prstGeom>
          <a:noFill/>
        </p:spPr>
        <p:txBody>
          <a:bodyPr wrap="square">
            <a:spAutoFit/>
          </a:bodyPr>
          <a:lstStyle/>
          <a:p>
            <a:pPr algn="l"/>
            <a:r>
              <a:rPr sz="1800" b="1" i="0">
                <a:solidFill>
                  <a:srgbClr val="FF6B00"/>
                </a:solidFill>
              </a:rPr>
              <a:t>Crisis Support</a:t>
            </a:r>
          </a:p>
        </p:txBody>
      </p:sp>
      <p:sp>
        <p:nvSpPr>
          <p:cNvPr id="9" name="TextBox 8"/>
          <p:cNvSpPr txBox="1"/>
          <p:nvPr/>
        </p:nvSpPr>
        <p:spPr>
          <a:xfrm>
            <a:off x="457200" y="4450000"/>
            <a:ext cx="8229600" cy="1800000"/>
          </a:xfrm>
          <a:prstGeom prst="rect">
            <a:avLst/>
          </a:prstGeom>
          <a:noFill/>
        </p:spPr>
        <p:txBody>
          <a:bodyPr wrap="square">
            <a:spAutoFit/>
          </a:bodyPr>
          <a:lstStyle/>
          <a:p>
            <a:pPr>
              <a:spcBef>
                <a:spcPts val="400"/>
              </a:spcBef>
            </a:pPr>
            <a:r>
              <a:rPr sz="1300">
                <a:solidFill>
                  <a:srgbClr val="AAAAAA"/>
                </a:solidFill>
              </a:rPr>
              <a:t>• Emergency: 999</a:t>
            </a:r>
          </a:p>
          <a:p>
            <a:pPr>
              <a:spcBef>
                <a:spcPts val="400"/>
              </a:spcBef>
            </a:pPr>
            <a:r>
              <a:rPr sz="1300">
                <a:solidFill>
                  <a:srgbClr val="AAAAAA"/>
                </a:solidFill>
              </a:rPr>
              <a:t>• NHS 111: 24/7 urgent mental health support</a:t>
            </a:r>
          </a:p>
          <a:p>
            <a:pPr>
              <a:spcBef>
                <a:spcPts val="400"/>
              </a:spcBef>
            </a:pPr>
            <a:r>
              <a:rPr sz="1300">
                <a:solidFill>
                  <a:srgbClr val="AAAAAA"/>
                </a:solidFill>
              </a:rPr>
              <a:t>• Samaritans: 116 123 (free, 24/7)</a:t>
            </a:r>
          </a:p>
          <a:p>
            <a:pPr>
              <a:spcBef>
                <a:spcPts val="400"/>
              </a:spcBef>
            </a:pPr>
            <a:r>
              <a:rPr sz="1300">
                <a:solidFill>
                  <a:srgbClr val="AAAAAA"/>
                </a:solidFill>
              </a:rPr>
              <a:t>• Shout Crisis Text: Text SHOUT to 85258</a:t>
            </a:r>
          </a:p>
          <a:p>
            <a:pPr>
              <a:spcBef>
                <a:spcPts val="400"/>
              </a:spcBef>
            </a:pPr>
            <a:r>
              <a:rPr sz="1300">
                <a:solidFill>
                  <a:srgbClr val="AAAAAA"/>
                </a:solidFill>
              </a:rPr>
              <a:t>• Wiltshire Crisis Line: 0800 953 0110 (24/7)</a:t>
            </a:r>
          </a:p>
          <a:p>
            <a:pPr>
              <a:spcBef>
                <a:spcPts val="400"/>
              </a:spcBef>
            </a:pPr>
            <a:r>
              <a:rPr sz="1300">
                <a:solidFill>
                  <a:srgbClr val="AAAAAA"/>
                </a:solidFill>
              </a:rPr>
              <a:t>• PAPYRUS (under 35): 0800 068 4141</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640080"/>
          </a:xfrm>
          <a:prstGeom prst="rect">
            <a:avLst/>
          </a:prstGeom>
          <a:noFill/>
        </p:spPr>
        <p:txBody>
          <a:bodyPr wrap="square">
            <a:spAutoFit/>
          </a:bodyPr>
          <a:lstStyle/>
          <a:p>
            <a:pPr algn="l"/>
            <a:r>
              <a:rPr sz="3400" b="1" i="0">
                <a:solidFill>
                  <a:srgbClr val="1A1A1A"/>
                </a:solidFill>
              </a:rPr>
              <a:t>Module 5 Complete</a:t>
            </a:r>
          </a:p>
        </p:txBody>
      </p:sp>
      <p:sp>
        <p:nvSpPr>
          <p:cNvPr id="6" name="TextBox 5"/>
          <p:cNvSpPr txBox="1"/>
          <p:nvPr/>
        </p:nvSpPr>
        <p:spPr>
          <a:xfrm>
            <a:off x="457200" y="700000"/>
            <a:ext cx="7589520" cy="640080"/>
          </a:xfrm>
          <a:prstGeom prst="rect">
            <a:avLst/>
          </a:prstGeom>
          <a:noFill/>
        </p:spPr>
        <p:txBody>
          <a:bodyPr wrap="square">
            <a:spAutoFit/>
          </a:bodyPr>
          <a:lstStyle/>
          <a:p>
            <a:pPr algn="l"/>
            <a:r>
              <a:rPr sz="2000" b="0" i="0">
                <a:solidFill>
                  <a:srgbClr val="1A1A1A"/>
                </a:solidFill>
              </a:rPr>
              <a:t>Neurodevelopmental Disorders: Intellectual and Learning Disabilities</a:t>
            </a:r>
          </a:p>
        </p:txBody>
      </p:sp>
      <p:sp>
        <p:nvSpPr>
          <p:cNvPr id="7" name="TextBox 6"/>
          <p:cNvSpPr txBox="1"/>
          <p:nvPr/>
        </p:nvSpPr>
        <p:spPr>
          <a:xfrm>
            <a:off x="457200" y="2100000"/>
            <a:ext cx="8229600" cy="3200000"/>
          </a:xfrm>
          <a:prstGeom prst="rect">
            <a:avLst/>
          </a:prstGeom>
          <a:noFill/>
        </p:spPr>
        <p:txBody>
          <a:bodyPr wrap="square">
            <a:spAutoFit/>
          </a:bodyPr>
          <a:lstStyle/>
          <a:p>
            <a:pPr>
              <a:spcBef>
                <a:spcPts val="400"/>
              </a:spcBef>
            </a:pPr>
            <a:r>
              <a:rPr sz="1700">
                <a:solidFill>
                  <a:srgbClr val="F0F0F0"/>
                </a:solidFill>
              </a:rPr>
              <a:t>• You have completed Module 5: Neurodevelopmental Disorders: Intellectual and Learning Disabilities</a:t>
            </a:r>
          </a:p>
          <a:p>
            <a:pPr>
              <a:spcBef>
                <a:spcPts val="400"/>
              </a:spcBef>
            </a:pPr>
            <a:r>
              <a:rPr sz="1700">
                <a:solidFill>
                  <a:srgbClr val="F0F0F0"/>
                </a:solidFill>
              </a:rPr>
              <a:t>• Key concepts and evidence-based strategies have been explored</a:t>
            </a:r>
          </a:p>
          <a:p>
            <a:pPr>
              <a:spcBef>
                <a:spcPts val="400"/>
              </a:spcBef>
            </a:pPr>
            <a:r>
              <a:rPr sz="1700">
                <a:solidFill>
                  <a:srgbClr val="F0F0F0"/>
                </a:solidFill>
              </a:rPr>
              <a:t>• Please complete the post-session reflection form</a:t>
            </a:r>
          </a:p>
          <a:p>
            <a:pPr>
              <a:spcBef>
                <a:spcPts val="400"/>
              </a:spcBef>
            </a:pPr>
            <a:r>
              <a:rPr sz="1700">
                <a:solidFill>
                  <a:srgbClr val="F0F0F0"/>
                </a:solidFill>
              </a:rPr>
              <a:t>• Access course materials and handouts in the Members Portal</a:t>
            </a:r>
          </a:p>
          <a:p>
            <a:pPr>
              <a:spcBef>
                <a:spcPts val="400"/>
              </a:spcBef>
            </a:pPr>
            <a:r>
              <a:rPr sz="1700">
                <a:solidFill>
                  <a:srgbClr val="F0F0F0"/>
                </a:solidFill>
              </a:rPr>
              <a:t>• Our next session builds on today's learning</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300" b="0" i="0">
                <a:solidFill>
                  <a:srgbClr val="AAAAAA"/>
                </a:solidFill>
              </a:rPr>
              <a:t>melksham-mentalhealth.us  |  Melksham-mental-health@outlook.com</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
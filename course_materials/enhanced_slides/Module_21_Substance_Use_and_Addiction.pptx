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21</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Substance Use and Addiction</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Substance use disorders and addiction are complex, chronic conditions involving changes to brain structure and function. This module explores the neuroscience of addiction, the range of substances and behaviours involved, harm-reduction approaches, and the evidence-based treatments that support recovery.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neuroscience of addiction: dopamine, reward pathways and neuroplasticity</a:t>
            </a:r>
          </a:p>
          <a:p>
            <a:pPr>
              <a:spcBef>
                <a:spcPts val="400"/>
              </a:spcBef>
            </a:pPr>
            <a:r>
              <a:rPr sz="1700">
                <a:solidFill>
                  <a:srgbClr val="F0F0F0"/>
                </a:solidFill>
              </a:rPr>
              <a:t>• Identify the DSM-5 criteria for substance use disorder</a:t>
            </a:r>
          </a:p>
          <a:p>
            <a:pPr>
              <a:spcBef>
                <a:spcPts val="400"/>
              </a:spcBef>
            </a:pPr>
            <a:r>
              <a:rPr sz="1700">
                <a:solidFill>
                  <a:srgbClr val="F0F0F0"/>
                </a:solidFill>
              </a:rPr>
              <a:t>• Explore the range of substances: alcohol, opioids, stimulants, cannabis, gambling</a:t>
            </a:r>
          </a:p>
          <a:p>
            <a:pPr>
              <a:spcBef>
                <a:spcPts val="400"/>
              </a:spcBef>
            </a:pPr>
            <a:r>
              <a:rPr sz="1700">
                <a:solidFill>
                  <a:srgbClr val="F0F0F0"/>
                </a:solidFill>
              </a:rPr>
              <a:t>• Understand harm-reduction approaches: syringe programmes, naloxone, safe consumption sites</a:t>
            </a:r>
          </a:p>
          <a:p>
            <a:pPr>
              <a:spcBef>
                <a:spcPts val="400"/>
              </a:spcBef>
            </a:pPr>
            <a:r>
              <a:rPr sz="1700">
                <a:solidFill>
                  <a:srgbClr val="F0F0F0"/>
                </a:solidFill>
              </a:rPr>
              <a:t>• Explore evidence-based treatments: motivational interviewing, CBT, medication-assisted treatment</a:t>
            </a:r>
          </a:p>
          <a:p>
            <a:pPr>
              <a:spcBef>
                <a:spcPts val="400"/>
              </a:spcBef>
            </a:pPr>
            <a:r>
              <a:rPr sz="1700">
                <a:solidFill>
                  <a:srgbClr val="F0F0F0"/>
                </a:solidFill>
              </a:rPr>
              <a:t>• Develop skills for supporting someone with a substance use disorder without enabling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21: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Neuroscience: addiction hijacks the brain's reward system via dopamine</a:t>
            </a:r>
          </a:p>
          <a:p>
            <a:pPr>
              <a:spcBef>
                <a:spcPts val="400"/>
              </a:spcBef>
            </a:pPr>
            <a:r>
              <a:rPr sz="1700">
                <a:solidFill>
                  <a:srgbClr val="F0F0F0"/>
                </a:solidFill>
              </a:rPr>
              <a:t>• DSM-5 criteria: impaired control, social impairment, risky use, pharmacological criteria</a:t>
            </a:r>
          </a:p>
          <a:p>
            <a:pPr>
              <a:spcBef>
                <a:spcPts val="400"/>
              </a:spcBef>
            </a:pPr>
            <a:r>
              <a:rPr sz="1700">
                <a:solidFill>
                  <a:srgbClr val="F0F0F0"/>
                </a:solidFill>
              </a:rPr>
              <a:t>• Alcohol use disorder: most common substance use disorder in the UK</a:t>
            </a:r>
          </a:p>
          <a:p>
            <a:pPr>
              <a:spcBef>
                <a:spcPts val="400"/>
              </a:spcBef>
            </a:pPr>
            <a:r>
              <a:rPr sz="1700">
                <a:solidFill>
                  <a:srgbClr val="F0F0F0"/>
                </a:solidFill>
              </a:rPr>
              <a:t>• Opioid use disorder: heroin, fentanyl and prescription opioids</a:t>
            </a:r>
          </a:p>
          <a:p>
            <a:pPr>
              <a:spcBef>
                <a:spcPts val="400"/>
              </a:spcBef>
            </a:pPr>
            <a:r>
              <a:rPr sz="1700">
                <a:solidFill>
                  <a:srgbClr val="F0F0F0"/>
                </a:solidFill>
              </a:rPr>
              <a:t>• Stimulant use disorder: cocaine, amphetamines, MDMA</a:t>
            </a:r>
          </a:p>
          <a:p>
            <a:pPr>
              <a:spcBef>
                <a:spcPts val="400"/>
              </a:spcBef>
            </a:pPr>
            <a:r>
              <a:rPr sz="1700">
                <a:solidFill>
                  <a:srgbClr val="F0F0F0"/>
                </a:solidFill>
              </a:rPr>
              <a:t>• Cannabis use disorder: increasingly recognised with high-potency cannabis</a:t>
            </a:r>
          </a:p>
          <a:p>
            <a:pPr>
              <a:spcBef>
                <a:spcPts val="400"/>
              </a:spcBef>
            </a:pPr>
            <a:r>
              <a:rPr sz="1700">
                <a:solidFill>
                  <a:srgbClr val="F0F0F0"/>
                </a:solidFill>
              </a:rPr>
              <a:t>• Gambling disorder: recognised as a behavioural addiction in DSM-5</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Alcohol use disorder affects 600,000 people in the UK (NHS England)</a:t>
            </a:r>
          </a:p>
          <a:p>
            <a:pPr>
              <a:spcBef>
                <a:spcPts val="400"/>
              </a:spcBef>
            </a:pPr>
            <a:r>
              <a:rPr sz="1700">
                <a:solidFill>
                  <a:srgbClr val="F0F0F0"/>
                </a:solidFill>
              </a:rPr>
              <a:t>• Drug-related deaths in England and Wales: 4,907 in 2021 (ONS) — highest on record</a:t>
            </a:r>
          </a:p>
          <a:p>
            <a:pPr>
              <a:spcBef>
                <a:spcPts val="400"/>
              </a:spcBef>
            </a:pPr>
            <a:r>
              <a:rPr sz="1700">
                <a:solidFill>
                  <a:srgbClr val="F0F0F0"/>
                </a:solidFill>
              </a:rPr>
              <a:t>• Opioid-related deaths have increased by 70% in the last decade</a:t>
            </a:r>
          </a:p>
          <a:p>
            <a:pPr>
              <a:spcBef>
                <a:spcPts val="400"/>
              </a:spcBef>
            </a:pPr>
            <a:r>
              <a:rPr sz="1700">
                <a:solidFill>
                  <a:srgbClr val="F0F0F0"/>
                </a:solidFill>
              </a:rPr>
              <a:t>• Gambling disorder affects 0.5% of the UK population; 2 million at risk</a:t>
            </a:r>
          </a:p>
          <a:p>
            <a:pPr>
              <a:spcBef>
                <a:spcPts val="400"/>
              </a:spcBef>
            </a:pPr>
            <a:r>
              <a:rPr sz="1700">
                <a:solidFill>
                  <a:srgbClr val="F0F0F0"/>
                </a:solidFill>
              </a:rPr>
              <a:t>• Recovery: 50% of people with alcohol use disorder achieve long-term recovery</a:t>
            </a:r>
          </a:p>
          <a:p>
            <a:pPr>
              <a:spcBef>
                <a:spcPts val="400"/>
              </a:spcBef>
            </a:pPr>
            <a:r>
              <a:rPr sz="1700">
                <a:solidFill>
                  <a:srgbClr val="F0F0F0"/>
                </a:solidFill>
              </a:rPr>
              <a:t>• Harm reduction: needle exchange programmes prevent 50% of HIV transmissions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Motivational interviewing is effective for increasing engagement with treatment</a:t>
            </a:r>
          </a:p>
          <a:p>
            <a:pPr>
              <a:spcBef>
                <a:spcPts val="400"/>
              </a:spcBef>
            </a:pPr>
            <a:r>
              <a:rPr sz="1700">
                <a:solidFill>
                  <a:srgbClr val="F0F0F0"/>
                </a:solidFill>
              </a:rPr>
              <a:t>• CBT for substance use reduces relapse rates by 40–60%</a:t>
            </a:r>
          </a:p>
          <a:p>
            <a:pPr>
              <a:spcBef>
                <a:spcPts val="400"/>
              </a:spcBef>
            </a:pPr>
            <a:r>
              <a:rPr sz="1700">
                <a:solidFill>
                  <a:srgbClr val="F0F0F0"/>
                </a:solidFill>
              </a:rPr>
              <a:t>• Medication-assisted treatment (methadone, buprenorphine) reduces opioid-related deaths</a:t>
            </a:r>
          </a:p>
          <a:p>
            <a:pPr>
              <a:spcBef>
                <a:spcPts val="400"/>
              </a:spcBef>
            </a:pPr>
            <a:r>
              <a:rPr sz="1700">
                <a:solidFill>
                  <a:srgbClr val="F0F0F0"/>
                </a:solidFill>
              </a:rPr>
              <a:t>• Naloxone reverses opioid overdose and is available free from pharmacies in England</a:t>
            </a:r>
          </a:p>
          <a:p>
            <a:pPr>
              <a:spcBef>
                <a:spcPts val="400"/>
              </a:spcBef>
            </a:pPr>
            <a:r>
              <a:rPr sz="1700">
                <a:solidFill>
                  <a:srgbClr val="F0F0F0"/>
                </a:solidFill>
              </a:rPr>
              <a:t>• SMART Recovery is as effective as 12-step programmes for alcohol use disorder</a:t>
            </a:r>
          </a:p>
          <a:p>
            <a:pPr>
              <a:spcBef>
                <a:spcPts val="400"/>
              </a:spcBef>
            </a:pPr>
            <a:r>
              <a:rPr sz="1700">
                <a:solidFill>
                  <a:srgbClr val="F0F0F0"/>
                </a:solidFill>
              </a:rPr>
              <a:t>• Harm reduction approaches save lives without requiring abstinence as a prerequisite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Dan, 40, had been drinking heavily for 15 years following the breakdown of his marriage. He lost his job and his relationship with his children deteriorated. After a hospital admission for alcohol withdrawal, Dan was referred to a community drug and alcohol service. He began motivational interviewing and then residential rehabilitation. With ongoing peer support from Alcoholics Anonymous and a community recovery coach, Dan has been alcohol-free for three years.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Motivational interviewing: exploring and resolving ambivalence about change</a:t>
            </a:r>
          </a:p>
          <a:p>
            <a:pPr>
              <a:spcBef>
                <a:spcPts val="400"/>
              </a:spcBef>
            </a:pPr>
            <a:r>
              <a:rPr sz="1700">
                <a:solidFill>
                  <a:srgbClr val="F0F0F0"/>
                </a:solidFill>
              </a:rPr>
              <a:t>• CBT for substance use: identifying triggers, challenging beliefs, relapse prevention</a:t>
            </a:r>
          </a:p>
          <a:p>
            <a:pPr>
              <a:spcBef>
                <a:spcPts val="400"/>
              </a:spcBef>
            </a:pPr>
            <a:r>
              <a:rPr sz="1700">
                <a:solidFill>
                  <a:srgbClr val="F0F0F0"/>
                </a:solidFill>
              </a:rPr>
              <a:t>• Medication-assisted treatment: methadone, buprenorphine for opioid use disorder</a:t>
            </a:r>
          </a:p>
          <a:p>
            <a:pPr>
              <a:spcBef>
                <a:spcPts val="400"/>
              </a:spcBef>
            </a:pPr>
            <a:r>
              <a:rPr sz="1700">
                <a:solidFill>
                  <a:srgbClr val="F0F0F0"/>
                </a:solidFill>
              </a:rPr>
              <a:t>• Naloxone: life-saving opioid reversal medication; available free from pharmacies</a:t>
            </a:r>
          </a:p>
          <a:p>
            <a:pPr>
              <a:spcBef>
                <a:spcPts val="400"/>
              </a:spcBef>
            </a:pPr>
            <a:r>
              <a:rPr sz="1700">
                <a:solidFill>
                  <a:srgbClr val="F0F0F0"/>
                </a:solidFill>
              </a:rPr>
              <a:t>• Harm reduction: needle exchange, supervised consumption, naloxone distribution</a:t>
            </a:r>
          </a:p>
          <a:p>
            <a:pPr>
              <a:spcBef>
                <a:spcPts val="400"/>
              </a:spcBef>
            </a:pPr>
            <a:r>
              <a:rPr sz="1700">
                <a:solidFill>
                  <a:srgbClr val="F0F0F0"/>
                </a:solidFill>
              </a:rPr>
              <a:t>• 12-step programmes: Alcoholics Anonymous, Narcotics Anonymous</a:t>
            </a:r>
          </a:p>
          <a:p>
            <a:pPr>
              <a:spcBef>
                <a:spcPts val="400"/>
              </a:spcBef>
            </a:pPr>
            <a:r>
              <a:rPr sz="1700">
                <a:solidFill>
                  <a:srgbClr val="F0F0F0"/>
                </a:solidFill>
              </a:rPr>
              <a:t>• SMART Recovery: evidence-based, non-12-step peer support programme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Motivational interviewing practice: Participants practise reflective listening and open questions to explore ambivalence about change. Discuss: What is the difference between motivating someone to change and telling them what to do? How does ambivalence about change feel?</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misconceptions exist about addiction — is it a choice or a disease?</a:t>
            </a:r>
          </a:p>
          <a:p>
            <a:pPr>
              <a:spcBef>
                <a:spcPts val="400"/>
              </a:spcBef>
            </a:pPr>
            <a:r>
              <a:rPr sz="1700">
                <a:solidFill>
                  <a:srgbClr val="F0F0F0"/>
                </a:solidFill>
              </a:rPr>
              <a:t>• How does stigma affect people with substance use disorders seeking help?</a:t>
            </a:r>
          </a:p>
          <a:p>
            <a:pPr>
              <a:spcBef>
                <a:spcPts val="400"/>
              </a:spcBef>
            </a:pPr>
            <a:r>
              <a:rPr sz="1700">
                <a:solidFill>
                  <a:srgbClr val="F0F0F0"/>
                </a:solidFill>
              </a:rPr>
              <a:t>• What is harm reduction and why is it an important approach?</a:t>
            </a:r>
          </a:p>
          <a:p>
            <a:pPr>
              <a:spcBef>
                <a:spcPts val="400"/>
              </a:spcBef>
            </a:pPr>
            <a:r>
              <a:rPr sz="1700">
                <a:solidFill>
                  <a:srgbClr val="F0F0F0"/>
                </a:solidFill>
              </a:rPr>
              <a:t>• How can we support someone with a substance use disorder without enabling?</a:t>
            </a:r>
          </a:p>
          <a:p>
            <a:pPr>
              <a:spcBef>
                <a:spcPts val="400"/>
              </a:spcBef>
            </a:pPr>
            <a:r>
              <a:rPr sz="1700">
                <a:solidFill>
                  <a:srgbClr val="F0F0F0"/>
                </a:solidFill>
              </a:rPr>
              <a:t>• What drug and alcohol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CG115: Alcohol-use disorders (2011, updated 2019)</a:t>
            </a:r>
          </a:p>
          <a:p>
            <a:pPr>
              <a:spcBef>
                <a:spcPts val="400"/>
              </a:spcBef>
            </a:pPr>
            <a:r>
              <a:rPr sz="1400">
                <a:solidFill>
                  <a:srgbClr val="F0F0F0"/>
                </a:solidFill>
              </a:rPr>
              <a:t>• FRANK: talktofrank.com / 0300 123 6600</a:t>
            </a:r>
          </a:p>
          <a:p>
            <a:pPr>
              <a:spcBef>
                <a:spcPts val="400"/>
              </a:spcBef>
            </a:pPr>
            <a:r>
              <a:rPr sz="1400">
                <a:solidFill>
                  <a:srgbClr val="F0F0F0"/>
                </a:solidFill>
              </a:rPr>
              <a:t>• Alcoholics Anonymous: alcoholics-anonymous.org.uk</a:t>
            </a:r>
          </a:p>
          <a:p>
            <a:pPr>
              <a:spcBef>
                <a:spcPts val="400"/>
              </a:spcBef>
            </a:pPr>
            <a:r>
              <a:rPr sz="1400">
                <a:solidFill>
                  <a:srgbClr val="F0F0F0"/>
                </a:solidFill>
              </a:rPr>
              <a:t>• SMART Recovery UK: smartrecovery.org.uk</a:t>
            </a:r>
          </a:p>
          <a:p>
            <a:pPr>
              <a:spcBef>
                <a:spcPts val="400"/>
              </a:spcBef>
            </a:pPr>
            <a:r>
              <a:rPr sz="1400">
                <a:solidFill>
                  <a:srgbClr val="F0F0F0"/>
                </a:solidFill>
              </a:rPr>
              <a:t>• Wiltshire Drug and Alcohol Service: wiltshiredrugalcohol.org.uk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21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Substance Use and Addiction</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21: Substance Use and Addiction</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
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Rectangle 3"/>
          <p:cNvSpPr/>
          <p:nvPr/>
        </p:nvSpPr>
        <p:spPr>
          <a:xfrm>
            <a:off x="0" y="0"/>
            <a:ext cx="9144000" cy="182880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00000"/>
            <a:ext cx="7589520" cy="548640"/>
          </a:xfrm>
          <a:prstGeom prst="rect">
            <a:avLst/>
          </a:prstGeom>
          <a:noFill/>
        </p:spPr>
        <p:txBody>
          <a:bodyPr wrap="square">
            <a:spAutoFit/>
          </a:bodyPr>
          <a:lstStyle/>
          <a:p>
            <a:pPr algn="l"/>
            <a:r>
              <a:rPr sz="3600" b="1" i="0">
                <a:solidFill>
                  <a:srgbClr val="1A1A1A"/>
                </a:solidFill>
              </a:rPr>
              <a:t>Module 6</a:t>
            </a:r>
          </a:p>
        </p:txBody>
      </p:sp>
      <p:sp>
        <p:nvSpPr>
          <p:cNvPr id="6" name="TextBox 5"/>
          <p:cNvSpPr txBox="1"/>
          <p:nvPr/>
        </p:nvSpPr>
        <p:spPr>
          <a:xfrm>
            <a:off x="457200" y="640080"/>
            <a:ext cx="7589520" cy="914400"/>
          </a:xfrm>
          <a:prstGeom prst="rect">
            <a:avLst/>
          </a:prstGeom>
          <a:noFill/>
        </p:spPr>
        <p:txBody>
          <a:bodyPr wrap="square">
            <a:spAutoFit/>
          </a:bodyPr>
          <a:lstStyle/>
          <a:p>
            <a:pPr algn="l"/>
            <a:r>
              <a:rPr sz="2600" b="0" i="0">
                <a:solidFill>
                  <a:srgbClr val="1A1A1A"/>
                </a:solidFill>
              </a:rPr>
              <a:t>Trauma and Stress: Acute Stress and Adjustment Disorders</a:t>
            </a:r>
          </a:p>
        </p:txBody>
      </p:sp>
      <p:sp>
        <p:nvSpPr>
          <p:cNvPr id="7" name="TextBox 6"/>
          <p:cNvSpPr txBox="1"/>
          <p:nvPr/>
        </p:nvSpPr>
        <p:spPr>
          <a:xfrm>
            <a:off x="457200" y="2100000"/>
            <a:ext cx="8229600" cy="548640"/>
          </a:xfrm>
          <a:prstGeom prst="rect">
            <a:avLst/>
          </a:prstGeom>
          <a:noFill/>
        </p:spPr>
        <p:txBody>
          <a:bodyPr wrap="square">
            <a:spAutoFit/>
          </a:bodyPr>
          <a:lstStyle/>
          <a:p>
            <a:pPr algn="l"/>
            <a:r>
              <a:rPr sz="2000" b="1" i="0">
                <a:solidFill>
                  <a:srgbClr val="FF6B00"/>
                </a:solidFill>
              </a:rPr>
              <a:t>Melksham Mental Health — Comprehensive Course</a:t>
            </a:r>
          </a:p>
        </p:txBody>
      </p:sp>
      <p:sp>
        <p:nvSpPr>
          <p:cNvPr id="8" name="TextBox 7"/>
          <p:cNvSpPr txBox="1"/>
          <p:nvPr/>
        </p:nvSpPr>
        <p:spPr>
          <a:xfrm>
            <a:off x="457200" y="2650000"/>
            <a:ext cx="8229600" cy="457200"/>
          </a:xfrm>
          <a:prstGeom prst="rect">
            <a:avLst/>
          </a:prstGeom>
          <a:noFill/>
        </p:spPr>
        <p:txBody>
          <a:bodyPr wrap="square">
            <a:spAutoFit/>
          </a:bodyPr>
          <a:lstStyle/>
          <a:p>
            <a:pPr algn="l"/>
            <a:r>
              <a:rPr sz="1600" b="0" i="0">
                <a:solidFill>
                  <a:srgbClr val="AAAAAA"/>
                </a:solidFill>
              </a:rPr>
              <a:t>2-hour session  •  Includes 30-minute group discussion</a:t>
            </a:r>
          </a:p>
        </p:txBody>
      </p:sp>
      <p:sp>
        <p:nvSpPr>
          <p:cNvPr id="9" name="TextBox 8"/>
          <p:cNvSpPr txBox="1"/>
          <p:nvPr/>
        </p:nvSpPr>
        <p:spPr>
          <a:xfrm>
            <a:off x="457200" y="5958000"/>
            <a:ext cx="8229600" cy="457200"/>
          </a:xfrm>
          <a:prstGeom prst="rect">
            <a:avLst/>
          </a:prstGeom>
          <a:noFill/>
        </p:spPr>
        <p:txBody>
          <a:bodyPr wrap="square">
            <a:spAutoFit/>
          </a:bodyPr>
          <a:lstStyle/>
          <a:p>
            <a:pPr algn="ctr"/>
            <a:r>
              <a:rPr sz="1200" b="0" i="0">
                <a:solidFill>
                  <a:srgbClr val="AAAAAA"/>
                </a:solidFill>
              </a:rPr>
              <a:t>melksham-mentalhealth.us  |  Melksham-mental-health@outlook.com</a:t>
            </a:r>
          </a:p>
        </p:txBody>
      </p:sp>
      <p:sp>
        <p:nvSpPr>
          <p:cNvPr id="10" name="TextBox 9"/>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Session Overview</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00000"/>
            <a:ext cx="8229600" cy="1400000"/>
          </a:xfrm>
          <a:prstGeom prst="rect">
            <a:avLst/>
          </a:prstGeom>
          <a:noFill/>
        </p:spPr>
        <p:txBody>
          <a:bodyPr wrap="square">
            <a:spAutoFit/>
          </a:bodyPr>
          <a:lstStyle/>
          <a:p>
            <a:pPr algn="l"/>
            <a:r>
              <a:rPr sz="1500" b="0" i="0">
                <a:solidFill>
                  <a:srgbClr val="F0F0F0"/>
                </a:solidFill>
              </a:rPr>
              <a:t>Acute stress disorder and adjustment disorders are common responses to significant life stressors and traumatic events. This module explores how major life changes trigger psychological distress, and provides trauma-informed frameworks for understanding and supporting recovery.</a:t>
            </a:r>
          </a:p>
        </p:txBody>
      </p:sp>
      <p:sp>
        <p:nvSpPr>
          <p:cNvPr id="7" name="TextBox 6"/>
          <p:cNvSpPr txBox="1"/>
          <p:nvPr/>
        </p:nvSpPr>
        <p:spPr>
          <a:xfrm>
            <a:off x="457200" y="2700000"/>
            <a:ext cx="8229600" cy="3200000"/>
          </a:xfrm>
          <a:prstGeom prst="rect">
            <a:avLst/>
          </a:prstGeom>
          <a:noFill/>
        </p:spPr>
        <p:txBody>
          <a:bodyPr wrap="square">
            <a:spAutoFit/>
          </a:bodyPr>
          <a:lstStyle/>
          <a:p>
            <a:pPr>
              <a:spcBef>
                <a:spcPts val="400"/>
              </a:spcBef>
            </a:pPr>
            <a:r>
              <a:rPr sz="1700">
                <a:solidFill>
                  <a:srgbClr val="F0F0F0"/>
                </a:solidFill>
              </a:rPr>
              <a:t>• Introduction &amp; Objectives  (15 min)</a:t>
            </a:r>
          </a:p>
          <a:p>
            <a:pPr>
              <a:spcBef>
                <a:spcPts val="400"/>
              </a:spcBef>
            </a:pPr>
            <a:r>
              <a:rPr sz="1700">
                <a:solidFill>
                  <a:srgbClr val="F0F0F0"/>
                </a:solidFill>
              </a:rPr>
              <a:t>• Evidence-Based Content  (45 min)</a:t>
            </a:r>
          </a:p>
          <a:p>
            <a:pPr>
              <a:spcBef>
                <a:spcPts val="400"/>
              </a:spcBef>
            </a:pPr>
            <a:r>
              <a:rPr sz="1700">
                <a:solidFill>
                  <a:srgbClr val="F0F0F0"/>
                </a:solidFill>
              </a:rPr>
              <a:t>• Case Study  (15 min)</a:t>
            </a:r>
          </a:p>
          <a:p>
            <a:pPr>
              <a:spcBef>
                <a:spcPts val="400"/>
              </a:spcBef>
            </a:pPr>
            <a:r>
              <a:rPr sz="1700">
                <a:solidFill>
                  <a:srgbClr val="F0F0F0"/>
                </a:solidFill>
              </a:rPr>
              <a:t>• Interactive Activity  (30 min)</a:t>
            </a:r>
          </a:p>
          <a:p>
            <a:pPr>
              <a:spcBef>
                <a:spcPts val="400"/>
              </a:spcBef>
            </a:pPr>
            <a:r>
              <a:rPr sz="1700">
                <a:solidFill>
                  <a:srgbClr val="F0F0F0"/>
                </a:solidFill>
              </a:rPr>
              <a:t>• Group Discussion  (30 min)</a:t>
            </a:r>
          </a:p>
          <a:p>
            <a:pPr>
              <a:spcBef>
                <a:spcPts val="400"/>
              </a:spcBef>
            </a:pPr>
            <a:r>
              <a:rPr sz="1700">
                <a:solidFill>
                  <a:srgbClr val="F0F0F0"/>
                </a:solidFill>
              </a:rPr>
              <a:t>• Wrap-Up &amp; Resources  (15 min)</a:t>
            </a:r>
          </a:p>
        </p:txBody>
      </p:sp>
      <p:sp>
        <p:nvSpPr>
          <p:cNvPr id="8" name="TextBox 7"/>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Learning Objectives</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4800000"/>
          </a:xfrm>
          <a:prstGeom prst="rect">
            <a:avLst/>
          </a:prstGeom>
          <a:noFill/>
        </p:spPr>
        <p:txBody>
          <a:bodyPr wrap="square">
            <a:spAutoFit/>
          </a:bodyPr>
          <a:lstStyle/>
          <a:p>
            <a:pPr>
              <a:spcBef>
                <a:spcPts val="400"/>
              </a:spcBef>
            </a:pPr>
            <a:r>
              <a:rPr sz="1700">
                <a:solidFill>
                  <a:srgbClr val="F0F0F0"/>
                </a:solidFill>
              </a:rPr>
              <a:t>• Define acute stress disorder and distinguish it from PTSD</a:t>
            </a:r>
          </a:p>
          <a:p>
            <a:pPr>
              <a:spcBef>
                <a:spcPts val="400"/>
              </a:spcBef>
            </a:pPr>
            <a:r>
              <a:rPr sz="1700">
                <a:solidFill>
                  <a:srgbClr val="F0F0F0"/>
                </a:solidFill>
              </a:rPr>
              <a:t>• Understand adjustment disorders and their relationship to life stressors</a:t>
            </a:r>
          </a:p>
          <a:p>
            <a:pPr>
              <a:spcBef>
                <a:spcPts val="400"/>
              </a:spcBef>
            </a:pPr>
            <a:r>
              <a:rPr sz="1700">
                <a:solidFill>
                  <a:srgbClr val="F0F0F0"/>
                </a:solidFill>
              </a:rPr>
              <a:t>• Identify common triggers: bereavement, job loss, divorce, illness, relocation</a:t>
            </a:r>
          </a:p>
          <a:p>
            <a:pPr>
              <a:spcBef>
                <a:spcPts val="400"/>
              </a:spcBef>
            </a:pPr>
            <a:r>
              <a:rPr sz="1700">
                <a:solidFill>
                  <a:srgbClr val="F0F0F0"/>
                </a:solidFill>
              </a:rPr>
              <a:t>• Explore the psychological and physiological stress response</a:t>
            </a:r>
          </a:p>
          <a:p>
            <a:pPr>
              <a:spcBef>
                <a:spcPts val="400"/>
              </a:spcBef>
            </a:pPr>
            <a:r>
              <a:rPr sz="1700">
                <a:solidFill>
                  <a:srgbClr val="F0F0F0"/>
                </a:solidFill>
              </a:rPr>
              <a:t>• Apply trauma-informed listening and communication skills</a:t>
            </a:r>
          </a:p>
          <a:p>
            <a:pPr>
              <a:spcBef>
                <a:spcPts val="400"/>
              </a:spcBef>
            </a:pPr>
            <a:r>
              <a:rPr sz="1700">
                <a:solidFill>
                  <a:srgbClr val="F0F0F0"/>
                </a:solidFill>
              </a:rPr>
              <a:t>• Identify evidence-based interventions and self-help strategies</a:t>
            </a:r>
          </a:p>
        </p:txBody>
      </p:sp>
      <p:sp>
        <p:nvSpPr>
          <p:cNvPr id="7" name="TextBox 6"/>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Module 6: Key Topics</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4800000"/>
          </a:xfrm>
          <a:prstGeom prst="rect">
            <a:avLst/>
          </a:prstGeom>
          <a:noFill/>
        </p:spPr>
        <p:txBody>
          <a:bodyPr wrap="square">
            <a:spAutoFit/>
          </a:bodyPr>
          <a:lstStyle/>
          <a:p>
            <a:pPr>
              <a:spcBef>
                <a:spcPts val="400"/>
              </a:spcBef>
            </a:pPr>
            <a:r>
              <a:rPr sz="1700">
                <a:solidFill>
                  <a:srgbClr val="F0F0F0"/>
                </a:solidFill>
              </a:rPr>
              <a:t>• Acute stress disorder: symptoms within 3 days to 1 month of a traumatic event</a:t>
            </a:r>
          </a:p>
          <a:p>
            <a:pPr>
              <a:spcBef>
                <a:spcPts val="400"/>
              </a:spcBef>
            </a:pPr>
            <a:r>
              <a:rPr sz="1700">
                <a:solidFill>
                  <a:srgbClr val="F0F0F0"/>
                </a:solidFill>
              </a:rPr>
              <a:t>• Adjustment disorder: emotional or behavioural symptoms in response to a stressor</a:t>
            </a:r>
          </a:p>
          <a:p>
            <a:pPr>
              <a:spcBef>
                <a:spcPts val="400"/>
              </a:spcBef>
            </a:pPr>
            <a:r>
              <a:rPr sz="1700">
                <a:solidFill>
                  <a:srgbClr val="F0F0F0"/>
                </a:solidFill>
              </a:rPr>
              <a:t>• Common stressors: bereavement, relationship breakdown, job loss, financial crisis</a:t>
            </a:r>
          </a:p>
          <a:p>
            <a:pPr>
              <a:spcBef>
                <a:spcPts val="400"/>
              </a:spcBef>
            </a:pPr>
            <a:r>
              <a:rPr sz="1700">
                <a:solidFill>
                  <a:srgbClr val="F0F0F0"/>
                </a:solidFill>
              </a:rPr>
              <a:t>• The stress response: HPA axis, cortisol, adrenaline and the fight-flight-freeze response</a:t>
            </a:r>
          </a:p>
          <a:p>
            <a:pPr>
              <a:spcBef>
                <a:spcPts val="400"/>
              </a:spcBef>
            </a:pPr>
            <a:r>
              <a:rPr sz="1700">
                <a:solidFill>
                  <a:srgbClr val="F0F0F0"/>
                </a:solidFill>
              </a:rPr>
              <a:t>• Trauma-informed care: safety, trustworthiness, choice, collaboration and empowerment</a:t>
            </a:r>
          </a:p>
          <a:p>
            <a:pPr>
              <a:spcBef>
                <a:spcPts val="400"/>
              </a:spcBef>
            </a:pPr>
            <a:r>
              <a:rPr sz="1700">
                <a:solidFill>
                  <a:srgbClr val="F0F0F0"/>
                </a:solidFill>
              </a:rPr>
              <a:t>• Psychological first aid: immediate, compassionate support after a crisis</a:t>
            </a:r>
          </a:p>
          <a:p>
            <a:pPr>
              <a:spcBef>
                <a:spcPts val="400"/>
              </a:spcBef>
            </a:pPr>
            <a:r>
              <a:rPr sz="1700">
                <a:solidFill>
                  <a:srgbClr val="F0F0F0"/>
                </a:solidFill>
              </a:rPr>
              <a:t>• Recovery: most people recover naturally with time and social support</a:t>
            </a:r>
          </a:p>
        </p:txBody>
      </p:sp>
      <p:sp>
        <p:nvSpPr>
          <p:cNvPr id="7" name="TextBox 6"/>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Key Statistics &amp; Prevalence</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4800000"/>
          </a:xfrm>
          <a:prstGeom prst="rect">
            <a:avLst/>
          </a:prstGeom>
          <a:noFill/>
        </p:spPr>
        <p:txBody>
          <a:bodyPr wrap="square">
            <a:spAutoFit/>
          </a:bodyPr>
          <a:lstStyle/>
          <a:p>
            <a:pPr>
              <a:spcBef>
                <a:spcPts val="400"/>
              </a:spcBef>
            </a:pPr>
            <a:r>
              <a:rPr sz="1700">
                <a:solidFill>
                  <a:srgbClr val="F0F0F0"/>
                </a:solidFill>
              </a:rPr>
              <a:t>• Adjustment disorders affect up to 20% of people following a significant life stressor</a:t>
            </a:r>
          </a:p>
          <a:p>
            <a:pPr>
              <a:spcBef>
                <a:spcPts val="400"/>
              </a:spcBef>
            </a:pPr>
            <a:r>
              <a:rPr sz="1700">
                <a:solidFill>
                  <a:srgbClr val="F0F0F0"/>
                </a:solidFill>
              </a:rPr>
              <a:t>• Acute stress disorder occurs in 13–21% of people following a traumatic event</a:t>
            </a:r>
          </a:p>
          <a:p>
            <a:pPr>
              <a:spcBef>
                <a:spcPts val="400"/>
              </a:spcBef>
            </a:pPr>
            <a:r>
              <a:rPr sz="1700">
                <a:solidFill>
                  <a:srgbClr val="F0F0F0"/>
                </a:solidFill>
              </a:rPr>
              <a:t>• Job loss increases risk of depression by 3 times (Mental Health Foundation)</a:t>
            </a:r>
          </a:p>
          <a:p>
            <a:pPr>
              <a:spcBef>
                <a:spcPts val="400"/>
              </a:spcBef>
            </a:pPr>
            <a:r>
              <a:rPr sz="1700">
                <a:solidFill>
                  <a:srgbClr val="F0F0F0"/>
                </a:solidFill>
              </a:rPr>
              <a:t>• Divorce is associated with a 20–30% increase in mental health problems</a:t>
            </a:r>
          </a:p>
          <a:p>
            <a:pPr>
              <a:spcBef>
                <a:spcPts val="400"/>
              </a:spcBef>
            </a:pPr>
            <a:r>
              <a:rPr sz="1700">
                <a:solidFill>
                  <a:srgbClr val="F0F0F0"/>
                </a:solidFill>
              </a:rPr>
              <a:t>• Bereavement: 10–15% of bereaved people develop complicated grief</a:t>
            </a:r>
          </a:p>
          <a:p>
            <a:pPr>
              <a:spcBef>
                <a:spcPts val="400"/>
              </a:spcBef>
            </a:pPr>
            <a:r>
              <a:rPr sz="1700">
                <a:solidFill>
                  <a:srgbClr val="F0F0F0"/>
                </a:solidFill>
              </a:rPr>
              <a:t>• Financial stress is the most common trigger for adjustment disorder in the UK</a:t>
            </a:r>
          </a:p>
        </p:txBody>
      </p:sp>
      <p:sp>
        <p:nvSpPr>
          <p:cNvPr id="7" name="TextBox 6"/>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Evidence &amp; Research</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4000000"/>
          </a:xfrm>
          <a:prstGeom prst="rect">
            <a:avLst/>
          </a:prstGeom>
          <a:noFill/>
        </p:spPr>
        <p:txBody>
          <a:bodyPr wrap="square">
            <a:spAutoFit/>
          </a:bodyPr>
          <a:lstStyle/>
          <a:p>
            <a:pPr>
              <a:spcBef>
                <a:spcPts val="400"/>
              </a:spcBef>
            </a:pPr>
            <a:r>
              <a:rPr sz="1700">
                <a:solidFill>
                  <a:srgbClr val="F0F0F0"/>
                </a:solidFill>
              </a:rPr>
              <a:t>• Social support is the single strongest predictor of recovery from acute stress</a:t>
            </a:r>
          </a:p>
          <a:p>
            <a:pPr>
              <a:spcBef>
                <a:spcPts val="400"/>
              </a:spcBef>
            </a:pPr>
            <a:r>
              <a:rPr sz="1700">
                <a:solidFill>
                  <a:srgbClr val="F0F0F0"/>
                </a:solidFill>
              </a:rPr>
              <a:t>• NICE (NG116): recommends watchful waiting for mild adjustment disorders</a:t>
            </a:r>
          </a:p>
          <a:p>
            <a:pPr>
              <a:spcBef>
                <a:spcPts val="400"/>
              </a:spcBef>
            </a:pPr>
            <a:r>
              <a:rPr sz="1700">
                <a:solidFill>
                  <a:srgbClr val="F0F0F0"/>
                </a:solidFill>
              </a:rPr>
              <a:t>• Trauma-informed care reduces re-traumatisation and improves engagement with services</a:t>
            </a:r>
          </a:p>
          <a:p>
            <a:pPr>
              <a:spcBef>
                <a:spcPts val="400"/>
              </a:spcBef>
            </a:pPr>
            <a:r>
              <a:rPr sz="1700">
                <a:solidFill>
                  <a:srgbClr val="F0F0F0"/>
                </a:solidFill>
              </a:rPr>
              <a:t>• Psychological first aid is effective as an immediate crisis response</a:t>
            </a:r>
          </a:p>
          <a:p>
            <a:pPr>
              <a:spcBef>
                <a:spcPts val="400"/>
              </a:spcBef>
            </a:pPr>
            <a:r>
              <a:rPr sz="1700">
                <a:solidFill>
                  <a:srgbClr val="F0F0F0"/>
                </a:solidFill>
              </a:rPr>
              <a:t>• Brief counselling (6–8 sessions) is effective for adjustment disorders</a:t>
            </a:r>
          </a:p>
          <a:p>
            <a:pPr>
              <a:spcBef>
                <a:spcPts val="400"/>
              </a:spcBef>
            </a:pPr>
            <a:r>
              <a:rPr sz="1700">
                <a:solidFill>
                  <a:srgbClr val="F0F0F0"/>
                </a:solidFill>
              </a:rPr>
              <a:t>• Resilience factors: social support, problem-solving skills, sense of meaning</a:t>
            </a:r>
          </a:p>
        </p:txBody>
      </p:sp>
      <p:sp>
        <p:nvSpPr>
          <p:cNvPr id="7" name="TextBox 6"/>
          <p:cNvSpPr txBox="1"/>
          <p:nvPr/>
        </p:nvSpPr>
        <p:spPr>
          <a:xfrm>
            <a:off x="457200" y="5400000"/>
            <a:ext cx="8229600" cy="457200"/>
          </a:xfrm>
          <a:prstGeom prst="rect">
            <a:avLst/>
          </a:prstGeom>
          <a:noFill/>
        </p:spPr>
        <p:txBody>
          <a:bodyPr wrap="square">
            <a:spAutoFit/>
          </a:bodyPr>
          <a:lstStyle/>
          <a:p>
            <a:pPr algn="l"/>
            <a:r>
              <a:rPr sz="1300" b="1" i="0">
                <a:solidFill>
                  <a:srgbClr val="FF6B00"/>
                </a:solidFill>
              </a:rPr>
              <a:t>This content does not replace professional mental health advice.</a:t>
            </a:r>
          </a:p>
        </p:txBody>
      </p:sp>
      <p:sp>
        <p:nvSpPr>
          <p:cNvPr id="8" name="TextBox 7"/>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Case Study</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4200000"/>
          </a:xfrm>
          <a:prstGeom prst="rect">
            <a:avLst/>
          </a:prstGeom>
          <a:noFill/>
        </p:spPr>
        <p:txBody>
          <a:bodyPr wrap="square">
            <a:spAutoFit/>
          </a:bodyPr>
          <a:lstStyle/>
          <a:p>
            <a:pPr algn="l"/>
            <a:r>
              <a:rPr sz="1500" b="0" i="0">
                <a:solidFill>
                  <a:srgbClr val="F0F0F0"/>
                </a:solidFill>
              </a:rPr>
              <a:t>Sarah, 45, lost her job unexpectedly and within weeks developed insomnia, irritability and difficulty concentrating. She withdrew from friends and family and began drinking more alcohol. Her GP recognised the signs of an adjustment disorder and referred her to a local counselling service. With six sessions of person-centred counselling and practical support from Citizens Advice, Sarah stabilised her finances and rebuilt her confidence. She returned to work within four months.</a:t>
            </a:r>
          </a:p>
        </p:txBody>
      </p:sp>
      <p:sp>
        <p:nvSpPr>
          <p:cNvPr id="7" name="TextBox 6"/>
          <p:cNvSpPr txBox="1"/>
          <p:nvPr/>
        </p:nvSpPr>
        <p:spPr>
          <a:xfrm>
            <a:off x="457200" y="5600000"/>
            <a:ext cx="8229600" cy="457200"/>
          </a:xfrm>
          <a:prstGeom prst="rect">
            <a:avLst/>
          </a:prstGeom>
          <a:noFill/>
        </p:spPr>
        <p:txBody>
          <a:bodyPr wrap="square">
            <a:spAutoFit/>
          </a:bodyPr>
          <a:lstStyle/>
          <a:p>
            <a:pPr algn="l"/>
            <a:r>
              <a:rPr sz="1100" b="0" i="1">
                <a:solidFill>
                  <a:srgbClr val="AAAAAA"/>
                </a:solidFill>
              </a:rPr>
              <a:t>Names and details are fictional. Any resemblance to real persons is coincidental.</a:t>
            </a:r>
          </a:p>
        </p:txBody>
      </p:sp>
      <p:sp>
        <p:nvSpPr>
          <p:cNvPr id="8" name="TextBox 7"/>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Coping Strategies &amp; Interventions</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4800000"/>
          </a:xfrm>
          <a:prstGeom prst="rect">
            <a:avLst/>
          </a:prstGeom>
          <a:noFill/>
        </p:spPr>
        <p:txBody>
          <a:bodyPr wrap="square">
            <a:spAutoFit/>
          </a:bodyPr>
          <a:lstStyle/>
          <a:p>
            <a:pPr>
              <a:spcBef>
                <a:spcPts val="400"/>
              </a:spcBef>
            </a:pPr>
            <a:r>
              <a:rPr sz="1700">
                <a:solidFill>
                  <a:srgbClr val="F0F0F0"/>
                </a:solidFill>
              </a:rPr>
              <a:t>• Psychological first aid: immediate, non-intrusive emotional support</a:t>
            </a:r>
          </a:p>
          <a:p>
            <a:pPr>
              <a:spcBef>
                <a:spcPts val="400"/>
              </a:spcBef>
            </a:pPr>
            <a:r>
              <a:rPr sz="1700">
                <a:solidFill>
                  <a:srgbClr val="F0F0F0"/>
                </a:solidFill>
              </a:rPr>
              <a:t>• Watchful waiting: monitoring mild symptoms before initiating formal treatment</a:t>
            </a:r>
          </a:p>
          <a:p>
            <a:pPr>
              <a:spcBef>
                <a:spcPts val="400"/>
              </a:spcBef>
            </a:pPr>
            <a:r>
              <a:rPr sz="1700">
                <a:solidFill>
                  <a:srgbClr val="F0F0F0"/>
                </a:solidFill>
              </a:rPr>
              <a:t>• Brief counselling: person-centred or solution-focused therapy (6–8 sessions)</a:t>
            </a:r>
          </a:p>
          <a:p>
            <a:pPr>
              <a:spcBef>
                <a:spcPts val="400"/>
              </a:spcBef>
            </a:pPr>
            <a:r>
              <a:rPr sz="1700">
                <a:solidFill>
                  <a:srgbClr val="F0F0F0"/>
                </a:solidFill>
              </a:rPr>
              <a:t>• Stress management: relaxation techniques, breathing exercises, physical activity</a:t>
            </a:r>
          </a:p>
          <a:p>
            <a:pPr>
              <a:spcBef>
                <a:spcPts val="400"/>
              </a:spcBef>
            </a:pPr>
            <a:r>
              <a:rPr sz="1700">
                <a:solidFill>
                  <a:srgbClr val="F0F0F0"/>
                </a:solidFill>
              </a:rPr>
              <a:t>• Social support: maintaining connections with friends, family and community</a:t>
            </a:r>
          </a:p>
          <a:p>
            <a:pPr>
              <a:spcBef>
                <a:spcPts val="400"/>
              </a:spcBef>
            </a:pPr>
            <a:r>
              <a:rPr sz="1700">
                <a:solidFill>
                  <a:srgbClr val="F0F0F0"/>
                </a:solidFill>
              </a:rPr>
              <a:t>• Practical support: Citizens Advice, debt counselling, employment support</a:t>
            </a:r>
          </a:p>
          <a:p>
            <a:pPr>
              <a:spcBef>
                <a:spcPts val="400"/>
              </a:spcBef>
            </a:pPr>
            <a:r>
              <a:rPr sz="1700">
                <a:solidFill>
                  <a:srgbClr val="F0F0F0"/>
                </a:solidFill>
              </a:rPr>
              <a:t>• Self-help resources: NHS Every Mind Matters, Mind UK, Samaritans</a:t>
            </a:r>
          </a:p>
        </p:txBody>
      </p:sp>
      <p:sp>
        <p:nvSpPr>
          <p:cNvPr id="7" name="TextBox 6"/>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Interactive Activity</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2800000"/>
          </a:xfrm>
          <a:prstGeom prst="rect">
            <a:avLst/>
          </a:prstGeom>
          <a:noFill/>
        </p:spPr>
        <p:txBody>
          <a:bodyPr wrap="square">
            <a:spAutoFit/>
          </a:bodyPr>
          <a:lstStyle/>
          <a:p>
            <a:pPr algn="l"/>
            <a:r>
              <a:rPr sz="1700" b="0" i="0">
                <a:solidFill>
                  <a:srgbClr val="F0F0F0"/>
                </a:solidFill>
              </a:rPr>
              <a:t>Stress mapping: Participants draw a 'stress map' identifying their current stressors, their coping resources, and the gap between the two. Discuss: What stressors are within your control? What support do you have access to? What one thing could reduce your stress this week?</a:t>
            </a:r>
          </a:p>
        </p:txBody>
      </p:sp>
      <p:sp>
        <p:nvSpPr>
          <p:cNvPr id="7" name="TextBox 6"/>
          <p:cNvSpPr txBox="1"/>
          <p:nvPr/>
        </p:nvSpPr>
        <p:spPr>
          <a:xfrm>
            <a:off x="457200" y="4200000"/>
            <a:ext cx="8229600" cy="365760"/>
          </a:xfrm>
          <a:prstGeom prst="rect">
            <a:avLst/>
          </a:prstGeom>
          <a:noFill/>
        </p:spPr>
        <p:txBody>
          <a:bodyPr wrap="square">
            <a:spAutoFit/>
          </a:bodyPr>
          <a:lstStyle/>
          <a:p>
            <a:pPr algn="l"/>
            <a:r>
              <a:rPr sz="1600" b="1" i="0">
                <a:solidFill>
                  <a:srgbClr val="FF6B00"/>
                </a:solidFill>
              </a:rPr>
              <a:t>Instructions:</a:t>
            </a:r>
          </a:p>
        </p:txBody>
      </p:sp>
      <p:sp>
        <p:nvSpPr>
          <p:cNvPr id="8" name="TextBox 7"/>
          <p:cNvSpPr txBox="1"/>
          <p:nvPr/>
        </p:nvSpPr>
        <p:spPr>
          <a:xfrm>
            <a:off x="457200" y="4600000"/>
            <a:ext cx="8229600" cy="1500000"/>
          </a:xfrm>
          <a:prstGeom prst="rect">
            <a:avLst/>
          </a:prstGeom>
          <a:noFill/>
        </p:spPr>
        <p:txBody>
          <a:bodyPr wrap="square">
            <a:spAutoFit/>
          </a:bodyPr>
          <a:lstStyle/>
          <a:p>
            <a:pPr>
              <a:spcBef>
                <a:spcPts val="400"/>
              </a:spcBef>
            </a:pPr>
            <a:r>
              <a:rPr sz="1500">
                <a:solidFill>
                  <a:srgbClr val="AAAAAA"/>
                </a:solidFill>
              </a:rPr>
              <a:t>• Take 5 minutes to reflect individually or in pairs</a:t>
            </a:r>
          </a:p>
          <a:p>
            <a:pPr>
              <a:spcBef>
                <a:spcPts val="400"/>
              </a:spcBef>
            </a:pPr>
            <a:r>
              <a:rPr sz="1500">
                <a:solidFill>
                  <a:srgbClr val="AAAAAA"/>
                </a:solidFill>
              </a:rPr>
              <a:t>• Share your thoughts with the group (optional — sharing is never required)</a:t>
            </a:r>
          </a:p>
          <a:p>
            <a:pPr>
              <a:spcBef>
                <a:spcPts val="400"/>
              </a:spcBef>
            </a:pPr>
            <a:r>
              <a:rPr sz="1500">
                <a:solidFill>
                  <a:srgbClr val="AAAAAA"/>
                </a:solidFill>
              </a:rPr>
              <a:t>• Facilitator will guide and support the discussion</a:t>
            </a:r>
          </a:p>
        </p:txBody>
      </p:sp>
      <p:sp>
        <p:nvSpPr>
          <p:cNvPr id="9" name="TextBox 8"/>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Group Discussion (30 minutes)</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457200"/>
          </a:xfrm>
          <a:prstGeom prst="rect">
            <a:avLst/>
          </a:prstGeom>
          <a:noFill/>
        </p:spPr>
        <p:txBody>
          <a:bodyPr wrap="square">
            <a:spAutoFit/>
          </a:bodyPr>
          <a:lstStyle/>
          <a:p>
            <a:pPr algn="l"/>
            <a:r>
              <a:rPr sz="1800" b="1" i="0">
                <a:solidFill>
                  <a:srgbClr val="00BFBF"/>
                </a:solidFill>
              </a:rPr>
              <a:t>Reflection Questions</a:t>
            </a:r>
          </a:p>
        </p:txBody>
      </p:sp>
      <p:sp>
        <p:nvSpPr>
          <p:cNvPr id="7" name="TextBox 6"/>
          <p:cNvSpPr txBox="1"/>
          <p:nvPr/>
        </p:nvSpPr>
        <p:spPr>
          <a:xfrm>
            <a:off x="457200" y="1800000"/>
            <a:ext cx="8229600" cy="4000000"/>
          </a:xfrm>
          <a:prstGeom prst="rect">
            <a:avLst/>
          </a:prstGeom>
          <a:noFill/>
        </p:spPr>
        <p:txBody>
          <a:bodyPr wrap="square">
            <a:spAutoFit/>
          </a:bodyPr>
          <a:lstStyle/>
          <a:p>
            <a:pPr>
              <a:spcBef>
                <a:spcPts val="400"/>
              </a:spcBef>
            </a:pPr>
            <a:r>
              <a:rPr sz="1700">
                <a:solidFill>
                  <a:srgbClr val="F0F0F0"/>
                </a:solidFill>
              </a:rPr>
              <a:t>• Have you ever experienced an adjustment disorder without knowing what it was?</a:t>
            </a:r>
          </a:p>
          <a:p>
            <a:pPr>
              <a:spcBef>
                <a:spcPts val="400"/>
              </a:spcBef>
            </a:pPr>
            <a:r>
              <a:rPr sz="1700">
                <a:solidFill>
                  <a:srgbClr val="F0F0F0"/>
                </a:solidFill>
              </a:rPr>
              <a:t>• What life events have you found most difficult to adjust to?</a:t>
            </a:r>
          </a:p>
          <a:p>
            <a:pPr>
              <a:spcBef>
                <a:spcPts val="400"/>
              </a:spcBef>
            </a:pPr>
            <a:r>
              <a:rPr sz="1700">
                <a:solidFill>
                  <a:srgbClr val="F0F0F0"/>
                </a:solidFill>
              </a:rPr>
              <a:t>• How does the stress response affect your body and behaviour?</a:t>
            </a:r>
          </a:p>
          <a:p>
            <a:pPr>
              <a:spcBef>
                <a:spcPts val="400"/>
              </a:spcBef>
            </a:pPr>
            <a:r>
              <a:rPr sz="1700">
                <a:solidFill>
                  <a:srgbClr val="F0F0F0"/>
                </a:solidFill>
              </a:rPr>
              <a:t>• What does trauma-informed care look like in practice?</a:t>
            </a:r>
          </a:p>
          <a:p>
            <a:pPr>
              <a:spcBef>
                <a:spcPts val="400"/>
              </a:spcBef>
            </a:pPr>
            <a:r>
              <a:rPr sz="1700">
                <a:solidFill>
                  <a:srgbClr val="F0F0F0"/>
                </a:solidFill>
              </a:rPr>
              <a:t>• What community support is available in Melksham for people in crisis?</a:t>
            </a:r>
          </a:p>
        </p:txBody>
      </p:sp>
      <p:sp>
        <p:nvSpPr>
          <p:cNvPr id="8" name="TextBox 7"/>
          <p:cNvSpPr txBox="1"/>
          <p:nvPr/>
        </p:nvSpPr>
        <p:spPr>
          <a:xfrm>
            <a:off x="457200" y="5958000"/>
            <a:ext cx="8229600" cy="457200"/>
          </a:xfrm>
          <a:prstGeom prst="rect">
            <a:avLst/>
          </a:prstGeom>
          <a:noFill/>
        </p:spPr>
        <p:txBody>
          <a:bodyPr wrap="square">
            <a:spAutoFit/>
          </a:bodyPr>
          <a:lstStyle/>
          <a:p>
            <a:pPr algn="ctr"/>
            <a:r>
              <a:rPr sz="1400" b="1" i="0">
                <a:solidFill>
                  <a:srgbClr val="FF6B00"/>
                </a:solidFill>
              </a:rPr>
              <a:t>Remember: You are never alone. Help is always available.</a:t>
            </a:r>
          </a:p>
        </p:txBody>
      </p:sp>
      <p:sp>
        <p:nvSpPr>
          <p:cNvPr id="9" name="TextBox 8"/>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Resources &amp; Further Support</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365760"/>
          </a:xfrm>
          <a:prstGeom prst="rect">
            <a:avLst/>
          </a:prstGeom>
          <a:noFill/>
        </p:spPr>
        <p:txBody>
          <a:bodyPr wrap="square">
            <a:spAutoFit/>
          </a:bodyPr>
          <a:lstStyle/>
          <a:p>
            <a:pPr algn="l"/>
            <a:r>
              <a:rPr sz="1800" b="1" i="0">
                <a:solidFill>
                  <a:srgbClr val="00BFBF"/>
                </a:solidFill>
              </a:rPr>
              <a:t>Key References</a:t>
            </a:r>
          </a:p>
        </p:txBody>
      </p:sp>
      <p:sp>
        <p:nvSpPr>
          <p:cNvPr id="7" name="TextBox 6"/>
          <p:cNvSpPr txBox="1"/>
          <p:nvPr/>
        </p:nvSpPr>
        <p:spPr>
          <a:xfrm>
            <a:off x="457200" y="1700000"/>
            <a:ext cx="8229600" cy="2200000"/>
          </a:xfrm>
          <a:prstGeom prst="rect">
            <a:avLst/>
          </a:prstGeom>
          <a:noFill/>
        </p:spPr>
        <p:txBody>
          <a:bodyPr wrap="square">
            <a:spAutoFit/>
          </a:bodyPr>
          <a:lstStyle/>
          <a:p>
            <a:pPr>
              <a:spcBef>
                <a:spcPts val="400"/>
              </a:spcBef>
            </a:pPr>
            <a:r>
              <a:rPr sz="1400">
                <a:solidFill>
                  <a:srgbClr val="F0F0F0"/>
                </a:solidFill>
              </a:rPr>
              <a:t>• NICE Guideline NG116: Post-traumatic stress disorder (2018)</a:t>
            </a:r>
          </a:p>
          <a:p>
            <a:pPr>
              <a:spcBef>
                <a:spcPts val="400"/>
              </a:spcBef>
            </a:pPr>
            <a:r>
              <a:rPr sz="1400">
                <a:solidFill>
                  <a:srgbClr val="F0F0F0"/>
                </a:solidFill>
              </a:rPr>
              <a:t>• Mind UK: Adjustment disorder (mind.org.uk)</a:t>
            </a:r>
          </a:p>
          <a:p>
            <a:pPr>
              <a:spcBef>
                <a:spcPts val="400"/>
              </a:spcBef>
            </a:pPr>
            <a:r>
              <a:rPr sz="1400">
                <a:solidFill>
                  <a:srgbClr val="F0F0F0"/>
                </a:solidFill>
              </a:rPr>
              <a:t>• NHS: Acute stress reaction (nhs.uk)</a:t>
            </a:r>
          </a:p>
          <a:p>
            <a:pPr>
              <a:spcBef>
                <a:spcPts val="400"/>
              </a:spcBef>
            </a:pPr>
            <a:r>
              <a:rPr sz="1400">
                <a:solidFill>
                  <a:srgbClr val="F0F0F0"/>
                </a:solidFill>
              </a:rPr>
              <a:t>• Mental Health Foundation: Stress (mentalhealth.org.uk)</a:t>
            </a:r>
          </a:p>
          <a:p>
            <a:pPr>
              <a:spcBef>
                <a:spcPts val="400"/>
              </a:spcBef>
            </a:pPr>
            <a:r>
              <a:rPr sz="1400">
                <a:solidFill>
                  <a:srgbClr val="F0F0F0"/>
                </a:solidFill>
              </a:rPr>
              <a:t>• Samaritans: 116 123 (free, 24/7)</a:t>
            </a:r>
          </a:p>
        </p:txBody>
      </p:sp>
      <p:sp>
        <p:nvSpPr>
          <p:cNvPr id="8" name="TextBox 7"/>
          <p:cNvSpPr txBox="1"/>
          <p:nvPr/>
        </p:nvSpPr>
        <p:spPr>
          <a:xfrm>
            <a:off x="457200" y="4000000"/>
            <a:ext cx="8229600" cy="365760"/>
          </a:xfrm>
          <a:prstGeom prst="rect">
            <a:avLst/>
          </a:prstGeom>
          <a:noFill/>
        </p:spPr>
        <p:txBody>
          <a:bodyPr wrap="square">
            <a:spAutoFit/>
          </a:bodyPr>
          <a:lstStyle/>
          <a:p>
            <a:pPr algn="l"/>
            <a:r>
              <a:rPr sz="1800" b="1" i="0">
                <a:solidFill>
                  <a:srgbClr val="FF6B00"/>
                </a:solidFill>
              </a:rPr>
              <a:t>Crisis Support</a:t>
            </a:r>
          </a:p>
        </p:txBody>
      </p:sp>
      <p:sp>
        <p:nvSpPr>
          <p:cNvPr id="9" name="TextBox 8"/>
          <p:cNvSpPr txBox="1"/>
          <p:nvPr/>
        </p:nvSpPr>
        <p:spPr>
          <a:xfrm>
            <a:off x="457200" y="4450000"/>
            <a:ext cx="8229600" cy="1800000"/>
          </a:xfrm>
          <a:prstGeom prst="rect">
            <a:avLst/>
          </a:prstGeom>
          <a:noFill/>
        </p:spPr>
        <p:txBody>
          <a:bodyPr wrap="square">
            <a:spAutoFit/>
          </a:bodyPr>
          <a:lstStyle/>
          <a:p>
            <a:pPr>
              <a:spcBef>
                <a:spcPts val="400"/>
              </a:spcBef>
            </a:pPr>
            <a:r>
              <a:rPr sz="1300">
                <a:solidFill>
                  <a:srgbClr val="AAAAAA"/>
                </a:solidFill>
              </a:rPr>
              <a:t>• Emergency: 999</a:t>
            </a:r>
          </a:p>
          <a:p>
            <a:pPr>
              <a:spcBef>
                <a:spcPts val="400"/>
              </a:spcBef>
            </a:pPr>
            <a:r>
              <a:rPr sz="1300">
                <a:solidFill>
                  <a:srgbClr val="AAAAAA"/>
                </a:solidFill>
              </a:rPr>
              <a:t>• NHS 111: 24/7 urgent mental health support</a:t>
            </a:r>
          </a:p>
          <a:p>
            <a:pPr>
              <a:spcBef>
                <a:spcPts val="400"/>
              </a:spcBef>
            </a:pPr>
            <a:r>
              <a:rPr sz="1300">
                <a:solidFill>
                  <a:srgbClr val="AAAAAA"/>
                </a:solidFill>
              </a:rPr>
              <a:t>• Samaritans: 116 123 (free, 24/7)</a:t>
            </a:r>
          </a:p>
          <a:p>
            <a:pPr>
              <a:spcBef>
                <a:spcPts val="400"/>
              </a:spcBef>
            </a:pPr>
            <a:r>
              <a:rPr sz="1300">
                <a:solidFill>
                  <a:srgbClr val="AAAAAA"/>
                </a:solidFill>
              </a:rPr>
              <a:t>• Shout Crisis Text: Text SHOUT to 85258</a:t>
            </a:r>
          </a:p>
          <a:p>
            <a:pPr>
              <a:spcBef>
                <a:spcPts val="400"/>
              </a:spcBef>
            </a:pPr>
            <a:r>
              <a:rPr sz="1300">
                <a:solidFill>
                  <a:srgbClr val="AAAAAA"/>
                </a:solidFill>
              </a:rPr>
              <a:t>• Wiltshire Crisis Line: 0800 953 0110 (24/7)</a:t>
            </a:r>
          </a:p>
          <a:p>
            <a:pPr>
              <a:spcBef>
                <a:spcPts val="400"/>
              </a:spcBef>
            </a:pPr>
            <a:r>
              <a:rPr sz="1300">
                <a:solidFill>
                  <a:srgbClr val="AAAAAA"/>
                </a:solidFill>
              </a:rPr>
              <a:t>• PAPYRUS (under 35): 0800 068 4141</a:t>
            </a:r>
          </a:p>
        </p:txBody>
      </p:sp>
      <p:sp>
        <p:nvSpPr>
          <p:cNvPr id="10" name="TextBox 9"/>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Rectangle 3"/>
          <p:cNvSpPr/>
          <p:nvPr/>
        </p:nvSpPr>
        <p:spPr>
          <a:xfrm>
            <a:off x="0" y="0"/>
            <a:ext cx="9144000" cy="182880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00000"/>
            <a:ext cx="7589520" cy="640080"/>
          </a:xfrm>
          <a:prstGeom prst="rect">
            <a:avLst/>
          </a:prstGeom>
          <a:noFill/>
        </p:spPr>
        <p:txBody>
          <a:bodyPr wrap="square">
            <a:spAutoFit/>
          </a:bodyPr>
          <a:lstStyle/>
          <a:p>
            <a:pPr algn="l"/>
            <a:r>
              <a:rPr sz="3400" b="1" i="0">
                <a:solidFill>
                  <a:srgbClr val="1A1A1A"/>
                </a:solidFill>
              </a:rPr>
              <a:t>Module 6 Complete</a:t>
            </a:r>
          </a:p>
        </p:txBody>
      </p:sp>
      <p:sp>
        <p:nvSpPr>
          <p:cNvPr id="6" name="TextBox 5"/>
          <p:cNvSpPr txBox="1"/>
          <p:nvPr/>
        </p:nvSpPr>
        <p:spPr>
          <a:xfrm>
            <a:off x="457200" y="700000"/>
            <a:ext cx="7589520" cy="640080"/>
          </a:xfrm>
          <a:prstGeom prst="rect">
            <a:avLst/>
          </a:prstGeom>
          <a:noFill/>
        </p:spPr>
        <p:txBody>
          <a:bodyPr wrap="square">
            <a:spAutoFit/>
          </a:bodyPr>
          <a:lstStyle/>
          <a:p>
            <a:pPr algn="l"/>
            <a:r>
              <a:rPr sz="2000" b="0" i="0">
                <a:solidFill>
                  <a:srgbClr val="1A1A1A"/>
                </a:solidFill>
              </a:rPr>
              <a:t>Trauma and Stress: Acute Stress and Adjustment Disorders</a:t>
            </a:r>
          </a:p>
        </p:txBody>
      </p:sp>
      <p:sp>
        <p:nvSpPr>
          <p:cNvPr id="7" name="TextBox 6"/>
          <p:cNvSpPr txBox="1"/>
          <p:nvPr/>
        </p:nvSpPr>
        <p:spPr>
          <a:xfrm>
            <a:off x="457200" y="2100000"/>
            <a:ext cx="8229600" cy="3200000"/>
          </a:xfrm>
          <a:prstGeom prst="rect">
            <a:avLst/>
          </a:prstGeom>
          <a:noFill/>
        </p:spPr>
        <p:txBody>
          <a:bodyPr wrap="square">
            <a:spAutoFit/>
          </a:bodyPr>
          <a:lstStyle/>
          <a:p>
            <a:pPr>
              <a:spcBef>
                <a:spcPts val="400"/>
              </a:spcBef>
            </a:pPr>
            <a:r>
              <a:rPr sz="1700">
                <a:solidFill>
                  <a:srgbClr val="F0F0F0"/>
                </a:solidFill>
              </a:rPr>
              <a:t>• You have completed Module 6: Trauma and Stress: Acute Stress and Adjustment Disorders</a:t>
            </a:r>
          </a:p>
          <a:p>
            <a:pPr>
              <a:spcBef>
                <a:spcPts val="400"/>
              </a:spcBef>
            </a:pPr>
            <a:r>
              <a:rPr sz="1700">
                <a:solidFill>
                  <a:srgbClr val="F0F0F0"/>
                </a:solidFill>
              </a:rPr>
              <a:t>• Key concepts and evidence-based strategies have been explored</a:t>
            </a:r>
          </a:p>
          <a:p>
            <a:pPr>
              <a:spcBef>
                <a:spcPts val="400"/>
              </a:spcBef>
            </a:pPr>
            <a:r>
              <a:rPr sz="1700">
                <a:solidFill>
                  <a:srgbClr val="F0F0F0"/>
                </a:solidFill>
              </a:rPr>
              <a:t>• Please complete the post-session reflection form</a:t>
            </a:r>
          </a:p>
          <a:p>
            <a:pPr>
              <a:spcBef>
                <a:spcPts val="400"/>
              </a:spcBef>
            </a:pPr>
            <a:r>
              <a:rPr sz="1700">
                <a:solidFill>
                  <a:srgbClr val="F0F0F0"/>
                </a:solidFill>
              </a:rPr>
              <a:t>• Access course materials and handouts in the Members Portal</a:t>
            </a:r>
          </a:p>
          <a:p>
            <a:pPr>
              <a:spcBef>
                <a:spcPts val="400"/>
              </a:spcBef>
            </a:pPr>
            <a:r>
              <a:rPr sz="1700">
                <a:solidFill>
                  <a:srgbClr val="F0F0F0"/>
                </a:solidFill>
              </a:rPr>
              <a:t>• Our next session builds on today's learning</a:t>
            </a:r>
          </a:p>
        </p:txBody>
      </p:sp>
      <p:sp>
        <p:nvSpPr>
          <p:cNvPr id="8" name="TextBox 7"/>
          <p:cNvSpPr txBox="1"/>
          <p:nvPr/>
        </p:nvSpPr>
        <p:spPr>
          <a:xfrm>
            <a:off x="457200" y="5958000"/>
            <a:ext cx="8229600" cy="457200"/>
          </a:xfrm>
          <a:prstGeom prst="rect">
            <a:avLst/>
          </a:prstGeom>
          <a:noFill/>
        </p:spPr>
        <p:txBody>
          <a:bodyPr wrap="square">
            <a:spAutoFit/>
          </a:bodyPr>
          <a:lstStyle/>
          <a:p>
            <a:pPr algn="ctr"/>
            <a:r>
              <a:rPr sz="1300" b="0" i="0">
                <a:solidFill>
                  <a:srgbClr val="AAAAAA"/>
                </a:solidFill>
              </a:rPr>
              <a:t>melksham-mentalhealth.us  |  Melksham-mental-health@outlook.com</a:t>
            </a:r>
          </a:p>
        </p:txBody>
      </p:sp>
      <p:sp>
        <p:nvSpPr>
          <p:cNvPr id="9" name="TextBox 8"/>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
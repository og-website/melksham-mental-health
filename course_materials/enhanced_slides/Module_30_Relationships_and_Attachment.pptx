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30</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Relationships and Attachment</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Healthy relationships are fundamental to mental health and wellbeing. This module explores attachment theory, the impact of early relationships on adult functioning, healthy relationship skills, and the effects of codependency and trauma on partnerships.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attachment theory and the four attachment styles</a:t>
            </a:r>
          </a:p>
          <a:p>
            <a:pPr>
              <a:spcBef>
                <a:spcPts val="400"/>
              </a:spcBef>
            </a:pPr>
            <a:r>
              <a:rPr sz="1700">
                <a:solidFill>
                  <a:srgbClr val="F0F0F0"/>
                </a:solidFill>
              </a:rPr>
              <a:t>• Explore how early attachment experiences shape adult relationships</a:t>
            </a:r>
          </a:p>
          <a:p>
            <a:pPr>
              <a:spcBef>
                <a:spcPts val="400"/>
              </a:spcBef>
            </a:pPr>
            <a:r>
              <a:rPr sz="1700">
                <a:solidFill>
                  <a:srgbClr val="F0F0F0"/>
                </a:solidFill>
              </a:rPr>
              <a:t>• Identify the features of healthy and unhealthy relationships</a:t>
            </a:r>
          </a:p>
          <a:p>
            <a:pPr>
              <a:spcBef>
                <a:spcPts val="400"/>
              </a:spcBef>
            </a:pPr>
            <a:r>
              <a:rPr sz="1700">
                <a:solidFill>
                  <a:srgbClr val="F0F0F0"/>
                </a:solidFill>
              </a:rPr>
              <a:t>• Understand codependency and its relationship to trauma and mental health</a:t>
            </a:r>
          </a:p>
          <a:p>
            <a:pPr>
              <a:spcBef>
                <a:spcPts val="400"/>
              </a:spcBef>
            </a:pPr>
            <a:r>
              <a:rPr sz="1700">
                <a:solidFill>
                  <a:srgbClr val="F0F0F0"/>
                </a:solidFill>
              </a:rPr>
              <a:t>• Develop communication, empathy and boundary-setting skills</a:t>
            </a:r>
          </a:p>
          <a:p>
            <a:pPr>
              <a:spcBef>
                <a:spcPts val="400"/>
              </a:spcBef>
            </a:pPr>
            <a:r>
              <a:rPr sz="1700">
                <a:solidFill>
                  <a:srgbClr val="F0F0F0"/>
                </a:solidFill>
              </a:rPr>
              <a:t>• Explore evidence-based therapies for relationship difficulties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30: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Attachment theory: Bowlby's model of secure and insecure attachment</a:t>
            </a:r>
          </a:p>
          <a:p>
            <a:pPr>
              <a:spcBef>
                <a:spcPts val="400"/>
              </a:spcBef>
            </a:pPr>
            <a:r>
              <a:rPr sz="1700">
                <a:solidFill>
                  <a:srgbClr val="F0F0F0"/>
                </a:solidFill>
              </a:rPr>
              <a:t>• Four attachment styles: secure, anxious-preoccupied, dismissive-avoidant, fearful-avoidant</a:t>
            </a:r>
          </a:p>
          <a:p>
            <a:pPr>
              <a:spcBef>
                <a:spcPts val="400"/>
              </a:spcBef>
            </a:pPr>
            <a:r>
              <a:rPr sz="1700">
                <a:solidFill>
                  <a:srgbClr val="F0F0F0"/>
                </a:solidFill>
              </a:rPr>
              <a:t>• Early attachment: how childhood relationships shape adult relationship patterns</a:t>
            </a:r>
          </a:p>
          <a:p>
            <a:pPr>
              <a:spcBef>
                <a:spcPts val="400"/>
              </a:spcBef>
            </a:pPr>
            <a:r>
              <a:rPr sz="1700">
                <a:solidFill>
                  <a:srgbClr val="F0F0F0"/>
                </a:solidFill>
              </a:rPr>
              <a:t>• Healthy relationships: communication, empathy, respect, boundaries and reciprocity</a:t>
            </a:r>
          </a:p>
          <a:p>
            <a:pPr>
              <a:spcBef>
                <a:spcPts val="400"/>
              </a:spcBef>
            </a:pPr>
            <a:r>
              <a:rPr sz="1700">
                <a:solidFill>
                  <a:srgbClr val="F0F0F0"/>
                </a:solidFill>
              </a:rPr>
              <a:t>• Codependency: excessive emotional reliance on a partner; often linked to trauma</a:t>
            </a:r>
          </a:p>
          <a:p>
            <a:pPr>
              <a:spcBef>
                <a:spcPts val="400"/>
              </a:spcBef>
            </a:pPr>
            <a:r>
              <a:rPr sz="1700">
                <a:solidFill>
                  <a:srgbClr val="F0F0F0"/>
                </a:solidFill>
              </a:rPr>
              <a:t>• Trauma and relationships: how PTSD and complex trauma affect intimacy and trust</a:t>
            </a:r>
          </a:p>
          <a:p>
            <a:pPr>
              <a:spcBef>
                <a:spcPts val="400"/>
              </a:spcBef>
            </a:pPr>
            <a:r>
              <a:rPr sz="1700">
                <a:solidFill>
                  <a:srgbClr val="F0F0F0"/>
                </a:solidFill>
              </a:rPr>
              <a:t>• Couples therapy: evidence-based approaches for relationship difficulties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Secure attachment in childhood is the strongest predictor of adult mental health</a:t>
            </a:r>
          </a:p>
          <a:p>
            <a:pPr>
              <a:spcBef>
                <a:spcPts val="400"/>
              </a:spcBef>
            </a:pPr>
            <a:r>
              <a:rPr sz="1700">
                <a:solidFill>
                  <a:srgbClr val="F0F0F0"/>
                </a:solidFill>
              </a:rPr>
              <a:t>• 50% of adults have an insecure attachment style (Hazan and Shaver, 1987)</a:t>
            </a:r>
          </a:p>
          <a:p>
            <a:pPr>
              <a:spcBef>
                <a:spcPts val="400"/>
              </a:spcBef>
            </a:pPr>
            <a:r>
              <a:rPr sz="1700">
                <a:solidFill>
                  <a:srgbClr val="F0F0F0"/>
                </a:solidFill>
              </a:rPr>
              <a:t>• Relationship breakdown is associated with a 20–30% increase in mental health problems</a:t>
            </a:r>
          </a:p>
          <a:p>
            <a:pPr>
              <a:spcBef>
                <a:spcPts val="400"/>
              </a:spcBef>
            </a:pPr>
            <a:r>
              <a:rPr sz="1700">
                <a:solidFill>
                  <a:srgbClr val="F0F0F0"/>
                </a:solidFill>
              </a:rPr>
              <a:t>• Codependency affects an estimated 40% of people in relationships (Mental Health Foundation)</a:t>
            </a:r>
          </a:p>
          <a:p>
            <a:pPr>
              <a:spcBef>
                <a:spcPts val="400"/>
              </a:spcBef>
            </a:pPr>
            <a:r>
              <a:rPr sz="1700">
                <a:solidFill>
                  <a:srgbClr val="F0F0F0"/>
                </a:solidFill>
              </a:rPr>
              <a:t>• Domestic abuse affects 1 in 4 women and 1 in 6 men in their lifetime</a:t>
            </a:r>
          </a:p>
          <a:p>
            <a:pPr>
              <a:spcBef>
                <a:spcPts val="400"/>
              </a:spcBef>
            </a:pPr>
            <a:r>
              <a:rPr sz="1700">
                <a:solidFill>
                  <a:srgbClr val="F0F0F0"/>
                </a:solidFill>
              </a:rPr>
              <a:t>• Couples therapy is effective for 70% of couples who complete treatment (APA)</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Emotionally Focused Therapy (EFT) is the most evidence-based couples therapy</a:t>
            </a:r>
          </a:p>
          <a:p>
            <a:pPr>
              <a:spcBef>
                <a:spcPts val="400"/>
              </a:spcBef>
            </a:pPr>
            <a:r>
              <a:rPr sz="1700">
                <a:solidFill>
                  <a:srgbClr val="F0F0F0"/>
                </a:solidFill>
              </a:rPr>
              <a:t>• Gottman Method couples therapy significantly improves relationship satisfaction</a:t>
            </a:r>
          </a:p>
          <a:p>
            <a:pPr>
              <a:spcBef>
                <a:spcPts val="400"/>
              </a:spcBef>
            </a:pPr>
            <a:r>
              <a:rPr sz="1700">
                <a:solidFill>
                  <a:srgbClr val="F0F0F0"/>
                </a:solidFill>
              </a:rPr>
              <a:t>• Attachment-based therapy helps individuals develop more secure attachment patterns</a:t>
            </a:r>
          </a:p>
          <a:p>
            <a:pPr>
              <a:spcBef>
                <a:spcPts val="400"/>
              </a:spcBef>
            </a:pPr>
            <a:r>
              <a:rPr sz="1700">
                <a:solidFill>
                  <a:srgbClr val="F0F0F0"/>
                </a:solidFill>
              </a:rPr>
              <a:t>• Mindfulness improves relationship satisfaction and emotional regulation</a:t>
            </a:r>
          </a:p>
          <a:p>
            <a:pPr>
              <a:spcBef>
                <a:spcPts val="400"/>
              </a:spcBef>
            </a:pPr>
            <a:r>
              <a:rPr sz="1700">
                <a:solidFill>
                  <a:srgbClr val="F0F0F0"/>
                </a:solidFill>
              </a:rPr>
              <a:t>• Communication skills training reduces conflict and improves intimacy</a:t>
            </a:r>
          </a:p>
          <a:p>
            <a:pPr>
              <a:spcBef>
                <a:spcPts val="400"/>
              </a:spcBef>
            </a:pPr>
            <a:r>
              <a:rPr sz="1700">
                <a:solidFill>
                  <a:srgbClr val="F0F0F0"/>
                </a:solidFill>
              </a:rPr>
              <a:t>• Trauma-informed couples therapy addresses the impact of PTSD on relationships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Jamie, 32, grew up with an emotionally unavailable parent and developed an anxious attachment style. In adult relationships, Jamie became clingy and fearful of abandonment, which led to conflict and relationship breakdown. After individual therapy exploring attachment patterns, Jamie began to understand their relational style and develop more secure ways of relating. Jamie's partner also attended couples therapy, and together they developed healthier communication patterns.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Coping strategies: healthy communication, boundary-setting, self-soothing</a:t>
            </a:r>
          </a:p>
          <a:p>
            <a:pPr>
              <a:spcBef>
                <a:spcPts val="400"/>
              </a:spcBef>
            </a:pPr>
            <a:r>
              <a:rPr sz="1700">
                <a:solidFill>
                  <a:srgbClr val="F0F0F0"/>
                </a:solidFill>
              </a:rPr>
              <a:t>• Emotionally Focused Therapy (EFT): improving emotional connection and security</a:t>
            </a:r>
          </a:p>
          <a:p>
            <a:pPr>
              <a:spcBef>
                <a:spcPts val="400"/>
              </a:spcBef>
            </a:pPr>
            <a:r>
              <a:rPr sz="1700">
                <a:solidFill>
                  <a:srgbClr val="F0F0F0"/>
                </a:solidFill>
              </a:rPr>
              <a:t>• Gottman Method: building friendship, managing conflict, creating shared meaning</a:t>
            </a:r>
          </a:p>
          <a:p>
            <a:pPr>
              <a:spcBef>
                <a:spcPts val="400"/>
              </a:spcBef>
            </a:pPr>
            <a:r>
              <a:rPr sz="1700">
                <a:solidFill>
                  <a:srgbClr val="F0F0F0"/>
                </a:solidFill>
              </a:rPr>
              <a:t>• Attachment-based therapy: developing more secure attachment patterns</a:t>
            </a:r>
          </a:p>
          <a:p>
            <a:pPr>
              <a:spcBef>
                <a:spcPts val="400"/>
              </a:spcBef>
            </a:pPr>
            <a:r>
              <a:rPr sz="1700">
                <a:solidFill>
                  <a:srgbClr val="F0F0F0"/>
                </a:solidFill>
              </a:rPr>
              <a:t>• Mindfulness: improving emotional regulation and relationship satisfaction</a:t>
            </a:r>
          </a:p>
          <a:p>
            <a:pPr>
              <a:spcBef>
                <a:spcPts val="400"/>
              </a:spcBef>
            </a:pPr>
            <a:r>
              <a:rPr sz="1700">
                <a:solidFill>
                  <a:srgbClr val="F0F0F0"/>
                </a:solidFill>
              </a:rPr>
              <a:t>• Communication skills: active listening, assertiveness, non-violent communication</a:t>
            </a:r>
          </a:p>
          <a:p>
            <a:pPr>
              <a:spcBef>
                <a:spcPts val="400"/>
              </a:spcBef>
            </a:pPr>
            <a:r>
              <a:rPr sz="1700">
                <a:solidFill>
                  <a:srgbClr val="F0F0F0"/>
                </a:solidFill>
              </a:rPr>
              <a:t>• Peer support: relationship support groups and online communities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Attachment style reflection: Participants complete a brief attachment style questionnaire and reflect on how their attachment style shows up in their relationships. Discuss: How does your attachment style affect your relationships? What would a more secure way of relating look like?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is your attachment style — and how does it affect your relationships?</a:t>
            </a:r>
          </a:p>
          <a:p>
            <a:pPr>
              <a:spcBef>
                <a:spcPts val="400"/>
              </a:spcBef>
            </a:pPr>
            <a:r>
              <a:rPr sz="1700">
                <a:solidFill>
                  <a:srgbClr val="F0F0F0"/>
                </a:solidFill>
              </a:rPr>
              <a:t>• How do early childhood experiences shape adult relationship patterns?</a:t>
            </a:r>
          </a:p>
          <a:p>
            <a:pPr>
              <a:spcBef>
                <a:spcPts val="400"/>
              </a:spcBef>
            </a:pPr>
            <a:r>
              <a:rPr sz="1700">
                <a:solidFill>
                  <a:srgbClr val="F0F0F0"/>
                </a:solidFill>
              </a:rPr>
              <a:t>• What does a healthy relationship look like to you?</a:t>
            </a:r>
          </a:p>
          <a:p>
            <a:pPr>
              <a:spcBef>
                <a:spcPts val="400"/>
              </a:spcBef>
            </a:pPr>
            <a:r>
              <a:rPr sz="1700">
                <a:solidFill>
                  <a:srgbClr val="F0F0F0"/>
                </a:solidFill>
              </a:rPr>
              <a:t>• How can we set boundaries in relationships without damaging them?</a:t>
            </a:r>
          </a:p>
          <a:p>
            <a:pPr>
              <a:spcBef>
                <a:spcPts val="400"/>
              </a:spcBef>
            </a:pPr>
            <a:r>
              <a:rPr sz="1700">
                <a:solidFill>
                  <a:srgbClr val="F0F0F0"/>
                </a:solidFill>
              </a:rPr>
              <a:t>• What relationship support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Mind UK: Relationships (mind.org.uk)</a:t>
            </a:r>
          </a:p>
          <a:p>
            <a:pPr>
              <a:spcBef>
                <a:spcPts val="400"/>
              </a:spcBef>
            </a:pPr>
            <a:r>
              <a:rPr sz="1400">
                <a:solidFill>
                  <a:srgbClr val="F0F0F0"/>
                </a:solidFill>
              </a:rPr>
              <a:t>• Relate: relate.org.uk / 0300 100 1234</a:t>
            </a:r>
          </a:p>
          <a:p>
            <a:pPr>
              <a:spcBef>
                <a:spcPts val="400"/>
              </a:spcBef>
            </a:pPr>
            <a:r>
              <a:rPr sz="1400">
                <a:solidFill>
                  <a:srgbClr val="F0F0F0"/>
                </a:solidFill>
              </a:rPr>
              <a:t>• NHS: Relationships and mental health (nhs.uk)</a:t>
            </a:r>
          </a:p>
          <a:p>
            <a:pPr>
              <a:spcBef>
                <a:spcPts val="400"/>
              </a:spcBef>
            </a:pPr>
            <a:r>
              <a:rPr sz="1400">
                <a:solidFill>
                  <a:srgbClr val="F0F0F0"/>
                </a:solidFill>
              </a:rPr>
              <a:t>• Gottman Institute: gottman.com</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30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Relationships and Attachment</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30: Relationships and Attachment</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
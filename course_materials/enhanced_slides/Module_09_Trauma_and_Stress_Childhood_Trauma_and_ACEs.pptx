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9</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Trauma and Stress: Childhood Trauma and ACEs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Adverse Childhood Experiences (ACEs) are traumatic events occurring before the age of 18 that have lasting effects on brain development, mental and physical health, and life outcomes. This module explores the science of ACEs, their cumulative impact, and the protective factors that build resilience.</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adverse childhood experiences (ACEs) and understand their categories</a:t>
            </a:r>
          </a:p>
          <a:p>
            <a:pPr>
              <a:spcBef>
                <a:spcPts val="400"/>
              </a:spcBef>
            </a:pPr>
            <a:r>
              <a:rPr sz="1700">
                <a:solidFill>
                  <a:srgbClr val="F0F0F0"/>
                </a:solidFill>
              </a:rPr>
              <a:t>• Understand how early trauma affects brain development and the stress response system</a:t>
            </a:r>
          </a:p>
          <a:p>
            <a:pPr>
              <a:spcBef>
                <a:spcPts val="400"/>
              </a:spcBef>
            </a:pPr>
            <a:r>
              <a:rPr sz="1700">
                <a:solidFill>
                  <a:srgbClr val="F0F0F0"/>
                </a:solidFill>
              </a:rPr>
              <a:t>• Identify the cumulative dose-response relationship between ACEs and health outcomes</a:t>
            </a:r>
          </a:p>
          <a:p>
            <a:pPr>
              <a:spcBef>
                <a:spcPts val="400"/>
              </a:spcBef>
            </a:pPr>
            <a:r>
              <a:rPr sz="1700">
                <a:solidFill>
                  <a:srgbClr val="F0F0F0"/>
                </a:solidFill>
              </a:rPr>
              <a:t>• Recognise the long-term mental and physical health consequences of childhood trauma</a:t>
            </a:r>
          </a:p>
          <a:p>
            <a:pPr>
              <a:spcBef>
                <a:spcPts val="400"/>
              </a:spcBef>
            </a:pPr>
            <a:r>
              <a:rPr sz="1700">
                <a:solidFill>
                  <a:srgbClr val="F0F0F0"/>
                </a:solidFill>
              </a:rPr>
              <a:t>• Explore protective factors and resilience-building approaches</a:t>
            </a:r>
          </a:p>
          <a:p>
            <a:pPr>
              <a:spcBef>
                <a:spcPts val="400"/>
              </a:spcBef>
            </a:pPr>
            <a:r>
              <a:rPr sz="1700">
                <a:solidFill>
                  <a:srgbClr val="F0F0F0"/>
                </a:solidFill>
              </a:rPr>
              <a:t>• Understand trauma-informed practice in education, health and social care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9: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ACEs categories: abuse (physical, sexual, emotional), neglect, household dysfunction</a:t>
            </a:r>
          </a:p>
          <a:p>
            <a:pPr>
              <a:spcBef>
                <a:spcPts val="400"/>
              </a:spcBef>
            </a:pPr>
            <a:r>
              <a:rPr sz="1700">
                <a:solidFill>
                  <a:srgbClr val="F0F0F0"/>
                </a:solidFill>
              </a:rPr>
              <a:t>• Household dysfunction: domestic violence, substance use, mental illness, incarceration</a:t>
            </a:r>
          </a:p>
          <a:p>
            <a:pPr>
              <a:spcBef>
                <a:spcPts val="400"/>
              </a:spcBef>
            </a:pPr>
            <a:r>
              <a:rPr sz="1700">
                <a:solidFill>
                  <a:srgbClr val="F0F0F0"/>
                </a:solidFill>
              </a:rPr>
              <a:t>• Neuroscience: toxic stress disrupts HPA axis and prefrontal cortex development</a:t>
            </a:r>
          </a:p>
          <a:p>
            <a:pPr>
              <a:spcBef>
                <a:spcPts val="400"/>
              </a:spcBef>
            </a:pPr>
            <a:r>
              <a:rPr sz="1700">
                <a:solidFill>
                  <a:srgbClr val="F0F0F0"/>
                </a:solidFill>
              </a:rPr>
              <a:t>• Dose-response: each additional ACE significantly increases health risk</a:t>
            </a:r>
          </a:p>
          <a:p>
            <a:pPr>
              <a:spcBef>
                <a:spcPts val="400"/>
              </a:spcBef>
            </a:pPr>
            <a:r>
              <a:rPr sz="1700">
                <a:solidFill>
                  <a:srgbClr val="F0F0F0"/>
                </a:solidFill>
              </a:rPr>
              <a:t>• Long-term consequences: depression, anxiety, PTSD, substance use, chronic disease</a:t>
            </a:r>
          </a:p>
          <a:p>
            <a:pPr>
              <a:spcBef>
                <a:spcPts val="400"/>
              </a:spcBef>
            </a:pPr>
            <a:r>
              <a:rPr sz="1700">
                <a:solidFill>
                  <a:srgbClr val="F0F0F0"/>
                </a:solidFill>
              </a:rPr>
              <a:t>• Protective factors: safe, stable, nurturing relationships and environments</a:t>
            </a:r>
          </a:p>
          <a:p>
            <a:pPr>
              <a:spcBef>
                <a:spcPts val="400"/>
              </a:spcBef>
            </a:pPr>
            <a:r>
              <a:rPr sz="1700">
                <a:solidFill>
                  <a:srgbClr val="F0F0F0"/>
                </a:solidFill>
              </a:rPr>
              <a:t>• Trauma-informed practice: recognising and responding to the impact of trauma</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47% of adults in England have experienced at least one ACE (PHE, 2017)</a:t>
            </a:r>
          </a:p>
          <a:p>
            <a:pPr>
              <a:spcBef>
                <a:spcPts val="400"/>
              </a:spcBef>
            </a:pPr>
            <a:r>
              <a:rPr sz="1700">
                <a:solidFill>
                  <a:srgbClr val="F0F0F0"/>
                </a:solidFill>
              </a:rPr>
              <a:t>• People with 4+ ACEs are 4 times more likely to develop depression</a:t>
            </a:r>
          </a:p>
          <a:p>
            <a:pPr>
              <a:spcBef>
                <a:spcPts val="400"/>
              </a:spcBef>
            </a:pPr>
            <a:r>
              <a:rPr sz="1700">
                <a:solidFill>
                  <a:srgbClr val="F0F0F0"/>
                </a:solidFill>
              </a:rPr>
              <a:t>• People with 4+ ACEs are 12 times more likely to attempt suicide</a:t>
            </a:r>
          </a:p>
          <a:p>
            <a:pPr>
              <a:spcBef>
                <a:spcPts val="400"/>
              </a:spcBef>
            </a:pPr>
            <a:r>
              <a:rPr sz="1700">
                <a:solidFill>
                  <a:srgbClr val="F0F0F0"/>
                </a:solidFill>
              </a:rPr>
              <a:t>• ACEs cost England approximately £1.33 billion per year in health and social care</a:t>
            </a:r>
          </a:p>
          <a:p>
            <a:pPr>
              <a:spcBef>
                <a:spcPts val="400"/>
              </a:spcBef>
            </a:pPr>
            <a:r>
              <a:rPr sz="1700">
                <a:solidFill>
                  <a:srgbClr val="F0F0F0"/>
                </a:solidFill>
              </a:rPr>
              <a:t>• Secure attachment to one caring adult is the most powerful protective factor</a:t>
            </a:r>
          </a:p>
          <a:p>
            <a:pPr>
              <a:spcBef>
                <a:spcPts val="400"/>
              </a:spcBef>
            </a:pPr>
            <a:r>
              <a:rPr sz="1700">
                <a:solidFill>
                  <a:srgbClr val="F0F0F0"/>
                </a:solidFill>
              </a:rPr>
              <a:t>• ACEs affect 1 in 3 children in the UK at some point in their childhood</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ACEs are preventable with the right support systems and community investment</a:t>
            </a:r>
          </a:p>
          <a:p>
            <a:pPr>
              <a:spcBef>
                <a:spcPts val="400"/>
              </a:spcBef>
            </a:pPr>
            <a:r>
              <a:rPr sz="1700">
                <a:solidFill>
                  <a:srgbClr val="F0F0F0"/>
                </a:solidFill>
              </a:rPr>
              <a:t>• Secure attachment to one caring adult can mitigate the effects of multiple ACEs</a:t>
            </a:r>
          </a:p>
          <a:p>
            <a:pPr>
              <a:spcBef>
                <a:spcPts val="400"/>
              </a:spcBef>
            </a:pPr>
            <a:r>
              <a:rPr sz="1700">
                <a:solidFill>
                  <a:srgbClr val="F0F0F0"/>
                </a:solidFill>
              </a:rPr>
              <a:t>• Trauma-informed schools reduce exclusions and improve academic outcomes</a:t>
            </a:r>
          </a:p>
          <a:p>
            <a:pPr>
              <a:spcBef>
                <a:spcPts val="400"/>
              </a:spcBef>
            </a:pPr>
            <a:r>
              <a:rPr sz="1700">
                <a:solidFill>
                  <a:srgbClr val="F0F0F0"/>
                </a:solidFill>
              </a:rPr>
              <a:t>• Early adversity increases risk of heart disease, diabetes and cancer in adulthood</a:t>
            </a:r>
          </a:p>
          <a:p>
            <a:pPr>
              <a:spcBef>
                <a:spcPts val="400"/>
              </a:spcBef>
            </a:pPr>
            <a:r>
              <a:rPr sz="1700">
                <a:solidFill>
                  <a:srgbClr val="F0F0F0"/>
                </a:solidFill>
              </a:rPr>
              <a:t>• ACE-aware communities reduce the intergenerational transmission of trauma</a:t>
            </a:r>
          </a:p>
          <a:p>
            <a:pPr>
              <a:spcBef>
                <a:spcPts val="400"/>
              </a:spcBef>
            </a:pPr>
            <a:r>
              <a:rPr sz="1700">
                <a:solidFill>
                  <a:srgbClr val="F0F0F0"/>
                </a:solidFill>
              </a:rPr>
              <a:t>• Resilience is not fixed — it can be built at any age with the right support</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Callum, 16, grew up in a household with domestic violence and parental alcohol misuse. He struggled at school, had frequent exclusions and began self-harming at 14. A school counsellor recognised the signs of complex trauma and referred Callum to a specialist CAMHS service. With therapeutic support and a mentoring programme, Callum's behaviour improved significantly. By 18, he was in college and volunteering with a youth mental health charity.</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Trauma-informed practice: recognising, responding to and preventing re-traumatisation</a:t>
            </a:r>
          </a:p>
          <a:p>
            <a:pPr>
              <a:spcBef>
                <a:spcPts val="400"/>
              </a:spcBef>
            </a:pPr>
            <a:r>
              <a:rPr sz="1700">
                <a:solidFill>
                  <a:srgbClr val="F0F0F0"/>
                </a:solidFill>
              </a:rPr>
              <a:t>• Safe, stable, nurturing relationships: the most powerful protective factor</a:t>
            </a:r>
          </a:p>
          <a:p>
            <a:pPr>
              <a:spcBef>
                <a:spcPts val="400"/>
              </a:spcBef>
            </a:pPr>
            <a:r>
              <a:rPr sz="1700">
                <a:solidFill>
                  <a:srgbClr val="F0F0F0"/>
                </a:solidFill>
              </a:rPr>
              <a:t>• Therapeutic support: trauma-focused CBT, EMDR, play therapy for children</a:t>
            </a:r>
          </a:p>
          <a:p>
            <a:pPr>
              <a:spcBef>
                <a:spcPts val="400"/>
              </a:spcBef>
            </a:pPr>
            <a:r>
              <a:rPr sz="1700">
                <a:solidFill>
                  <a:srgbClr val="F0F0F0"/>
                </a:solidFill>
              </a:rPr>
              <a:t>• Mentoring programmes: positive adult role models for at-risk young people</a:t>
            </a:r>
          </a:p>
          <a:p>
            <a:pPr>
              <a:spcBef>
                <a:spcPts val="400"/>
              </a:spcBef>
            </a:pPr>
            <a:r>
              <a:rPr sz="1700">
                <a:solidFill>
                  <a:srgbClr val="F0F0F0"/>
                </a:solidFill>
              </a:rPr>
              <a:t>• Family support: parenting programmes, family therapy and home visiting</a:t>
            </a:r>
          </a:p>
          <a:p>
            <a:pPr>
              <a:spcBef>
                <a:spcPts val="400"/>
              </a:spcBef>
            </a:pPr>
            <a:r>
              <a:rPr sz="1700">
                <a:solidFill>
                  <a:srgbClr val="F0F0F0"/>
                </a:solidFill>
              </a:rPr>
              <a:t>• School-based interventions: trauma-informed schools, nurture groups</a:t>
            </a:r>
          </a:p>
          <a:p>
            <a:pPr>
              <a:spcBef>
                <a:spcPts val="400"/>
              </a:spcBef>
            </a:pPr>
            <a:r>
              <a:rPr sz="1700">
                <a:solidFill>
                  <a:srgbClr val="F0F0F0"/>
                </a:solidFill>
              </a:rPr>
              <a:t>• Community resilience: ACE-aware communities and whole-system approaches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ACE reflection (facilitator-led, sensitive): Participants are invited to reflect on the concept of ACEs without disclosing personal experiences. Discuss: How might ACEs affect a child's behaviour in school? How can teachers and carers respond in a trauma-informed way?</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understanding ACEs change how we view 'difficult' behaviour in children?</a:t>
            </a:r>
          </a:p>
          <a:p>
            <a:pPr>
              <a:spcBef>
                <a:spcPts val="400"/>
              </a:spcBef>
            </a:pPr>
            <a:r>
              <a:rPr sz="1700">
                <a:solidFill>
                  <a:srgbClr val="F0F0F0"/>
                </a:solidFill>
              </a:rPr>
              <a:t>• What protective factors existed in your own childhood?</a:t>
            </a:r>
          </a:p>
          <a:p>
            <a:pPr>
              <a:spcBef>
                <a:spcPts val="400"/>
              </a:spcBef>
            </a:pPr>
            <a:r>
              <a:rPr sz="1700">
                <a:solidFill>
                  <a:srgbClr val="F0F0F0"/>
                </a:solidFill>
              </a:rPr>
              <a:t>• How can schools and communities build resilience in children?</a:t>
            </a:r>
          </a:p>
          <a:p>
            <a:pPr>
              <a:spcBef>
                <a:spcPts val="400"/>
              </a:spcBef>
            </a:pPr>
            <a:r>
              <a:rPr sz="1700">
                <a:solidFill>
                  <a:srgbClr val="F0F0F0"/>
                </a:solidFill>
              </a:rPr>
              <a:t>• What does trauma-informed practice look like in your professional context?</a:t>
            </a:r>
          </a:p>
          <a:p>
            <a:pPr>
              <a:spcBef>
                <a:spcPts val="400"/>
              </a:spcBef>
            </a:pPr>
            <a:r>
              <a:rPr sz="1700">
                <a:solidFill>
                  <a:srgbClr val="F0F0F0"/>
                </a:solidFill>
              </a:rPr>
              <a:t>• What early intervention services are available in Wiltshire for children?</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Public Health England: Adverse Childhood Experiences (2017)</a:t>
            </a:r>
          </a:p>
          <a:p>
            <a:pPr>
              <a:spcBef>
                <a:spcPts val="400"/>
              </a:spcBef>
            </a:pPr>
            <a:r>
              <a:rPr sz="1400">
                <a:solidFill>
                  <a:srgbClr val="F0F0F0"/>
                </a:solidFill>
              </a:rPr>
              <a:t>• ACE-aware Wales: aceawarewales.com</a:t>
            </a:r>
          </a:p>
          <a:p>
            <a:pPr>
              <a:spcBef>
                <a:spcPts val="400"/>
              </a:spcBef>
            </a:pPr>
            <a:r>
              <a:rPr sz="1400">
                <a:solidFill>
                  <a:srgbClr val="F0F0F0"/>
                </a:solidFill>
              </a:rPr>
              <a:t>• NSPCC: nspcc.org.uk</a:t>
            </a:r>
          </a:p>
          <a:p>
            <a:pPr>
              <a:spcBef>
                <a:spcPts val="400"/>
              </a:spcBef>
            </a:pPr>
            <a:r>
              <a:rPr sz="1400">
                <a:solidFill>
                  <a:srgbClr val="F0F0F0"/>
                </a:solidFill>
              </a:rPr>
              <a:t>• Anna Freud Centre: annafreud.org</a:t>
            </a:r>
          </a:p>
          <a:p>
            <a:pPr>
              <a:spcBef>
                <a:spcPts val="400"/>
              </a:spcBef>
            </a:pPr>
            <a:r>
              <a:rPr sz="1400">
                <a:solidFill>
                  <a:srgbClr val="F0F0F0"/>
                </a:solidFill>
              </a:rPr>
              <a:t>• Wiltshire Children's Services: wiltshire.gov.uk/children-young-people</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9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Trauma and Stress: Childhood Trauma and ACEs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9: Trauma and Stress: Childhood Trauma and ACEs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
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41</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Mental Health First Aid</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Mental Health First Aid (MHFA) equips people with the skills to recognise, understand and respond to signs of mental health problems. This module provides a practical introduction to MHFA principles, the ALGEE action plan, and the skills needed to support someone in a mental health crisis.</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the principles and purpose of Mental Health First Aid</a:t>
            </a:r>
          </a:p>
          <a:p>
            <a:pPr>
              <a:spcBef>
                <a:spcPts val="400"/>
              </a:spcBef>
            </a:pPr>
            <a:r>
              <a:rPr sz="1700">
                <a:solidFill>
                  <a:srgbClr val="F0F0F0"/>
                </a:solidFill>
              </a:rPr>
              <a:t>• Learn and apply the ALGEE action plan</a:t>
            </a:r>
          </a:p>
          <a:p>
            <a:pPr>
              <a:spcBef>
                <a:spcPts val="400"/>
              </a:spcBef>
            </a:pPr>
            <a:r>
              <a:rPr sz="1700">
                <a:solidFill>
                  <a:srgbClr val="F0F0F0"/>
                </a:solidFill>
              </a:rPr>
              <a:t>• Develop skills for approaching someone experiencing a mental health crisis</a:t>
            </a:r>
          </a:p>
          <a:p>
            <a:pPr>
              <a:spcBef>
                <a:spcPts val="400"/>
              </a:spcBef>
            </a:pPr>
            <a:r>
              <a:rPr sz="1700">
                <a:solidFill>
                  <a:srgbClr val="F0F0F0"/>
                </a:solidFill>
              </a:rPr>
              <a:t>• Practise active listening and non-judgemental communication</a:t>
            </a:r>
          </a:p>
          <a:p>
            <a:pPr>
              <a:spcBef>
                <a:spcPts val="400"/>
              </a:spcBef>
            </a:pPr>
            <a:r>
              <a:rPr sz="1700">
                <a:solidFill>
                  <a:srgbClr val="F0F0F0"/>
                </a:solidFill>
              </a:rPr>
              <a:t>• Know when and how to refer someone for professional help</a:t>
            </a:r>
          </a:p>
          <a:p>
            <a:pPr>
              <a:spcBef>
                <a:spcPts val="400"/>
              </a:spcBef>
            </a:pPr>
            <a:r>
              <a:rPr sz="1700">
                <a:solidFill>
                  <a:srgbClr val="F0F0F0"/>
                </a:solidFill>
              </a:rPr>
              <a:t>• Understand the limits of MHFA and the importance of self-care for first aiders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41: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Mental Health First Aid: providing initial support until professional help is available</a:t>
            </a:r>
          </a:p>
          <a:p>
            <a:pPr>
              <a:spcBef>
                <a:spcPts val="400"/>
              </a:spcBef>
            </a:pPr>
            <a:r>
              <a:rPr sz="1700">
                <a:solidFill>
                  <a:srgbClr val="F0F0F0"/>
                </a:solidFill>
              </a:rPr>
              <a:t>• ALGEE action plan: Approach, Listen, Give information, Encourage professional help, Encourage self-help</a:t>
            </a:r>
          </a:p>
          <a:p>
            <a:pPr>
              <a:spcBef>
                <a:spcPts val="400"/>
              </a:spcBef>
            </a:pPr>
            <a:r>
              <a:rPr sz="1700">
                <a:solidFill>
                  <a:srgbClr val="F0F0F0"/>
                </a:solidFill>
              </a:rPr>
              <a:t>• Active listening: giving full attention, reflecting, summarising and validating</a:t>
            </a:r>
          </a:p>
          <a:p>
            <a:pPr>
              <a:spcBef>
                <a:spcPts val="400"/>
              </a:spcBef>
            </a:pPr>
            <a:r>
              <a:rPr sz="1700">
                <a:solidFill>
                  <a:srgbClr val="F0F0F0"/>
                </a:solidFill>
              </a:rPr>
              <a:t>• Non-judgemental communication: avoiding assumptions, labels and unsolicited advice</a:t>
            </a:r>
          </a:p>
          <a:p>
            <a:pPr>
              <a:spcBef>
                <a:spcPts val="400"/>
              </a:spcBef>
            </a:pPr>
            <a:r>
              <a:rPr sz="1700">
                <a:solidFill>
                  <a:srgbClr val="F0F0F0"/>
                </a:solidFill>
              </a:rPr>
              <a:t>• Crisis recognition: identifying signs of mental health crisis, self-harm and suicidal ideation</a:t>
            </a:r>
          </a:p>
          <a:p>
            <a:pPr>
              <a:spcBef>
                <a:spcPts val="400"/>
              </a:spcBef>
            </a:pPr>
            <a:r>
              <a:rPr sz="1700">
                <a:solidFill>
                  <a:srgbClr val="F0F0F0"/>
                </a:solidFill>
              </a:rPr>
              <a:t>• Referral: knowing when and how to refer someone for professional help</a:t>
            </a:r>
          </a:p>
          <a:p>
            <a:pPr>
              <a:spcBef>
                <a:spcPts val="400"/>
              </a:spcBef>
            </a:pPr>
            <a:r>
              <a:rPr sz="1700">
                <a:solidFill>
                  <a:srgbClr val="F0F0F0"/>
                </a:solidFill>
              </a:rPr>
              <a:t>• MHFA limits: first aiders are not therapists; self-care is essential</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MHFA training is available in 25 countries and has trained 5 million people worldwide</a:t>
            </a:r>
          </a:p>
          <a:p>
            <a:pPr>
              <a:spcBef>
                <a:spcPts val="400"/>
              </a:spcBef>
            </a:pPr>
            <a:r>
              <a:rPr sz="1700">
                <a:solidFill>
                  <a:srgbClr val="F0F0F0"/>
                </a:solidFill>
              </a:rPr>
              <a:t>• Workplace MHFA reduces absenteeism by 30% and improves help-seeking</a:t>
            </a:r>
          </a:p>
          <a:p>
            <a:pPr>
              <a:spcBef>
                <a:spcPts val="400"/>
              </a:spcBef>
            </a:pPr>
            <a:r>
              <a:rPr sz="1700">
                <a:solidFill>
                  <a:srgbClr val="F0F0F0"/>
                </a:solidFill>
              </a:rPr>
              <a:t>• MHFA training improves knowledge, attitudes and confidence in supporting others</a:t>
            </a:r>
          </a:p>
          <a:p>
            <a:pPr>
              <a:spcBef>
                <a:spcPts val="400"/>
              </a:spcBef>
            </a:pPr>
            <a:r>
              <a:rPr sz="1700">
                <a:solidFill>
                  <a:srgbClr val="F0F0F0"/>
                </a:solidFill>
              </a:rPr>
              <a:t>• 1 in 4 people will experience a mental health problem in any given year</a:t>
            </a:r>
          </a:p>
          <a:p>
            <a:pPr>
              <a:spcBef>
                <a:spcPts val="400"/>
              </a:spcBef>
            </a:pPr>
            <a:r>
              <a:rPr sz="1700">
                <a:solidFill>
                  <a:srgbClr val="F0F0F0"/>
                </a:solidFill>
              </a:rPr>
              <a:t>• Only 1 in 3 people with a mental health problem seek professional help</a:t>
            </a:r>
          </a:p>
          <a:p>
            <a:pPr>
              <a:spcBef>
                <a:spcPts val="400"/>
              </a:spcBef>
            </a:pPr>
            <a:r>
              <a:rPr sz="1700">
                <a:solidFill>
                  <a:srgbClr val="F0F0F0"/>
                </a:solidFill>
              </a:rPr>
              <a:t>• MHFA-trained employees are 3 times more likely to seek help themselves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MHFA training significantly improves knowledge, attitudes and confidence (MHFA England)</a:t>
            </a:r>
          </a:p>
          <a:p>
            <a:pPr>
              <a:spcBef>
                <a:spcPts val="400"/>
              </a:spcBef>
            </a:pPr>
            <a:r>
              <a:rPr sz="1700">
                <a:solidFill>
                  <a:srgbClr val="F0F0F0"/>
                </a:solidFill>
              </a:rPr>
              <a:t>• Active listening is the most important skill in mental health first aid</a:t>
            </a:r>
          </a:p>
          <a:p>
            <a:pPr>
              <a:spcBef>
                <a:spcPts val="400"/>
              </a:spcBef>
            </a:pPr>
            <a:r>
              <a:rPr sz="1700">
                <a:solidFill>
                  <a:srgbClr val="F0F0F0"/>
                </a:solidFill>
              </a:rPr>
              <a:t>• Non-judgemental communication reduces stigma and increases help-seeking</a:t>
            </a:r>
          </a:p>
          <a:p>
            <a:pPr>
              <a:spcBef>
                <a:spcPts val="400"/>
              </a:spcBef>
            </a:pPr>
            <a:r>
              <a:rPr sz="1700">
                <a:solidFill>
                  <a:srgbClr val="F0F0F0"/>
                </a:solidFill>
              </a:rPr>
              <a:t>• ALGEE action plan provides a structured framework for mental health first aid</a:t>
            </a:r>
          </a:p>
          <a:p>
            <a:pPr>
              <a:spcBef>
                <a:spcPts val="400"/>
              </a:spcBef>
            </a:pPr>
            <a:r>
              <a:rPr sz="1700">
                <a:solidFill>
                  <a:srgbClr val="F0F0F0"/>
                </a:solidFill>
              </a:rPr>
              <a:t>• MHFA is not a substitute for professional mental health treatment</a:t>
            </a:r>
          </a:p>
          <a:p>
            <a:pPr>
              <a:spcBef>
                <a:spcPts val="400"/>
              </a:spcBef>
            </a:pPr>
            <a:r>
              <a:rPr sz="1700">
                <a:solidFill>
                  <a:srgbClr val="F0F0F0"/>
                </a:solidFill>
              </a:rPr>
              <a:t>• Regular MHFA refresher training maintains skills and confidence</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During a team meeting, a colleague, Tom, became visibly distressed and left the room. A trained MHFA first aider, Jane, followed him. She approached calmly, introduced herself and asked if he was okay. She listened without judgement as Tom disclosed he had been struggling with depression. Jane validated his experience, provided information about IAPT and encouraged him to speak to his GP. She followed up the next day. Tom accessed support and later thanked Jane for her intervention.</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ALGEE action plan: Approach, Listen, Give information, Encourage professional help, Encourage self-help</a:t>
            </a:r>
          </a:p>
          <a:p>
            <a:pPr>
              <a:spcBef>
                <a:spcPts val="400"/>
              </a:spcBef>
            </a:pPr>
            <a:r>
              <a:rPr sz="1700">
                <a:solidFill>
                  <a:srgbClr val="F0F0F0"/>
                </a:solidFill>
              </a:rPr>
              <a:t>• Active listening: full attention, reflecting, summarising and validating</a:t>
            </a:r>
          </a:p>
          <a:p>
            <a:pPr>
              <a:spcBef>
                <a:spcPts val="400"/>
              </a:spcBef>
            </a:pPr>
            <a:r>
              <a:rPr sz="1700">
                <a:solidFill>
                  <a:srgbClr val="F0F0F0"/>
                </a:solidFill>
              </a:rPr>
              <a:t>• Non-judgemental communication: avoiding assumptions and unsolicited advice</a:t>
            </a:r>
          </a:p>
          <a:p>
            <a:pPr>
              <a:spcBef>
                <a:spcPts val="400"/>
              </a:spcBef>
            </a:pPr>
            <a:r>
              <a:rPr sz="1700">
                <a:solidFill>
                  <a:srgbClr val="F0F0F0"/>
                </a:solidFill>
              </a:rPr>
              <a:t>• Safety planning: supporting someone at risk of self-harm or suicide</a:t>
            </a:r>
          </a:p>
          <a:p>
            <a:pPr>
              <a:spcBef>
                <a:spcPts val="400"/>
              </a:spcBef>
            </a:pPr>
            <a:r>
              <a:rPr sz="1700">
                <a:solidFill>
                  <a:srgbClr val="F0F0F0"/>
                </a:solidFill>
              </a:rPr>
              <a:t>• Signposting: knowing the local and national mental health resources</a:t>
            </a:r>
          </a:p>
          <a:p>
            <a:pPr>
              <a:spcBef>
                <a:spcPts val="400"/>
              </a:spcBef>
            </a:pPr>
            <a:r>
              <a:rPr sz="1700">
                <a:solidFill>
                  <a:srgbClr val="F0F0F0"/>
                </a:solidFill>
              </a:rPr>
              <a:t>• Self-care for first aiders: recognising vicarious trauma and seeking support</a:t>
            </a:r>
          </a:p>
          <a:p>
            <a:pPr>
              <a:spcBef>
                <a:spcPts val="400"/>
              </a:spcBef>
            </a:pPr>
            <a:r>
              <a:rPr sz="1700">
                <a:solidFill>
                  <a:srgbClr val="F0F0F0"/>
                </a:solidFill>
              </a:rPr>
              <a:t>• MHFA training: MHFA England courses (mhfaengland.org)</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ALGEE role play: In pairs, participants practise the ALGEE action plan with a mental health first aid scenario. Debrief: What was challenging? What went well? What would you do differently? How did it feel to be the person receiving support?</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would you do if a colleague or friend disclosed a mental health crisis to you?</a:t>
            </a:r>
          </a:p>
          <a:p>
            <a:pPr>
              <a:spcBef>
                <a:spcPts val="400"/>
              </a:spcBef>
            </a:pPr>
            <a:r>
              <a:rPr sz="1700">
                <a:solidFill>
                  <a:srgbClr val="F0F0F0"/>
                </a:solidFill>
              </a:rPr>
              <a:t>• What are the limits of mental health first aid?</a:t>
            </a:r>
          </a:p>
          <a:p>
            <a:pPr>
              <a:spcBef>
                <a:spcPts val="400"/>
              </a:spcBef>
            </a:pPr>
            <a:r>
              <a:rPr sz="1700">
                <a:solidFill>
                  <a:srgbClr val="F0F0F0"/>
                </a:solidFill>
              </a:rPr>
              <a:t>• How does active listening differ from ordinary conversation?</a:t>
            </a:r>
          </a:p>
          <a:p>
            <a:pPr>
              <a:spcBef>
                <a:spcPts val="400"/>
              </a:spcBef>
            </a:pPr>
            <a:r>
              <a:rPr sz="1700">
                <a:solidFill>
                  <a:srgbClr val="F0F0F0"/>
                </a:solidFill>
              </a:rPr>
              <a:t>• What self-care strategies do mental health first aiders need?</a:t>
            </a:r>
          </a:p>
          <a:p>
            <a:pPr>
              <a:spcBef>
                <a:spcPts val="400"/>
              </a:spcBef>
            </a:pPr>
            <a:r>
              <a:rPr sz="1700">
                <a:solidFill>
                  <a:srgbClr val="F0F0F0"/>
                </a:solidFill>
              </a:rPr>
              <a:t>• Where can you access MHFA training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MHFA England: mhfaengland.org</a:t>
            </a:r>
          </a:p>
          <a:p>
            <a:pPr>
              <a:spcBef>
                <a:spcPts val="400"/>
              </a:spcBef>
            </a:pPr>
            <a:r>
              <a:rPr sz="1400">
                <a:solidFill>
                  <a:srgbClr val="F0F0F0"/>
                </a:solidFill>
              </a:rPr>
              <a:t>• Mind UK: How to support someone (mind.org.uk)</a:t>
            </a:r>
          </a:p>
          <a:p>
            <a:pPr>
              <a:spcBef>
                <a:spcPts val="400"/>
              </a:spcBef>
            </a:pPr>
            <a:r>
              <a:rPr sz="1400">
                <a:solidFill>
                  <a:srgbClr val="F0F0F0"/>
                </a:solidFill>
              </a:rPr>
              <a:t>• NHS: Mental health crisis (nhs.uk)</a:t>
            </a:r>
          </a:p>
          <a:p>
            <a:pPr>
              <a:spcBef>
                <a:spcPts val="400"/>
              </a:spcBef>
            </a:pPr>
            <a:r>
              <a:rPr sz="1400">
                <a:solidFill>
                  <a:srgbClr val="F0F0F0"/>
                </a:solidFill>
              </a:rPr>
              <a:t>• Samaritans: 116 123 (free, 24/7)</a:t>
            </a:r>
          </a:p>
          <a:p>
            <a:pPr>
              <a:spcBef>
                <a:spcPts val="400"/>
              </a:spcBef>
            </a:pPr>
            <a:r>
              <a:rPr sz="1400">
                <a:solidFill>
                  <a:srgbClr val="F0F0F0"/>
                </a:solidFill>
              </a:rPr>
              <a:t>• Shout Crisis Text: Text SHOUT to 85258</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41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Mental Health First Aid</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41: Mental Health First Aid</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
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43</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Exercise and Physical Health in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Exercise is one of the most powerful and accessible interventions for mental health. This module explores the neuroscience of exercise and mood, the evidence for exercise in depression, anxiety, PTSD and schizophrenia, and practical strategies for increasing physical activity in people with mental health conditions.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neuroscience of exercise and its effects on mental health</a:t>
            </a:r>
          </a:p>
          <a:p>
            <a:pPr>
              <a:spcBef>
                <a:spcPts val="400"/>
              </a:spcBef>
            </a:pPr>
            <a:r>
              <a:rPr sz="1700">
                <a:solidFill>
                  <a:srgbClr val="F0F0F0"/>
                </a:solidFill>
              </a:rPr>
              <a:t>• Identify the evidence for exercise in depression, anxiety, PTSD and schizophrenia</a:t>
            </a:r>
          </a:p>
          <a:p>
            <a:pPr>
              <a:spcBef>
                <a:spcPts val="400"/>
              </a:spcBef>
            </a:pPr>
            <a:r>
              <a:rPr sz="1700">
                <a:solidFill>
                  <a:srgbClr val="F0F0F0"/>
                </a:solidFill>
              </a:rPr>
              <a:t>• Explore the barriers to exercise for people with mental health conditions</a:t>
            </a:r>
          </a:p>
          <a:p>
            <a:pPr>
              <a:spcBef>
                <a:spcPts val="400"/>
              </a:spcBef>
            </a:pPr>
            <a:r>
              <a:rPr sz="1700">
                <a:solidFill>
                  <a:srgbClr val="F0F0F0"/>
                </a:solidFill>
              </a:rPr>
              <a:t>• Develop practical strategies for increasing physical activity</a:t>
            </a:r>
          </a:p>
          <a:p>
            <a:pPr>
              <a:spcBef>
                <a:spcPts val="400"/>
              </a:spcBef>
            </a:pPr>
            <a:r>
              <a:rPr sz="1700">
                <a:solidFill>
                  <a:srgbClr val="F0F0F0"/>
                </a:solidFill>
              </a:rPr>
              <a:t>• Understand the role of social prescribing and green social prescribing</a:t>
            </a:r>
          </a:p>
          <a:p>
            <a:pPr>
              <a:spcBef>
                <a:spcPts val="400"/>
              </a:spcBef>
            </a:pPr>
            <a:r>
              <a:rPr sz="1700">
                <a:solidFill>
                  <a:srgbClr val="F0F0F0"/>
                </a:solidFill>
              </a:rPr>
              <a:t>• Know the exercise and physical activity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43: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Neuroscience: exercise increases BDNF, serotonin, dopamine and endorphins</a:t>
            </a:r>
          </a:p>
          <a:p>
            <a:pPr>
              <a:spcBef>
                <a:spcPts val="400"/>
              </a:spcBef>
            </a:pPr>
            <a:r>
              <a:rPr sz="1700">
                <a:solidFill>
                  <a:srgbClr val="F0F0F0"/>
                </a:solidFill>
              </a:rPr>
              <a:t>• Exercise and depression: 150 minutes of moderate exercise per week reduces depression by 30%</a:t>
            </a:r>
          </a:p>
          <a:p>
            <a:pPr>
              <a:spcBef>
                <a:spcPts val="400"/>
              </a:spcBef>
            </a:pPr>
            <a:r>
              <a:rPr sz="1700">
                <a:solidFill>
                  <a:srgbClr val="F0F0F0"/>
                </a:solidFill>
              </a:rPr>
              <a:t>• Exercise and anxiety: regular exercise reduces anxiety symptoms by 48%</a:t>
            </a:r>
          </a:p>
          <a:p>
            <a:pPr>
              <a:spcBef>
                <a:spcPts val="400"/>
              </a:spcBef>
            </a:pPr>
            <a:r>
              <a:rPr sz="1700">
                <a:solidFill>
                  <a:srgbClr val="F0F0F0"/>
                </a:solidFill>
              </a:rPr>
              <a:t>• Exercise and PTSD: aerobic exercise reduces PTSD symptoms significantly</a:t>
            </a:r>
          </a:p>
          <a:p>
            <a:pPr>
              <a:spcBef>
                <a:spcPts val="400"/>
              </a:spcBef>
            </a:pPr>
            <a:r>
              <a:rPr sz="1700">
                <a:solidFill>
                  <a:srgbClr val="F0F0F0"/>
                </a:solidFill>
              </a:rPr>
              <a:t>• Exercise and schizophrenia: improves cognitive function and reduces negative symptoms</a:t>
            </a:r>
          </a:p>
          <a:p>
            <a:pPr>
              <a:spcBef>
                <a:spcPts val="400"/>
              </a:spcBef>
            </a:pPr>
            <a:r>
              <a:rPr sz="1700">
                <a:solidFill>
                  <a:srgbClr val="F0F0F0"/>
                </a:solidFill>
              </a:rPr>
              <a:t>• Barriers: low motivation, fatigue, medication side effects, cost, stigma</a:t>
            </a:r>
          </a:p>
          <a:p>
            <a:pPr>
              <a:spcBef>
                <a:spcPts val="400"/>
              </a:spcBef>
            </a:pPr>
            <a:r>
              <a:rPr sz="1700">
                <a:solidFill>
                  <a:srgbClr val="F0F0F0"/>
                </a:solidFill>
              </a:rPr>
              <a:t>• Green social prescribing: connecting people to nature-based physical activities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Exercise reduces depression by 30% (NICE, 2022)</a:t>
            </a:r>
          </a:p>
          <a:p>
            <a:pPr>
              <a:spcBef>
                <a:spcPts val="400"/>
              </a:spcBef>
            </a:pPr>
            <a:r>
              <a:rPr sz="1700">
                <a:solidFill>
                  <a:srgbClr val="F0F0F0"/>
                </a:solidFill>
              </a:rPr>
              <a:t>• Exercise reduces anxiety by 48% (Stonebridge et al., 2019)</a:t>
            </a:r>
          </a:p>
          <a:p>
            <a:pPr>
              <a:spcBef>
                <a:spcPts val="400"/>
              </a:spcBef>
            </a:pPr>
            <a:r>
              <a:rPr sz="1700">
                <a:solidFill>
                  <a:srgbClr val="F0F0F0"/>
                </a:solidFill>
              </a:rPr>
              <a:t>• 30 minutes of aerobic exercise 3 times per week is as effective as antidepressants for mild-moderate depression</a:t>
            </a:r>
          </a:p>
          <a:p>
            <a:pPr>
              <a:spcBef>
                <a:spcPts val="400"/>
              </a:spcBef>
            </a:pPr>
            <a:r>
              <a:rPr sz="1700">
                <a:solidFill>
                  <a:srgbClr val="F0F0F0"/>
                </a:solidFill>
              </a:rPr>
              <a:t>• Physical inactivity costs the NHS £1.2 billion per year</a:t>
            </a:r>
          </a:p>
          <a:p>
            <a:pPr>
              <a:spcBef>
                <a:spcPts val="400"/>
              </a:spcBef>
            </a:pPr>
            <a:r>
              <a:rPr sz="1700">
                <a:solidFill>
                  <a:srgbClr val="F0F0F0"/>
                </a:solidFill>
              </a:rPr>
              <a:t>• People with severe mental illness are 2–3 times more likely to be physically inactive</a:t>
            </a:r>
          </a:p>
          <a:p>
            <a:pPr>
              <a:spcBef>
                <a:spcPts val="400"/>
              </a:spcBef>
            </a:pPr>
            <a:r>
              <a:rPr sz="1700">
                <a:solidFill>
                  <a:srgbClr val="F0F0F0"/>
                </a:solidFill>
              </a:rPr>
              <a:t>• Green exercise: exposure to nature reduces cortisol and improves mood within 5 minutes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(NG222): recommends exercise as a first-line treatment for mild-moderate depression</a:t>
            </a:r>
          </a:p>
          <a:p>
            <a:pPr>
              <a:spcBef>
                <a:spcPts val="400"/>
              </a:spcBef>
            </a:pPr>
            <a:r>
              <a:rPr sz="1700">
                <a:solidFill>
                  <a:srgbClr val="F0F0F0"/>
                </a:solidFill>
              </a:rPr>
              <a:t>• Exercise is as effective as antidepressants for mild-moderate depression (Blumenthal et al.)</a:t>
            </a:r>
          </a:p>
          <a:p>
            <a:pPr>
              <a:spcBef>
                <a:spcPts val="400"/>
              </a:spcBef>
            </a:pPr>
            <a:r>
              <a:rPr sz="1700">
                <a:solidFill>
                  <a:srgbClr val="F0F0F0"/>
                </a:solidFill>
              </a:rPr>
              <a:t>• Social prescribing to exercise programmes significantly improves mental health outcomes</a:t>
            </a:r>
          </a:p>
          <a:p>
            <a:pPr>
              <a:spcBef>
                <a:spcPts val="400"/>
              </a:spcBef>
            </a:pPr>
            <a:r>
              <a:rPr sz="1700">
                <a:solidFill>
                  <a:srgbClr val="F0F0F0"/>
                </a:solidFill>
              </a:rPr>
              <a:t>• Green social prescribing: nature-based activities improve mental health and wellbeing</a:t>
            </a:r>
          </a:p>
          <a:p>
            <a:pPr>
              <a:spcBef>
                <a:spcPts val="400"/>
              </a:spcBef>
            </a:pPr>
            <a:r>
              <a:rPr sz="1700">
                <a:solidFill>
                  <a:srgbClr val="F0F0F0"/>
                </a:solidFill>
              </a:rPr>
              <a:t>• Exercise reduces the risk of developing dementia by 30%</a:t>
            </a:r>
          </a:p>
          <a:p>
            <a:pPr>
              <a:spcBef>
                <a:spcPts val="400"/>
              </a:spcBef>
            </a:pPr>
            <a:r>
              <a:rPr sz="1700">
                <a:solidFill>
                  <a:srgbClr val="F0F0F0"/>
                </a:solidFill>
              </a:rPr>
              <a:t>• Peer support for exercise improves adherence and motivation</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Kevin, 42, had severe depression and had not left his flat for three months. His community mental health team referred him to a social prescribing link worker, who connected him with a local walking group for people with mental health conditions. Kevin began attending weekly, initially finding it difficult but gradually enjoying the social connection and fresh air. After three months, his PHQ-9 score had dropped from 24 to 10. Kevin now volunteers as a walk leader.</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Walking: accessible, free and highly effective for mental health</a:t>
            </a:r>
          </a:p>
          <a:p>
            <a:pPr>
              <a:spcBef>
                <a:spcPts val="400"/>
              </a:spcBef>
            </a:pPr>
            <a:r>
              <a:rPr sz="1700">
                <a:solidFill>
                  <a:srgbClr val="F0F0F0"/>
                </a:solidFill>
              </a:rPr>
              <a:t>• Running: Parkrun and mental health running groups</a:t>
            </a:r>
          </a:p>
          <a:p>
            <a:pPr>
              <a:spcBef>
                <a:spcPts val="400"/>
              </a:spcBef>
            </a:pPr>
            <a:r>
              <a:rPr sz="1700">
                <a:solidFill>
                  <a:srgbClr val="F0F0F0"/>
                </a:solidFill>
              </a:rPr>
              <a:t>• Cycling: cycling groups and social prescribing to cycling programmes</a:t>
            </a:r>
          </a:p>
          <a:p>
            <a:pPr>
              <a:spcBef>
                <a:spcPts val="400"/>
              </a:spcBef>
            </a:pPr>
            <a:r>
              <a:rPr sz="1700">
                <a:solidFill>
                  <a:srgbClr val="F0F0F0"/>
                </a:solidFill>
              </a:rPr>
              <a:t>• Swimming: low-impact, accessible and effective for depression and anxiety</a:t>
            </a:r>
          </a:p>
          <a:p>
            <a:pPr>
              <a:spcBef>
                <a:spcPts val="400"/>
              </a:spcBef>
            </a:pPr>
            <a:r>
              <a:rPr sz="1700">
                <a:solidFill>
                  <a:srgbClr val="F0F0F0"/>
                </a:solidFill>
              </a:rPr>
              <a:t>• Yoga and mindful movement: combining physical activity with mindfulness</a:t>
            </a:r>
          </a:p>
          <a:p>
            <a:pPr>
              <a:spcBef>
                <a:spcPts val="400"/>
              </a:spcBef>
            </a:pPr>
            <a:r>
              <a:rPr sz="1700">
                <a:solidFill>
                  <a:srgbClr val="F0F0F0"/>
                </a:solidFill>
              </a:rPr>
              <a:t>• Green social prescribing: nature-based activities (gardening, walking, conservation)</a:t>
            </a:r>
          </a:p>
          <a:p>
            <a:pPr>
              <a:spcBef>
                <a:spcPts val="400"/>
              </a:spcBef>
            </a:pPr>
            <a:r>
              <a:rPr sz="1700">
                <a:solidFill>
                  <a:srgbClr val="F0F0F0"/>
                </a:solidFill>
              </a:rPr>
              <a:t>• Peer support: exercise groups for people with mental health conditions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Physical activity planning: Participants create a personal physical activity plan — identifying activities they enjoy, barriers they face and strategies to overcome them. Discuss: What role does exercise play in your mental health? What one activity could you start this week?</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exercise affect your mood and mental health?</a:t>
            </a:r>
          </a:p>
          <a:p>
            <a:pPr>
              <a:spcBef>
                <a:spcPts val="400"/>
              </a:spcBef>
            </a:pPr>
            <a:r>
              <a:rPr sz="1700">
                <a:solidFill>
                  <a:srgbClr val="F0F0F0"/>
                </a:solidFill>
              </a:rPr>
              <a:t>• What barriers prevent people with mental health conditions from exercising?</a:t>
            </a:r>
          </a:p>
          <a:p>
            <a:pPr>
              <a:spcBef>
                <a:spcPts val="400"/>
              </a:spcBef>
            </a:pPr>
            <a:r>
              <a:rPr sz="1700">
                <a:solidFill>
                  <a:srgbClr val="F0F0F0"/>
                </a:solidFill>
              </a:rPr>
              <a:t>• How can we make exercise more accessible and enjoyable for people with mental health problems?</a:t>
            </a:r>
          </a:p>
          <a:p>
            <a:pPr>
              <a:spcBef>
                <a:spcPts val="400"/>
              </a:spcBef>
            </a:pPr>
            <a:r>
              <a:rPr sz="1700">
                <a:solidFill>
                  <a:srgbClr val="F0F0F0"/>
                </a:solidFill>
              </a:rPr>
              <a:t>• What is green social prescribing and how does it work?</a:t>
            </a:r>
          </a:p>
          <a:p>
            <a:pPr>
              <a:spcBef>
                <a:spcPts val="400"/>
              </a:spcBef>
            </a:pPr>
            <a:r>
              <a:rPr sz="1700">
                <a:solidFill>
                  <a:srgbClr val="F0F0F0"/>
                </a:solidFill>
              </a:rPr>
              <a:t>• What exercise and physical activity resources are available in Melksham?</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Mind UK: Exercise and mental health (mind.org.uk)</a:t>
            </a:r>
          </a:p>
          <a:p>
            <a:pPr>
              <a:spcBef>
                <a:spcPts val="400"/>
              </a:spcBef>
            </a:pPr>
            <a:r>
              <a:rPr sz="1400">
                <a:solidFill>
                  <a:srgbClr val="F0F0F0"/>
                </a:solidFill>
              </a:rPr>
              <a:t>• NHS: Exercise for depression (nhs.uk)</a:t>
            </a:r>
          </a:p>
          <a:p>
            <a:pPr>
              <a:spcBef>
                <a:spcPts val="400"/>
              </a:spcBef>
            </a:pPr>
            <a:r>
              <a:rPr sz="1400">
                <a:solidFill>
                  <a:srgbClr val="F0F0F0"/>
                </a:solidFill>
              </a:rPr>
              <a:t>• Parkrun: parkrun.org.uk (free, weekly 5k runs)</a:t>
            </a:r>
          </a:p>
          <a:p>
            <a:pPr>
              <a:spcBef>
                <a:spcPts val="400"/>
              </a:spcBef>
            </a:pPr>
            <a:r>
              <a:rPr sz="1400">
                <a:solidFill>
                  <a:srgbClr val="F0F0F0"/>
                </a:solidFill>
              </a:rPr>
              <a:t>• Sport England: sportengland.org</a:t>
            </a:r>
          </a:p>
          <a:p>
            <a:pPr>
              <a:spcBef>
                <a:spcPts val="400"/>
              </a:spcBef>
            </a:pPr>
            <a:r>
              <a:rPr sz="1400">
                <a:solidFill>
                  <a:srgbClr val="F0F0F0"/>
                </a:solidFill>
              </a:rPr>
              <a:t>• Wiltshire Sport: wiltshiresport.org</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43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Exercise and Physical Health in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43: Exercise and Physical Health in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
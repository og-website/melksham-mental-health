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34</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Mental Health in Older Adults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Mental health problems in older adults are common but frequently overlooked, misdiagnosed or attributed to 'normal ageing'. This module explores depression, anxiety, loneliness and dementia in older adults, alongside the specialist services and community resources that support mental health in later life.</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prevalence of mental health problems in older adults</a:t>
            </a:r>
          </a:p>
          <a:p>
            <a:pPr>
              <a:spcBef>
                <a:spcPts val="400"/>
              </a:spcBef>
            </a:pPr>
            <a:r>
              <a:rPr sz="1700">
                <a:solidFill>
                  <a:srgbClr val="F0F0F0"/>
                </a:solidFill>
              </a:rPr>
              <a:t>• Identify the risk factors specific to older adults: bereavement, isolation, chronic illness</a:t>
            </a:r>
          </a:p>
          <a:p>
            <a:pPr>
              <a:spcBef>
                <a:spcPts val="400"/>
              </a:spcBef>
            </a:pPr>
            <a:r>
              <a:rPr sz="1700">
                <a:solidFill>
                  <a:srgbClr val="F0F0F0"/>
                </a:solidFill>
              </a:rPr>
              <a:t>• Distinguish between depression, grief and dementia in older adults</a:t>
            </a:r>
          </a:p>
          <a:p>
            <a:pPr>
              <a:spcBef>
                <a:spcPts val="400"/>
              </a:spcBef>
            </a:pPr>
            <a:r>
              <a:rPr sz="1700">
                <a:solidFill>
                  <a:srgbClr val="F0F0F0"/>
                </a:solidFill>
              </a:rPr>
              <a:t>• Explore evidence-based treatments adapted for older adults</a:t>
            </a:r>
          </a:p>
          <a:p>
            <a:pPr>
              <a:spcBef>
                <a:spcPts val="400"/>
              </a:spcBef>
            </a:pPr>
            <a:r>
              <a:rPr sz="1700">
                <a:solidFill>
                  <a:srgbClr val="F0F0F0"/>
                </a:solidFill>
              </a:rPr>
              <a:t>• Develop skills for communicating sensitively with older adults about mental health</a:t>
            </a:r>
          </a:p>
          <a:p>
            <a:pPr>
              <a:spcBef>
                <a:spcPts val="400"/>
              </a:spcBef>
            </a:pPr>
            <a:r>
              <a:rPr sz="1700">
                <a:solidFill>
                  <a:srgbClr val="F0F0F0"/>
                </a:solidFill>
              </a:rPr>
              <a:t>• Know the specialist services and community resources available in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34: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Prevalence: 1 in 5 older adults experience depression or anxiety</a:t>
            </a:r>
          </a:p>
          <a:p>
            <a:pPr>
              <a:spcBef>
                <a:spcPts val="400"/>
              </a:spcBef>
            </a:pPr>
            <a:r>
              <a:rPr sz="1700">
                <a:solidFill>
                  <a:srgbClr val="F0F0F0"/>
                </a:solidFill>
              </a:rPr>
              <a:t>• Risk factors: bereavement, social isolation, chronic illness, disability, retirement</a:t>
            </a:r>
          </a:p>
          <a:p>
            <a:pPr>
              <a:spcBef>
                <a:spcPts val="400"/>
              </a:spcBef>
            </a:pPr>
            <a:r>
              <a:rPr sz="1700">
                <a:solidFill>
                  <a:srgbClr val="F0F0F0"/>
                </a:solidFill>
              </a:rPr>
              <a:t>• Depression in older adults: often presents with somatic symptoms rather than low mood</a:t>
            </a:r>
          </a:p>
          <a:p>
            <a:pPr>
              <a:spcBef>
                <a:spcPts val="400"/>
              </a:spcBef>
            </a:pPr>
            <a:r>
              <a:rPr sz="1700">
                <a:solidFill>
                  <a:srgbClr val="F0F0F0"/>
                </a:solidFill>
              </a:rPr>
              <a:t>• Anxiety in older adults: health anxiety, generalised anxiety, phobias</a:t>
            </a:r>
          </a:p>
          <a:p>
            <a:pPr>
              <a:spcBef>
                <a:spcPts val="400"/>
              </a:spcBef>
            </a:pPr>
            <a:r>
              <a:rPr sz="1700">
                <a:solidFill>
                  <a:srgbClr val="F0F0F0"/>
                </a:solidFill>
              </a:rPr>
              <a:t>• Dementia and depression: frequently co-occurring and mutually exacerbating</a:t>
            </a:r>
          </a:p>
          <a:p>
            <a:pPr>
              <a:spcBef>
                <a:spcPts val="400"/>
              </a:spcBef>
            </a:pPr>
            <a:r>
              <a:rPr sz="1700">
                <a:solidFill>
                  <a:srgbClr val="F0F0F0"/>
                </a:solidFill>
              </a:rPr>
              <a:t>• Ageism: how negative attitudes toward ageing affect mental health care</a:t>
            </a:r>
          </a:p>
          <a:p>
            <a:pPr>
              <a:spcBef>
                <a:spcPts val="400"/>
              </a:spcBef>
            </a:pPr>
            <a:r>
              <a:rPr sz="1700">
                <a:solidFill>
                  <a:srgbClr val="F0F0F0"/>
                </a:solidFill>
              </a:rPr>
              <a:t>• Age-appropriate adaptations: slower pace, sensory needs, life review therapy</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1 in 5 older adults experience depression or anxiety (Age UK, 2023)</a:t>
            </a:r>
          </a:p>
          <a:p>
            <a:pPr>
              <a:spcBef>
                <a:spcPts val="400"/>
              </a:spcBef>
            </a:pPr>
            <a:r>
              <a:rPr sz="1700">
                <a:solidFill>
                  <a:srgbClr val="F0F0F0"/>
                </a:solidFill>
              </a:rPr>
              <a:t>• Only 1 in 6 older adults with depression receive treatment (NHS England)</a:t>
            </a:r>
          </a:p>
          <a:p>
            <a:pPr>
              <a:spcBef>
                <a:spcPts val="400"/>
              </a:spcBef>
            </a:pPr>
            <a:r>
              <a:rPr sz="1700">
                <a:solidFill>
                  <a:srgbClr val="F0F0F0"/>
                </a:solidFill>
              </a:rPr>
              <a:t>• Loneliness affects 3.9 million older adults in England (Age UK, 2023)</a:t>
            </a:r>
          </a:p>
          <a:p>
            <a:pPr>
              <a:spcBef>
                <a:spcPts val="400"/>
              </a:spcBef>
            </a:pPr>
            <a:r>
              <a:rPr sz="1700">
                <a:solidFill>
                  <a:srgbClr val="F0F0F0"/>
                </a:solidFill>
              </a:rPr>
              <a:t>• Suicide rates are highest in men aged 50–54 in the UK (ONS, 2022)</a:t>
            </a:r>
          </a:p>
          <a:p>
            <a:pPr>
              <a:spcBef>
                <a:spcPts val="400"/>
              </a:spcBef>
            </a:pPr>
            <a:r>
              <a:rPr sz="1700">
                <a:solidFill>
                  <a:srgbClr val="F0F0F0"/>
                </a:solidFill>
              </a:rPr>
              <a:t>• Dementia affects 900,000 people in the UK; 70% are over 75</a:t>
            </a:r>
          </a:p>
          <a:p>
            <a:pPr>
              <a:spcBef>
                <a:spcPts val="400"/>
              </a:spcBef>
            </a:pPr>
            <a:r>
              <a:rPr sz="1700">
                <a:solidFill>
                  <a:srgbClr val="F0F0F0"/>
                </a:solidFill>
              </a:rPr>
              <a:t>• Social isolation increases risk of dementia by 50% (Livingston et al., 2020)</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CBT adapted for older adults is effective for depression and anxiety</a:t>
            </a:r>
          </a:p>
          <a:p>
            <a:pPr>
              <a:spcBef>
                <a:spcPts val="400"/>
              </a:spcBef>
            </a:pPr>
            <a:r>
              <a:rPr sz="1700">
                <a:solidFill>
                  <a:srgbClr val="F0F0F0"/>
                </a:solidFill>
              </a:rPr>
              <a:t>• Life review therapy improves wellbeing and reduces depression in older adults</a:t>
            </a:r>
          </a:p>
          <a:p>
            <a:pPr>
              <a:spcBef>
                <a:spcPts val="400"/>
              </a:spcBef>
            </a:pPr>
            <a:r>
              <a:rPr sz="1700">
                <a:solidFill>
                  <a:srgbClr val="F0F0F0"/>
                </a:solidFill>
              </a:rPr>
              <a:t>• Social prescribing significantly reduces loneliness and depression in older adults</a:t>
            </a:r>
          </a:p>
          <a:p>
            <a:pPr>
              <a:spcBef>
                <a:spcPts val="400"/>
              </a:spcBef>
            </a:pPr>
            <a:r>
              <a:rPr sz="1700">
                <a:solidFill>
                  <a:srgbClr val="F0F0F0"/>
                </a:solidFill>
              </a:rPr>
              <a:t>• Exercise reduces depression and dementia risk in older adults</a:t>
            </a:r>
          </a:p>
          <a:p>
            <a:pPr>
              <a:spcBef>
                <a:spcPts val="400"/>
              </a:spcBef>
            </a:pPr>
            <a:r>
              <a:rPr sz="1700">
                <a:solidFill>
                  <a:srgbClr val="F0F0F0"/>
                </a:solidFill>
              </a:rPr>
              <a:t>• Befriending programmes are effective for reducing loneliness</a:t>
            </a:r>
          </a:p>
          <a:p>
            <a:pPr>
              <a:spcBef>
                <a:spcPts val="400"/>
              </a:spcBef>
            </a:pPr>
            <a:r>
              <a:rPr sz="1700">
                <a:solidFill>
                  <a:srgbClr val="F0F0F0"/>
                </a:solidFill>
              </a:rPr>
              <a:t>• Collaborative care models improve mental health outcomes in older adults with chronic illness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Dorothy, 78, lost her husband and moved to a smaller flat in the same year. She became increasingly withdrawn, stopped eating properly and told her GP she 'didn't see the point'. Her GP recognised depression rather than 'normal grief' and referred Dorothy to an older adult mental health service. Dorothy began life review therapy and was connected with a befriending service. She joined a local walking group and began volunteering at a charity shop. Her depression resolved within six months.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Life review therapy: reflecting on life experiences to find meaning and acceptance</a:t>
            </a:r>
          </a:p>
          <a:p>
            <a:pPr>
              <a:spcBef>
                <a:spcPts val="400"/>
              </a:spcBef>
            </a:pPr>
            <a:r>
              <a:rPr sz="1700">
                <a:solidFill>
                  <a:srgbClr val="F0F0F0"/>
                </a:solidFill>
              </a:rPr>
              <a:t>• CBT adapted for older adults: slower pace, written materials, sensory adaptations</a:t>
            </a:r>
          </a:p>
          <a:p>
            <a:pPr>
              <a:spcBef>
                <a:spcPts val="400"/>
              </a:spcBef>
            </a:pPr>
            <a:r>
              <a:rPr sz="1700">
                <a:solidFill>
                  <a:srgbClr val="F0F0F0"/>
                </a:solidFill>
              </a:rPr>
              <a:t>• Social prescribing: connecting older adults to community activities and support</a:t>
            </a:r>
          </a:p>
          <a:p>
            <a:pPr>
              <a:spcBef>
                <a:spcPts val="400"/>
              </a:spcBef>
            </a:pPr>
            <a:r>
              <a:rPr sz="1700">
                <a:solidFill>
                  <a:srgbClr val="F0F0F0"/>
                </a:solidFill>
              </a:rPr>
              <a:t>• Befriending programmes: regular contact with a trained volunteer</a:t>
            </a:r>
          </a:p>
          <a:p>
            <a:pPr>
              <a:spcBef>
                <a:spcPts val="400"/>
              </a:spcBef>
            </a:pPr>
            <a:r>
              <a:rPr sz="1700">
                <a:solidFill>
                  <a:srgbClr val="F0F0F0"/>
                </a:solidFill>
              </a:rPr>
              <a:t>• Exercise: walking groups, chair yoga, swimming — effective for depression and dementia risk</a:t>
            </a:r>
          </a:p>
          <a:p>
            <a:pPr>
              <a:spcBef>
                <a:spcPts val="400"/>
              </a:spcBef>
            </a:pPr>
            <a:r>
              <a:rPr sz="1700">
                <a:solidFill>
                  <a:srgbClr val="F0F0F0"/>
                </a:solidFill>
              </a:rPr>
              <a:t>• Reminiscence therapy: using memories to improve wellbeing and social connection</a:t>
            </a:r>
          </a:p>
          <a:p>
            <a:pPr>
              <a:spcBef>
                <a:spcPts val="400"/>
              </a:spcBef>
            </a:pPr>
            <a:r>
              <a:rPr sz="1700">
                <a:solidFill>
                  <a:srgbClr val="F0F0F0"/>
                </a:solidFill>
              </a:rPr>
              <a:t>• Crisis support: Samaritans 116 123, NHS 111, emergency services 999</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Life review activity: Participants reflect on a significant achievement or positive memory from their life. Discuss: How does reflecting on life experiences affect wellbeing? How can life review therapy support older adults with depression?</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ageism affect mental health care for older adults?</a:t>
            </a:r>
          </a:p>
          <a:p>
            <a:pPr>
              <a:spcBef>
                <a:spcPts val="400"/>
              </a:spcBef>
            </a:pPr>
            <a:r>
              <a:rPr sz="1700">
                <a:solidFill>
                  <a:srgbClr val="F0F0F0"/>
                </a:solidFill>
              </a:rPr>
              <a:t>• What is the difference between depression and 'normal' sadness in older age?</a:t>
            </a:r>
          </a:p>
          <a:p>
            <a:pPr>
              <a:spcBef>
                <a:spcPts val="400"/>
              </a:spcBef>
            </a:pPr>
            <a:r>
              <a:rPr sz="1700">
                <a:solidFill>
                  <a:srgbClr val="F0F0F0"/>
                </a:solidFill>
              </a:rPr>
              <a:t>• How can we communicate sensitively about mental health with older adults?</a:t>
            </a:r>
          </a:p>
          <a:p>
            <a:pPr>
              <a:spcBef>
                <a:spcPts val="400"/>
              </a:spcBef>
            </a:pPr>
            <a:r>
              <a:rPr sz="1700">
                <a:solidFill>
                  <a:srgbClr val="F0F0F0"/>
                </a:solidFill>
              </a:rPr>
              <a:t>• What community resources support older adults' mental health in Melksham?</a:t>
            </a:r>
          </a:p>
          <a:p>
            <a:pPr>
              <a:spcBef>
                <a:spcPts val="400"/>
              </a:spcBef>
            </a:pPr>
            <a:r>
              <a:rPr sz="1700">
                <a:solidFill>
                  <a:srgbClr val="F0F0F0"/>
                </a:solidFill>
              </a:rPr>
              <a:t>• What specialist older adult mental health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Age UK: ageuk.org.uk / 0800 678 1602</a:t>
            </a:r>
          </a:p>
          <a:p>
            <a:pPr>
              <a:spcBef>
                <a:spcPts val="400"/>
              </a:spcBef>
            </a:pPr>
            <a:r>
              <a:rPr sz="1400">
                <a:solidFill>
                  <a:srgbClr val="F0F0F0"/>
                </a:solidFill>
              </a:rPr>
              <a:t>• Mind UK: Older people and mental health (mind.org.uk)</a:t>
            </a:r>
          </a:p>
          <a:p>
            <a:pPr>
              <a:spcBef>
                <a:spcPts val="400"/>
              </a:spcBef>
            </a:pPr>
            <a:r>
              <a:rPr sz="1400">
                <a:solidFill>
                  <a:srgbClr val="F0F0F0"/>
                </a:solidFill>
              </a:rPr>
              <a:t>• NHS: Mental health in older adults (nhs.uk)</a:t>
            </a:r>
          </a:p>
          <a:p>
            <a:pPr>
              <a:spcBef>
                <a:spcPts val="400"/>
              </a:spcBef>
            </a:pPr>
            <a:r>
              <a:rPr sz="1400">
                <a:solidFill>
                  <a:srgbClr val="F0F0F0"/>
                </a:solidFill>
              </a:rPr>
              <a:t>• Alzheimer's Society: alzheimers.org.uk / 0333 150 3456</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34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Mental Health in Older Adults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34: Mental Health in Older Adults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
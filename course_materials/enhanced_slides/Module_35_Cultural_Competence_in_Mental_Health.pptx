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35</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Cultural Competence in Mental Health</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Mental health is shaped by cultural context, and culturally competent care is essential for equitable outcomes. This module explores how culture influences the experience, expression and treatment of mental health problems, and provides frameworks for delivering culturally sensitive and anti-racist mental health support.</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Define cultural competence and understand its importance in mental health care</a:t>
            </a:r>
          </a:p>
          <a:p>
            <a:pPr>
              <a:spcBef>
                <a:spcPts val="400"/>
              </a:spcBef>
            </a:pPr>
            <a:r>
              <a:rPr sz="1700">
                <a:solidFill>
                  <a:srgbClr val="F0F0F0"/>
                </a:solidFill>
              </a:rPr>
              <a:t>• Explore how culture shapes the experience and expression of mental health</a:t>
            </a:r>
          </a:p>
          <a:p>
            <a:pPr>
              <a:spcBef>
                <a:spcPts val="400"/>
              </a:spcBef>
            </a:pPr>
            <a:r>
              <a:rPr sz="1700">
                <a:solidFill>
                  <a:srgbClr val="F0F0F0"/>
                </a:solidFill>
              </a:rPr>
              <a:t>• Understand the mental health inequalities experienced by Black, Asian and minority ethnic communities</a:t>
            </a:r>
          </a:p>
          <a:p>
            <a:pPr>
              <a:spcBef>
                <a:spcPts val="400"/>
              </a:spcBef>
            </a:pPr>
            <a:r>
              <a:rPr sz="1700">
                <a:solidFill>
                  <a:srgbClr val="F0F0F0"/>
                </a:solidFill>
              </a:rPr>
              <a:t>• Develop skills for culturally sensitive assessment and communication</a:t>
            </a:r>
          </a:p>
          <a:p>
            <a:pPr>
              <a:spcBef>
                <a:spcPts val="400"/>
              </a:spcBef>
            </a:pPr>
            <a:r>
              <a:rPr sz="1700">
                <a:solidFill>
                  <a:srgbClr val="F0F0F0"/>
                </a:solidFill>
              </a:rPr>
              <a:t>• Explore anti-racist practice in mental health</a:t>
            </a:r>
          </a:p>
          <a:p>
            <a:pPr>
              <a:spcBef>
                <a:spcPts val="400"/>
              </a:spcBef>
            </a:pPr>
            <a:r>
              <a:rPr sz="1700">
                <a:solidFill>
                  <a:srgbClr val="F0F0F0"/>
                </a:solidFill>
              </a:rPr>
              <a:t>• Know the culturally specific mental health resources available in Wiltshire</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35: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Cultural competence: the ability to understand, communicate with and effectively interact with people across cultures</a:t>
            </a:r>
          </a:p>
          <a:p>
            <a:pPr>
              <a:spcBef>
                <a:spcPts val="400"/>
              </a:spcBef>
            </a:pPr>
            <a:r>
              <a:rPr sz="1700">
                <a:solidFill>
                  <a:srgbClr val="F0F0F0"/>
                </a:solidFill>
              </a:rPr>
              <a:t>• Culture and mental health: how culture shapes symptom expression, help-seeking and treatment</a:t>
            </a:r>
          </a:p>
          <a:p>
            <a:pPr>
              <a:spcBef>
                <a:spcPts val="400"/>
              </a:spcBef>
            </a:pPr>
            <a:r>
              <a:rPr sz="1700">
                <a:solidFill>
                  <a:srgbClr val="F0F0F0"/>
                </a:solidFill>
              </a:rPr>
              <a:t>• Somatic presentations: physical symptoms as expressions of psychological distress in many cultures</a:t>
            </a:r>
          </a:p>
          <a:p>
            <a:pPr>
              <a:spcBef>
                <a:spcPts val="400"/>
              </a:spcBef>
            </a:pPr>
            <a:r>
              <a:rPr sz="1700">
                <a:solidFill>
                  <a:srgbClr val="F0F0F0"/>
                </a:solidFill>
              </a:rPr>
              <a:t>• Stigma: how cultural beliefs about mental illness affect help-seeking</a:t>
            </a:r>
          </a:p>
          <a:p>
            <a:pPr>
              <a:spcBef>
                <a:spcPts val="400"/>
              </a:spcBef>
            </a:pPr>
            <a:r>
              <a:rPr sz="1700">
                <a:solidFill>
                  <a:srgbClr val="F0F0F0"/>
                </a:solidFill>
              </a:rPr>
              <a:t>• Mental health inequalities: Black men are 10 times more likely to be detained under the MHA</a:t>
            </a:r>
          </a:p>
          <a:p>
            <a:pPr>
              <a:spcBef>
                <a:spcPts val="400"/>
              </a:spcBef>
            </a:pPr>
            <a:r>
              <a:rPr sz="1700">
                <a:solidFill>
                  <a:srgbClr val="F0F0F0"/>
                </a:solidFill>
              </a:rPr>
              <a:t>• Anti-racist practice: addressing systemic racism in mental health services</a:t>
            </a:r>
          </a:p>
          <a:p>
            <a:pPr>
              <a:spcBef>
                <a:spcPts val="400"/>
              </a:spcBef>
            </a:pPr>
            <a:r>
              <a:rPr sz="1700">
                <a:solidFill>
                  <a:srgbClr val="F0F0F0"/>
                </a:solidFill>
              </a:rPr>
              <a:t>• Culturally adapted therapies: CBT adapted for specific cultural contexts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Black men are 10 times more likely to be detained under the Mental Health Act than white men</a:t>
            </a:r>
          </a:p>
          <a:p>
            <a:pPr>
              <a:spcBef>
                <a:spcPts val="400"/>
              </a:spcBef>
            </a:pPr>
            <a:r>
              <a:rPr sz="1700">
                <a:solidFill>
                  <a:srgbClr val="F0F0F0"/>
                </a:solidFill>
              </a:rPr>
              <a:t>• Black Caribbean people are 3–5 times more likely to be diagnosed with schizophrenia</a:t>
            </a:r>
          </a:p>
          <a:p>
            <a:pPr>
              <a:spcBef>
                <a:spcPts val="400"/>
              </a:spcBef>
            </a:pPr>
            <a:r>
              <a:rPr sz="1700">
                <a:solidFill>
                  <a:srgbClr val="F0F0F0"/>
                </a:solidFill>
              </a:rPr>
              <a:t>• Asylum seekers and refugees: 40% experience PTSD, depression or anxiety</a:t>
            </a:r>
          </a:p>
          <a:p>
            <a:pPr>
              <a:spcBef>
                <a:spcPts val="400"/>
              </a:spcBef>
            </a:pPr>
            <a:r>
              <a:rPr sz="1700">
                <a:solidFill>
                  <a:srgbClr val="F0F0F0"/>
                </a:solidFill>
              </a:rPr>
              <a:t>• Only 10% of BAME communities access talking therapies (NHS England, 2023)</a:t>
            </a:r>
          </a:p>
          <a:p>
            <a:pPr>
              <a:spcBef>
                <a:spcPts val="400"/>
              </a:spcBef>
            </a:pPr>
            <a:r>
              <a:rPr sz="1700">
                <a:solidFill>
                  <a:srgbClr val="F0F0F0"/>
                </a:solidFill>
              </a:rPr>
              <a:t>• Cultural stigma prevents 70% of South Asian people with mental health problems from seeking help</a:t>
            </a:r>
          </a:p>
          <a:p>
            <a:pPr>
              <a:spcBef>
                <a:spcPts val="400"/>
              </a:spcBef>
            </a:pPr>
            <a:r>
              <a:rPr sz="1700">
                <a:solidFill>
                  <a:srgbClr val="F0F0F0"/>
                </a:solidFill>
              </a:rPr>
              <a:t>• LGBTQIA+ people are 2–3 times more likely to experience mental health problems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Culturally adapted CBT significantly improves outcomes for BAME communities</a:t>
            </a:r>
          </a:p>
          <a:p>
            <a:pPr>
              <a:spcBef>
                <a:spcPts val="400"/>
              </a:spcBef>
            </a:pPr>
            <a:r>
              <a:rPr sz="1700">
                <a:solidFill>
                  <a:srgbClr val="F0F0F0"/>
                </a:solidFill>
              </a:rPr>
              <a:t>• Cultural formulation interviews improve diagnostic accuracy across cultures</a:t>
            </a:r>
          </a:p>
          <a:p>
            <a:pPr>
              <a:spcBef>
                <a:spcPts val="400"/>
              </a:spcBef>
            </a:pPr>
            <a:r>
              <a:rPr sz="1700">
                <a:solidFill>
                  <a:srgbClr val="F0F0F0"/>
                </a:solidFill>
              </a:rPr>
              <a:t>• Anti-racist training for mental health professionals improves care quality</a:t>
            </a:r>
          </a:p>
          <a:p>
            <a:pPr>
              <a:spcBef>
                <a:spcPts val="400"/>
              </a:spcBef>
            </a:pPr>
            <a:r>
              <a:rPr sz="1700">
                <a:solidFill>
                  <a:srgbClr val="F0F0F0"/>
                </a:solidFill>
              </a:rPr>
              <a:t>• Community-based mental health services improve access for marginalised communities</a:t>
            </a:r>
          </a:p>
          <a:p>
            <a:pPr>
              <a:spcBef>
                <a:spcPts val="400"/>
              </a:spcBef>
            </a:pPr>
            <a:r>
              <a:rPr sz="1700">
                <a:solidFill>
                  <a:srgbClr val="F0F0F0"/>
                </a:solidFill>
              </a:rPr>
              <a:t>• Peer support from people with shared cultural backgrounds improves engagement</a:t>
            </a:r>
          </a:p>
          <a:p>
            <a:pPr>
              <a:spcBef>
                <a:spcPts val="400"/>
              </a:spcBef>
            </a:pPr>
            <a:r>
              <a:rPr sz="1700">
                <a:solidFill>
                  <a:srgbClr val="F0F0F0"/>
                </a:solidFill>
              </a:rPr>
              <a:t>• Trauma-informed, anti-racist practice is essential for working with refugees and asylum seekers</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Amara, 29, a British-Nigerian woman, experienced depression but was reluctant to seek help due to cultural stigma in her community. She presented to her GP with physical symptoms — headaches and fatigue — rather than low mood. Her GP, trained in cultural competence, gently explored her emotional wellbeing and referred her to a culturally adapted CBT service. Amara found it helpful to work with a therapist who understood her cultural context and did not pathologise her family values.</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Cultural formulation interviews: understanding the cultural context of distress</a:t>
            </a:r>
          </a:p>
          <a:p>
            <a:pPr>
              <a:spcBef>
                <a:spcPts val="400"/>
              </a:spcBef>
            </a:pPr>
            <a:r>
              <a:rPr sz="1700">
                <a:solidFill>
                  <a:srgbClr val="F0F0F0"/>
                </a:solidFill>
              </a:rPr>
              <a:t>• Culturally adapted CBT: adapting therapy to cultural values and beliefs</a:t>
            </a:r>
          </a:p>
          <a:p>
            <a:pPr>
              <a:spcBef>
                <a:spcPts val="400"/>
              </a:spcBef>
            </a:pPr>
            <a:r>
              <a:rPr sz="1700">
                <a:solidFill>
                  <a:srgbClr val="F0F0F0"/>
                </a:solidFill>
              </a:rPr>
              <a:t>• Community-based mental health services: reaching marginalised communities</a:t>
            </a:r>
          </a:p>
          <a:p>
            <a:pPr>
              <a:spcBef>
                <a:spcPts val="400"/>
              </a:spcBef>
            </a:pPr>
            <a:r>
              <a:rPr sz="1700">
                <a:solidFill>
                  <a:srgbClr val="F0F0F0"/>
                </a:solidFill>
              </a:rPr>
              <a:t>• Peer support: shared cultural background and lived experience</a:t>
            </a:r>
          </a:p>
          <a:p>
            <a:pPr>
              <a:spcBef>
                <a:spcPts val="400"/>
              </a:spcBef>
            </a:pPr>
            <a:r>
              <a:rPr sz="1700">
                <a:solidFill>
                  <a:srgbClr val="F0F0F0"/>
                </a:solidFill>
              </a:rPr>
              <a:t>• Anti-racist practice: challenging systemic racism in mental health services</a:t>
            </a:r>
          </a:p>
          <a:p>
            <a:pPr>
              <a:spcBef>
                <a:spcPts val="400"/>
              </a:spcBef>
            </a:pPr>
            <a:r>
              <a:rPr sz="1700">
                <a:solidFill>
                  <a:srgbClr val="F0F0F0"/>
                </a:solidFill>
              </a:rPr>
              <a:t>• Interpreter services: professional interpreters for non-English speakers</a:t>
            </a:r>
          </a:p>
          <a:p>
            <a:pPr>
              <a:spcBef>
                <a:spcPts val="400"/>
              </a:spcBef>
            </a:pPr>
            <a:r>
              <a:rPr sz="1700">
                <a:solidFill>
                  <a:srgbClr val="F0F0F0"/>
                </a:solidFill>
              </a:rPr>
              <a:t>• Culturally specific resources: BAME mental health organisations and community groups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Cultural reflection exercise: Participants reflect on how their own cultural background shapes their understanding of mental health. Discuss: What cultural beliefs or values influence how you think about mental health? How might these differ from the people you support?</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How does culture shape the way people experience and express mental health problems?</a:t>
            </a:r>
          </a:p>
          <a:p>
            <a:pPr>
              <a:spcBef>
                <a:spcPts val="400"/>
              </a:spcBef>
            </a:pPr>
            <a:r>
              <a:rPr sz="1700">
                <a:solidFill>
                  <a:srgbClr val="F0F0F0"/>
                </a:solidFill>
              </a:rPr>
              <a:t>• What mental health inequalities do BAME communities face in the UK?</a:t>
            </a:r>
          </a:p>
          <a:p>
            <a:pPr>
              <a:spcBef>
                <a:spcPts val="400"/>
              </a:spcBef>
            </a:pPr>
            <a:r>
              <a:rPr sz="1700">
                <a:solidFill>
                  <a:srgbClr val="F0F0F0"/>
                </a:solidFill>
              </a:rPr>
              <a:t>• How can we provide culturally sensitive mental health support?</a:t>
            </a:r>
          </a:p>
          <a:p>
            <a:pPr>
              <a:spcBef>
                <a:spcPts val="400"/>
              </a:spcBef>
            </a:pPr>
            <a:r>
              <a:rPr sz="1700">
                <a:solidFill>
                  <a:srgbClr val="F0F0F0"/>
                </a:solidFill>
              </a:rPr>
              <a:t>• What is anti-racist practice in mental health — and why does it matter?</a:t>
            </a:r>
          </a:p>
          <a:p>
            <a:pPr>
              <a:spcBef>
                <a:spcPts val="400"/>
              </a:spcBef>
            </a:pPr>
            <a:r>
              <a:rPr sz="1700">
                <a:solidFill>
                  <a:srgbClr val="F0F0F0"/>
                </a:solidFill>
              </a:rPr>
              <a:t>• What culturally specific mental health resources are available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NHS England: Advancing mental health equalities (england.nhs.uk)</a:t>
            </a:r>
          </a:p>
          <a:p>
            <a:pPr>
              <a:spcBef>
                <a:spcPts val="400"/>
              </a:spcBef>
            </a:pPr>
            <a:r>
              <a:rPr sz="1400">
                <a:solidFill>
                  <a:srgbClr val="F0F0F0"/>
                </a:solidFill>
              </a:rPr>
              <a:t>• Mind UK: Black, Asian and minority ethnic (BAME) communities (mind.org.uk)</a:t>
            </a:r>
          </a:p>
          <a:p>
            <a:pPr>
              <a:spcBef>
                <a:spcPts val="400"/>
              </a:spcBef>
            </a:pPr>
            <a:r>
              <a:rPr sz="1400">
                <a:solidFill>
                  <a:srgbClr val="F0F0F0"/>
                </a:solidFill>
              </a:rPr>
              <a:t>• Rethink Mental Illness: rethink.org</a:t>
            </a:r>
          </a:p>
          <a:p>
            <a:pPr>
              <a:spcBef>
                <a:spcPts val="400"/>
              </a:spcBef>
            </a:pPr>
            <a:r>
              <a:rPr sz="1400">
                <a:solidFill>
                  <a:srgbClr val="F0F0F0"/>
                </a:solidFill>
              </a:rPr>
              <a:t>• Mental Health Foundation: mentalhealth.org.uk</a:t>
            </a:r>
          </a:p>
          <a:p>
            <a:pPr>
              <a:spcBef>
                <a:spcPts val="400"/>
              </a:spcBef>
            </a:pPr>
            <a:r>
              <a:rPr sz="1400">
                <a:solidFill>
                  <a:srgbClr val="F0F0F0"/>
                </a:solidFill>
              </a:rPr>
              <a:t>• Samaritans: 116 123 (free, 24/7)</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35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Cultural Competence in Mental Health</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35: Cultural Competence in Mental Health</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
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Rectangle 3"/>
          <p:cNvSpPr/>
          <p:nvPr/>
        </p:nvSpPr>
        <p:spPr>
          <a:xfrm>
            <a:off x="0" y="0"/>
            <a:ext cx="9144000" cy="182880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00000"/>
            <a:ext cx="7589520" cy="548640"/>
          </a:xfrm>
          <a:prstGeom prst="rect">
            <a:avLst/>
          </a:prstGeom>
          <a:noFill/>
        </p:spPr>
        <p:txBody>
          <a:bodyPr wrap="square">
            <a:spAutoFit/>
          </a:bodyPr>
          <a:lstStyle/>
          <a:p>
            <a:pPr algn="l"/>
            <a:r>
              <a:rPr sz="3600" b="1" i="0">
                <a:solidFill>
                  <a:srgbClr val="1A1A1A"/>
                </a:solidFill>
              </a:rPr>
              <a:t>Module 1</a:t>
            </a:r>
          </a:p>
        </p:txBody>
      </p:sp>
      <p:sp>
        <p:nvSpPr>
          <p:cNvPr id="6" name="TextBox 5"/>
          <p:cNvSpPr txBox="1"/>
          <p:nvPr/>
        </p:nvSpPr>
        <p:spPr>
          <a:xfrm>
            <a:off x="457200" y="640080"/>
            <a:ext cx="7589520" cy="914400"/>
          </a:xfrm>
          <a:prstGeom prst="rect">
            <a:avLst/>
          </a:prstGeom>
          <a:noFill/>
        </p:spPr>
        <p:txBody>
          <a:bodyPr wrap="square">
            <a:spAutoFit/>
          </a:bodyPr>
          <a:lstStyle/>
          <a:p>
            <a:pPr algn="l"/>
            <a:r>
              <a:rPr sz="2600" b="0" i="0">
                <a:solidFill>
                  <a:srgbClr val="1A1A1A"/>
                </a:solidFill>
              </a:rPr>
              <a:t>Foundations of Mental Health</a:t>
            </a:r>
          </a:p>
        </p:txBody>
      </p:sp>
      <p:sp>
        <p:nvSpPr>
          <p:cNvPr id="7" name="TextBox 6"/>
          <p:cNvSpPr txBox="1"/>
          <p:nvPr/>
        </p:nvSpPr>
        <p:spPr>
          <a:xfrm>
            <a:off x="457200" y="2100000"/>
            <a:ext cx="8229600" cy="548640"/>
          </a:xfrm>
          <a:prstGeom prst="rect">
            <a:avLst/>
          </a:prstGeom>
          <a:noFill/>
        </p:spPr>
        <p:txBody>
          <a:bodyPr wrap="square">
            <a:spAutoFit/>
          </a:bodyPr>
          <a:lstStyle/>
          <a:p>
            <a:pPr algn="l"/>
            <a:r>
              <a:rPr sz="2000" b="1" i="0">
                <a:solidFill>
                  <a:srgbClr val="FF6B00"/>
                </a:solidFill>
              </a:rPr>
              <a:t>Melksham Mental Health — Comprehensive Course</a:t>
            </a:r>
          </a:p>
        </p:txBody>
      </p:sp>
      <p:sp>
        <p:nvSpPr>
          <p:cNvPr id="8" name="TextBox 7"/>
          <p:cNvSpPr txBox="1"/>
          <p:nvPr/>
        </p:nvSpPr>
        <p:spPr>
          <a:xfrm>
            <a:off x="457200" y="2650000"/>
            <a:ext cx="8229600" cy="457200"/>
          </a:xfrm>
          <a:prstGeom prst="rect">
            <a:avLst/>
          </a:prstGeom>
          <a:noFill/>
        </p:spPr>
        <p:txBody>
          <a:bodyPr wrap="square">
            <a:spAutoFit/>
          </a:bodyPr>
          <a:lstStyle/>
          <a:p>
            <a:pPr algn="l"/>
            <a:r>
              <a:rPr sz="1600" b="0" i="0">
                <a:solidFill>
                  <a:srgbClr val="AAAAAA"/>
                </a:solidFill>
              </a:rPr>
              <a:t>2-hour session  •  Includes 30-minute group discussion</a:t>
            </a:r>
          </a:p>
        </p:txBody>
      </p:sp>
      <p:sp>
        <p:nvSpPr>
          <p:cNvPr id="9" name="TextBox 8"/>
          <p:cNvSpPr txBox="1"/>
          <p:nvPr/>
        </p:nvSpPr>
        <p:spPr>
          <a:xfrm>
            <a:off x="457200" y="5958000"/>
            <a:ext cx="8229600" cy="457200"/>
          </a:xfrm>
          <a:prstGeom prst="rect">
            <a:avLst/>
          </a:prstGeom>
          <a:noFill/>
        </p:spPr>
        <p:txBody>
          <a:bodyPr wrap="square">
            <a:spAutoFit/>
          </a:bodyPr>
          <a:lstStyle/>
          <a:p>
            <a:pPr algn="ctr"/>
            <a:r>
              <a:rPr sz="1200" b="0" i="0">
                <a:solidFill>
                  <a:srgbClr val="AAAAAA"/>
                </a:solidFill>
              </a:rPr>
              <a:t>melksham-mentalhealth.us  |  Melksham-mental-health@outlook.com</a:t>
            </a:r>
          </a:p>
        </p:txBody>
      </p:sp>
      <p:sp>
        <p:nvSpPr>
          <p:cNvPr id="10" name="TextBox 9"/>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Session Overview</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00000"/>
            <a:ext cx="8229600" cy="1400000"/>
          </a:xfrm>
          <a:prstGeom prst="rect">
            <a:avLst/>
          </a:prstGeom>
          <a:noFill/>
        </p:spPr>
        <p:txBody>
          <a:bodyPr wrap="square">
            <a:spAutoFit/>
          </a:bodyPr>
          <a:lstStyle/>
          <a:p>
            <a:pPr algn="l"/>
            <a:r>
              <a:rPr sz="1500" b="0" i="0">
                <a:solidFill>
                  <a:srgbClr val="F0F0F0"/>
                </a:solidFill>
              </a:rPr>
              <a:t>This opening module establishes the conceptual foundations of mental health and mental illness. We explore global prevalence data, the economic and social burden of poor mental health, and the critical role of stigma reduction, self-care, and social connection.</a:t>
            </a:r>
          </a:p>
        </p:txBody>
      </p:sp>
      <p:sp>
        <p:nvSpPr>
          <p:cNvPr id="7" name="TextBox 6"/>
          <p:cNvSpPr txBox="1"/>
          <p:nvPr/>
        </p:nvSpPr>
        <p:spPr>
          <a:xfrm>
            <a:off x="457200" y="2700000"/>
            <a:ext cx="8229600" cy="3200000"/>
          </a:xfrm>
          <a:prstGeom prst="rect">
            <a:avLst/>
          </a:prstGeom>
          <a:noFill/>
        </p:spPr>
        <p:txBody>
          <a:bodyPr wrap="square">
            <a:spAutoFit/>
          </a:bodyPr>
          <a:lstStyle/>
          <a:p>
            <a:pPr>
              <a:spcBef>
                <a:spcPts val="400"/>
              </a:spcBef>
            </a:pPr>
            <a:r>
              <a:rPr sz="1700">
                <a:solidFill>
                  <a:srgbClr val="F0F0F0"/>
                </a:solidFill>
              </a:rPr>
              <a:t>• Introduction &amp; Objectives  (15 min)</a:t>
            </a:r>
          </a:p>
          <a:p>
            <a:pPr>
              <a:spcBef>
                <a:spcPts val="400"/>
              </a:spcBef>
            </a:pPr>
            <a:r>
              <a:rPr sz="1700">
                <a:solidFill>
                  <a:srgbClr val="F0F0F0"/>
                </a:solidFill>
              </a:rPr>
              <a:t>• Evidence-Based Content  (45 min)</a:t>
            </a:r>
          </a:p>
          <a:p>
            <a:pPr>
              <a:spcBef>
                <a:spcPts val="400"/>
              </a:spcBef>
            </a:pPr>
            <a:r>
              <a:rPr sz="1700">
                <a:solidFill>
                  <a:srgbClr val="F0F0F0"/>
                </a:solidFill>
              </a:rPr>
              <a:t>• Case Study  (15 min)</a:t>
            </a:r>
          </a:p>
          <a:p>
            <a:pPr>
              <a:spcBef>
                <a:spcPts val="400"/>
              </a:spcBef>
            </a:pPr>
            <a:r>
              <a:rPr sz="1700">
                <a:solidFill>
                  <a:srgbClr val="F0F0F0"/>
                </a:solidFill>
              </a:rPr>
              <a:t>• Interactive Activity  (30 min)</a:t>
            </a:r>
          </a:p>
          <a:p>
            <a:pPr>
              <a:spcBef>
                <a:spcPts val="400"/>
              </a:spcBef>
            </a:pPr>
            <a:r>
              <a:rPr sz="1700">
                <a:solidFill>
                  <a:srgbClr val="F0F0F0"/>
                </a:solidFill>
              </a:rPr>
              <a:t>• Group Discussion  (30 min)</a:t>
            </a:r>
          </a:p>
          <a:p>
            <a:pPr>
              <a:spcBef>
                <a:spcPts val="400"/>
              </a:spcBef>
            </a:pPr>
            <a:r>
              <a:rPr sz="1700">
                <a:solidFill>
                  <a:srgbClr val="F0F0F0"/>
                </a:solidFill>
              </a:rPr>
              <a:t>• Wrap-Up &amp; Resources  (15 min)</a:t>
            </a:r>
          </a:p>
        </p:txBody>
      </p:sp>
      <p:sp>
        <p:nvSpPr>
          <p:cNvPr id="8" name="TextBox 7"/>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Learning Objectives</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4800000"/>
          </a:xfrm>
          <a:prstGeom prst="rect">
            <a:avLst/>
          </a:prstGeom>
          <a:noFill/>
        </p:spPr>
        <p:txBody>
          <a:bodyPr wrap="square">
            <a:spAutoFit/>
          </a:bodyPr>
          <a:lstStyle/>
          <a:p>
            <a:pPr>
              <a:spcBef>
                <a:spcPts val="400"/>
              </a:spcBef>
            </a:pPr>
            <a:r>
              <a:rPr sz="1700">
                <a:solidFill>
                  <a:srgbClr val="F0F0F0"/>
                </a:solidFill>
              </a:rPr>
              <a:t>• Define mental health and distinguish it from mental illness</a:t>
            </a:r>
          </a:p>
          <a:p>
            <a:pPr>
              <a:spcBef>
                <a:spcPts val="400"/>
              </a:spcBef>
            </a:pPr>
            <a:r>
              <a:rPr sz="1700">
                <a:solidFill>
                  <a:srgbClr val="F0F0F0"/>
                </a:solidFill>
              </a:rPr>
              <a:t>• Understand global prevalence: 970 million people live with a mental disorder</a:t>
            </a:r>
          </a:p>
          <a:p>
            <a:pPr>
              <a:spcBef>
                <a:spcPts val="400"/>
              </a:spcBef>
            </a:pPr>
            <a:r>
              <a:rPr sz="1700">
                <a:solidFill>
                  <a:srgbClr val="F0F0F0"/>
                </a:solidFill>
              </a:rPr>
              <a:t>• Examine the economic burden of poor mental health on individuals and society</a:t>
            </a:r>
          </a:p>
          <a:p>
            <a:pPr>
              <a:spcBef>
                <a:spcPts val="400"/>
              </a:spcBef>
            </a:pPr>
            <a:r>
              <a:rPr sz="1700">
                <a:solidFill>
                  <a:srgbClr val="F0F0F0"/>
                </a:solidFill>
              </a:rPr>
              <a:t>• Explore the role of stigma and how it prevents help-seeking</a:t>
            </a:r>
          </a:p>
          <a:p>
            <a:pPr>
              <a:spcBef>
                <a:spcPts val="400"/>
              </a:spcBef>
            </a:pPr>
            <a:r>
              <a:rPr sz="1700">
                <a:solidFill>
                  <a:srgbClr val="F0F0F0"/>
                </a:solidFill>
              </a:rPr>
              <a:t>• Identify the importance of self-care, social connection and early intervention</a:t>
            </a:r>
          </a:p>
          <a:p>
            <a:pPr>
              <a:spcBef>
                <a:spcPts val="400"/>
              </a:spcBef>
            </a:pPr>
            <a:r>
              <a:rPr sz="1700">
                <a:solidFill>
                  <a:srgbClr val="F0F0F0"/>
                </a:solidFill>
              </a:rPr>
              <a:t>• Recognise protective factors and resilience-building strategies</a:t>
            </a:r>
          </a:p>
        </p:txBody>
      </p:sp>
      <p:sp>
        <p:nvSpPr>
          <p:cNvPr id="7" name="TextBox 6"/>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Module 1: Key Topics</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4800000"/>
          </a:xfrm>
          <a:prstGeom prst="rect">
            <a:avLst/>
          </a:prstGeom>
          <a:noFill/>
        </p:spPr>
        <p:txBody>
          <a:bodyPr wrap="square">
            <a:spAutoFit/>
          </a:bodyPr>
          <a:lstStyle/>
          <a:p>
            <a:pPr>
              <a:spcBef>
                <a:spcPts val="400"/>
              </a:spcBef>
            </a:pPr>
            <a:r>
              <a:rPr sz="1700">
                <a:solidFill>
                  <a:srgbClr val="F0F0F0"/>
                </a:solidFill>
              </a:rPr>
              <a:t>• What is mental health? Definitions and the continuum model</a:t>
            </a:r>
          </a:p>
          <a:p>
            <a:pPr>
              <a:spcBef>
                <a:spcPts val="400"/>
              </a:spcBef>
            </a:pPr>
            <a:r>
              <a:rPr sz="1700">
                <a:solidFill>
                  <a:srgbClr val="F0F0F0"/>
                </a:solidFill>
              </a:rPr>
              <a:t>• Global prevalence: 970 million people affected worldwide (WHO 2022)</a:t>
            </a:r>
          </a:p>
          <a:p>
            <a:pPr>
              <a:spcBef>
                <a:spcPts val="400"/>
              </a:spcBef>
            </a:pPr>
            <a:r>
              <a:rPr sz="1700">
                <a:solidFill>
                  <a:srgbClr val="F0F0F0"/>
                </a:solidFill>
              </a:rPr>
              <a:t>• Economic burden: mental ill-health costs the UK £105 billion annually</a:t>
            </a:r>
          </a:p>
          <a:p>
            <a:pPr>
              <a:spcBef>
                <a:spcPts val="400"/>
              </a:spcBef>
            </a:pPr>
            <a:r>
              <a:rPr sz="1700">
                <a:solidFill>
                  <a:srgbClr val="F0F0F0"/>
                </a:solidFill>
              </a:rPr>
              <a:t>• Stigma: how language, media and culture shape attitudes</a:t>
            </a:r>
          </a:p>
          <a:p>
            <a:pPr>
              <a:spcBef>
                <a:spcPts val="400"/>
              </a:spcBef>
            </a:pPr>
            <a:r>
              <a:rPr sz="1700">
                <a:solidFill>
                  <a:srgbClr val="F0F0F0"/>
                </a:solidFill>
              </a:rPr>
              <a:t>• Self-care: sleep, nutrition, exercise and social connection</a:t>
            </a:r>
          </a:p>
          <a:p>
            <a:pPr>
              <a:spcBef>
                <a:spcPts val="400"/>
              </a:spcBef>
            </a:pPr>
            <a:r>
              <a:rPr sz="1700">
                <a:solidFill>
                  <a:srgbClr val="F0F0F0"/>
                </a:solidFill>
              </a:rPr>
              <a:t>• Protective factors: resilience, community, purpose and meaning</a:t>
            </a:r>
          </a:p>
          <a:p>
            <a:pPr>
              <a:spcBef>
                <a:spcPts val="400"/>
              </a:spcBef>
            </a:pPr>
            <a:r>
              <a:rPr sz="1700">
                <a:solidFill>
                  <a:srgbClr val="F0F0F0"/>
                </a:solidFill>
              </a:rPr>
              <a:t>• Pathways to support: NHS, voluntary sector and peer networks</a:t>
            </a:r>
          </a:p>
        </p:txBody>
      </p:sp>
      <p:sp>
        <p:nvSpPr>
          <p:cNvPr id="7" name="TextBox 6"/>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Key Statistics &amp; Prevalence</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4800000"/>
          </a:xfrm>
          <a:prstGeom prst="rect">
            <a:avLst/>
          </a:prstGeom>
          <a:noFill/>
        </p:spPr>
        <p:txBody>
          <a:bodyPr wrap="square">
            <a:spAutoFit/>
          </a:bodyPr>
          <a:lstStyle/>
          <a:p>
            <a:pPr>
              <a:spcBef>
                <a:spcPts val="400"/>
              </a:spcBef>
            </a:pPr>
            <a:r>
              <a:rPr sz="1700">
                <a:solidFill>
                  <a:srgbClr val="F0F0F0"/>
                </a:solidFill>
              </a:rPr>
              <a:t>• WHO (2022): 1 in 8 people globally live with a mental disorder</a:t>
            </a:r>
          </a:p>
          <a:p>
            <a:pPr>
              <a:spcBef>
                <a:spcPts val="400"/>
              </a:spcBef>
            </a:pPr>
            <a:r>
              <a:rPr sz="1700">
                <a:solidFill>
                  <a:srgbClr val="F0F0F0"/>
                </a:solidFill>
              </a:rPr>
              <a:t>• NHS: 1 in 4 people in England experience a mental health problem each year</a:t>
            </a:r>
          </a:p>
          <a:p>
            <a:pPr>
              <a:spcBef>
                <a:spcPts val="400"/>
              </a:spcBef>
            </a:pPr>
            <a:r>
              <a:rPr sz="1700">
                <a:solidFill>
                  <a:srgbClr val="F0F0F0"/>
                </a:solidFill>
              </a:rPr>
              <a:t>• Mind UK: 75% of people with mental health problems receive no treatment</a:t>
            </a:r>
          </a:p>
          <a:p>
            <a:pPr>
              <a:spcBef>
                <a:spcPts val="400"/>
              </a:spcBef>
            </a:pPr>
            <a:r>
              <a:rPr sz="1700">
                <a:solidFill>
                  <a:srgbClr val="F0F0F0"/>
                </a:solidFill>
              </a:rPr>
              <a:t>• Economic cost: mental ill-health costs UK employers £45 billion per year</a:t>
            </a:r>
          </a:p>
          <a:p>
            <a:pPr>
              <a:spcBef>
                <a:spcPts val="400"/>
              </a:spcBef>
            </a:pPr>
            <a:r>
              <a:rPr sz="1700">
                <a:solidFill>
                  <a:srgbClr val="F0F0F0"/>
                </a:solidFill>
              </a:rPr>
              <a:t>• Suicide: leading cause of death in people aged 5–34 in the UK</a:t>
            </a:r>
          </a:p>
          <a:p>
            <a:pPr>
              <a:spcBef>
                <a:spcPts val="400"/>
              </a:spcBef>
            </a:pPr>
            <a:r>
              <a:rPr sz="1700">
                <a:solidFill>
                  <a:srgbClr val="F0F0F0"/>
                </a:solidFill>
              </a:rPr>
              <a:t>• Wiltshire: approximately 1 in 6 adults affected by mental health problems</a:t>
            </a:r>
          </a:p>
        </p:txBody>
      </p:sp>
      <p:sp>
        <p:nvSpPr>
          <p:cNvPr id="7" name="TextBox 6"/>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Evidence &amp; Research</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4000000"/>
          </a:xfrm>
          <a:prstGeom prst="rect">
            <a:avLst/>
          </a:prstGeom>
          <a:noFill/>
        </p:spPr>
        <p:txBody>
          <a:bodyPr wrap="square">
            <a:spAutoFit/>
          </a:bodyPr>
          <a:lstStyle/>
          <a:p>
            <a:pPr>
              <a:spcBef>
                <a:spcPts val="400"/>
              </a:spcBef>
            </a:pPr>
            <a:r>
              <a:rPr sz="1700">
                <a:solidFill>
                  <a:srgbClr val="F0F0F0"/>
                </a:solidFill>
              </a:rPr>
              <a:t>• NICE guidelines emphasise early intervention and stepped-care models</a:t>
            </a:r>
          </a:p>
          <a:p>
            <a:pPr>
              <a:spcBef>
                <a:spcPts val="400"/>
              </a:spcBef>
            </a:pPr>
            <a:r>
              <a:rPr sz="1700">
                <a:solidFill>
                  <a:srgbClr val="F0F0F0"/>
                </a:solidFill>
              </a:rPr>
              <a:t>• Mind UK research shows stigma is the primary barrier to help-seeking</a:t>
            </a:r>
          </a:p>
          <a:p>
            <a:pPr>
              <a:spcBef>
                <a:spcPts val="400"/>
              </a:spcBef>
            </a:pPr>
            <a:r>
              <a:rPr sz="1700">
                <a:solidFill>
                  <a:srgbClr val="F0F0F0"/>
                </a:solidFill>
              </a:rPr>
              <a:t>• NHS England: 75% of mental health problems emerge before age 24</a:t>
            </a:r>
          </a:p>
          <a:p>
            <a:pPr>
              <a:spcBef>
                <a:spcPts val="400"/>
              </a:spcBef>
            </a:pPr>
            <a:r>
              <a:rPr sz="1700">
                <a:solidFill>
                  <a:srgbClr val="F0F0F0"/>
                </a:solidFill>
              </a:rPr>
              <a:t>• Evidence supports psychoeducation as a first-line community intervention</a:t>
            </a:r>
          </a:p>
          <a:p>
            <a:pPr>
              <a:spcBef>
                <a:spcPts val="400"/>
              </a:spcBef>
            </a:pPr>
            <a:r>
              <a:rPr sz="1700">
                <a:solidFill>
                  <a:srgbClr val="F0F0F0"/>
                </a:solidFill>
              </a:rPr>
              <a:t>• Social prescribing reduces GP appointments by up to 28% (NHS England)</a:t>
            </a:r>
          </a:p>
          <a:p>
            <a:pPr>
              <a:spcBef>
                <a:spcPts val="400"/>
              </a:spcBef>
            </a:pPr>
            <a:r>
              <a:rPr sz="1700">
                <a:solidFill>
                  <a:srgbClr val="F0F0F0"/>
                </a:solidFill>
              </a:rPr>
              <a:t>• WHO: mental health investment returns £4 for every £1 spent</a:t>
            </a:r>
          </a:p>
        </p:txBody>
      </p:sp>
      <p:sp>
        <p:nvSpPr>
          <p:cNvPr id="7" name="TextBox 6"/>
          <p:cNvSpPr txBox="1"/>
          <p:nvPr/>
        </p:nvSpPr>
        <p:spPr>
          <a:xfrm>
            <a:off x="457200" y="5400000"/>
            <a:ext cx="8229600" cy="457200"/>
          </a:xfrm>
          <a:prstGeom prst="rect">
            <a:avLst/>
          </a:prstGeom>
          <a:noFill/>
        </p:spPr>
        <p:txBody>
          <a:bodyPr wrap="square">
            <a:spAutoFit/>
          </a:bodyPr>
          <a:lstStyle/>
          <a:p>
            <a:pPr algn="l"/>
            <a:r>
              <a:rPr sz="1300" b="1" i="0">
                <a:solidFill>
                  <a:srgbClr val="FF6B00"/>
                </a:solidFill>
              </a:rPr>
              <a:t>This content does not replace professional mental health advice.</a:t>
            </a:r>
          </a:p>
        </p:txBody>
      </p:sp>
      <p:sp>
        <p:nvSpPr>
          <p:cNvPr id="8" name="TextBox 7"/>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Case Study</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4200000"/>
          </a:xfrm>
          <a:prstGeom prst="rect">
            <a:avLst/>
          </a:prstGeom>
          <a:noFill/>
        </p:spPr>
        <p:txBody>
          <a:bodyPr wrap="square">
            <a:spAutoFit/>
          </a:bodyPr>
          <a:lstStyle/>
          <a:p>
            <a:pPr algn="l"/>
            <a:r>
              <a:rPr sz="1500" b="0" i="0">
                <a:solidFill>
                  <a:srgbClr val="F0F0F0"/>
                </a:solidFill>
              </a:rPr>
              <a:t>Alex, 34, had been feeling persistently low and exhausted for months. He dismissed it as 'just stress' and avoided telling anyone, fearing judgement. After attending this module, he recognised the signs of depression and booked a GP appointment. His GP referred him to a local talking therapy service, where he began CBT. Within 12 weeks, Alex reported significant improvement in mood and daily functioning. His story illustrates how psychoeducation and stigma reduction can be the first step toward recovery.</a:t>
            </a:r>
          </a:p>
        </p:txBody>
      </p:sp>
      <p:sp>
        <p:nvSpPr>
          <p:cNvPr id="7" name="TextBox 6"/>
          <p:cNvSpPr txBox="1"/>
          <p:nvPr/>
        </p:nvSpPr>
        <p:spPr>
          <a:xfrm>
            <a:off x="457200" y="5600000"/>
            <a:ext cx="8229600" cy="457200"/>
          </a:xfrm>
          <a:prstGeom prst="rect">
            <a:avLst/>
          </a:prstGeom>
          <a:noFill/>
        </p:spPr>
        <p:txBody>
          <a:bodyPr wrap="square">
            <a:spAutoFit/>
          </a:bodyPr>
          <a:lstStyle/>
          <a:p>
            <a:pPr algn="l"/>
            <a:r>
              <a:rPr sz="1100" b="0" i="1">
                <a:solidFill>
                  <a:srgbClr val="AAAAAA"/>
                </a:solidFill>
              </a:rPr>
              <a:t>Names and details are fictional. Any resemblance to real persons is coincidental.</a:t>
            </a:r>
          </a:p>
        </p:txBody>
      </p:sp>
      <p:sp>
        <p:nvSpPr>
          <p:cNvPr id="8" name="TextBox 7"/>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Coping Strategies &amp; Interventions</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4800000"/>
          </a:xfrm>
          <a:prstGeom prst="rect">
            <a:avLst/>
          </a:prstGeom>
          <a:noFill/>
        </p:spPr>
        <p:txBody>
          <a:bodyPr wrap="square">
            <a:spAutoFit/>
          </a:bodyPr>
          <a:lstStyle/>
          <a:p>
            <a:pPr>
              <a:spcBef>
                <a:spcPts val="400"/>
              </a:spcBef>
            </a:pPr>
            <a:r>
              <a:rPr sz="1700">
                <a:solidFill>
                  <a:srgbClr val="F0F0F0"/>
                </a:solidFill>
              </a:rPr>
              <a:t>• Psychoeducation: learning about mental health reduces stigma and fear</a:t>
            </a:r>
          </a:p>
          <a:p>
            <a:pPr>
              <a:spcBef>
                <a:spcPts val="400"/>
              </a:spcBef>
            </a:pPr>
            <a:r>
              <a:rPr sz="1700">
                <a:solidFill>
                  <a:srgbClr val="F0F0F0"/>
                </a:solidFill>
              </a:rPr>
              <a:t>• Self-care routines: consistent sleep, balanced nutrition, regular movement</a:t>
            </a:r>
          </a:p>
          <a:p>
            <a:pPr>
              <a:spcBef>
                <a:spcPts val="400"/>
              </a:spcBef>
            </a:pPr>
            <a:r>
              <a:rPr sz="1700">
                <a:solidFill>
                  <a:srgbClr val="F0F0F0"/>
                </a:solidFill>
              </a:rPr>
              <a:t>• Social connection: maintaining relationships and community involvement</a:t>
            </a:r>
          </a:p>
          <a:p>
            <a:pPr>
              <a:spcBef>
                <a:spcPts val="400"/>
              </a:spcBef>
            </a:pPr>
            <a:r>
              <a:rPr sz="1700">
                <a:solidFill>
                  <a:srgbClr val="F0F0F0"/>
                </a:solidFill>
              </a:rPr>
              <a:t>• Mindfulness: 10 minutes daily reduces stress and improves mood</a:t>
            </a:r>
          </a:p>
          <a:p>
            <a:pPr>
              <a:spcBef>
                <a:spcPts val="400"/>
              </a:spcBef>
            </a:pPr>
            <a:r>
              <a:rPr sz="1700">
                <a:solidFill>
                  <a:srgbClr val="F0F0F0"/>
                </a:solidFill>
              </a:rPr>
              <a:t>• Help-seeking: normalising GP visits and talking therapy referrals</a:t>
            </a:r>
          </a:p>
          <a:p>
            <a:pPr>
              <a:spcBef>
                <a:spcPts val="400"/>
              </a:spcBef>
            </a:pPr>
            <a:r>
              <a:rPr sz="1700">
                <a:solidFill>
                  <a:srgbClr val="F0F0F0"/>
                </a:solidFill>
              </a:rPr>
              <a:t>• Peer support: sharing experiences reduces isolation and shame</a:t>
            </a:r>
          </a:p>
          <a:p>
            <a:pPr>
              <a:spcBef>
                <a:spcPts val="400"/>
              </a:spcBef>
            </a:pPr>
            <a:r>
              <a:rPr sz="1700">
                <a:solidFill>
                  <a:srgbClr val="F0F0F0"/>
                </a:solidFill>
              </a:rPr>
              <a:t>• Digital tools: apps like Headspace, Woebot and NHS Every Mind Matters</a:t>
            </a:r>
          </a:p>
        </p:txBody>
      </p:sp>
      <p:sp>
        <p:nvSpPr>
          <p:cNvPr id="7" name="TextBox 6"/>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Interactive Activity</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2800000"/>
          </a:xfrm>
          <a:prstGeom prst="rect">
            <a:avLst/>
          </a:prstGeom>
          <a:noFill/>
        </p:spPr>
        <p:txBody>
          <a:bodyPr wrap="square">
            <a:spAutoFit/>
          </a:bodyPr>
          <a:lstStyle/>
          <a:p>
            <a:pPr algn="l"/>
            <a:r>
              <a:rPr sz="1700" b="0" i="0">
                <a:solidFill>
                  <a:srgbClr val="F0F0F0"/>
                </a:solidFill>
              </a:rPr>
              <a:t>Reflection exercise: What does 'mental health' mean to you personally? Write down three things you do that support your own mental wellbeing. Consider one barrier that stops you from seeking help and how you might overcome it.</a:t>
            </a:r>
          </a:p>
        </p:txBody>
      </p:sp>
      <p:sp>
        <p:nvSpPr>
          <p:cNvPr id="7" name="TextBox 6"/>
          <p:cNvSpPr txBox="1"/>
          <p:nvPr/>
        </p:nvSpPr>
        <p:spPr>
          <a:xfrm>
            <a:off x="457200" y="4200000"/>
            <a:ext cx="8229600" cy="365760"/>
          </a:xfrm>
          <a:prstGeom prst="rect">
            <a:avLst/>
          </a:prstGeom>
          <a:noFill/>
        </p:spPr>
        <p:txBody>
          <a:bodyPr wrap="square">
            <a:spAutoFit/>
          </a:bodyPr>
          <a:lstStyle/>
          <a:p>
            <a:pPr algn="l"/>
            <a:r>
              <a:rPr sz="1600" b="1" i="0">
                <a:solidFill>
                  <a:srgbClr val="FF6B00"/>
                </a:solidFill>
              </a:rPr>
              <a:t>Instructions:</a:t>
            </a:r>
          </a:p>
        </p:txBody>
      </p:sp>
      <p:sp>
        <p:nvSpPr>
          <p:cNvPr id="8" name="TextBox 7"/>
          <p:cNvSpPr txBox="1"/>
          <p:nvPr/>
        </p:nvSpPr>
        <p:spPr>
          <a:xfrm>
            <a:off x="457200" y="4600000"/>
            <a:ext cx="8229600" cy="1500000"/>
          </a:xfrm>
          <a:prstGeom prst="rect">
            <a:avLst/>
          </a:prstGeom>
          <a:noFill/>
        </p:spPr>
        <p:txBody>
          <a:bodyPr wrap="square">
            <a:spAutoFit/>
          </a:bodyPr>
          <a:lstStyle/>
          <a:p>
            <a:pPr>
              <a:spcBef>
                <a:spcPts val="400"/>
              </a:spcBef>
            </a:pPr>
            <a:r>
              <a:rPr sz="1500">
                <a:solidFill>
                  <a:srgbClr val="AAAAAA"/>
                </a:solidFill>
              </a:rPr>
              <a:t>• Take 5 minutes to reflect individually or in pairs</a:t>
            </a:r>
          </a:p>
          <a:p>
            <a:pPr>
              <a:spcBef>
                <a:spcPts val="400"/>
              </a:spcBef>
            </a:pPr>
            <a:r>
              <a:rPr sz="1500">
                <a:solidFill>
                  <a:srgbClr val="AAAAAA"/>
                </a:solidFill>
              </a:rPr>
              <a:t>• Share your thoughts with the group (optional — sharing is never required)</a:t>
            </a:r>
          </a:p>
          <a:p>
            <a:pPr>
              <a:spcBef>
                <a:spcPts val="400"/>
              </a:spcBef>
            </a:pPr>
            <a:r>
              <a:rPr sz="1500">
                <a:solidFill>
                  <a:srgbClr val="AAAAAA"/>
                </a:solidFill>
              </a:rPr>
              <a:t>• Facilitator will guide and support the discussion</a:t>
            </a:r>
          </a:p>
        </p:txBody>
      </p:sp>
      <p:sp>
        <p:nvSpPr>
          <p:cNvPr id="9" name="TextBox 8"/>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Group Discussion (30 minutes)</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457200"/>
          </a:xfrm>
          <a:prstGeom prst="rect">
            <a:avLst/>
          </a:prstGeom>
          <a:noFill/>
        </p:spPr>
        <p:txBody>
          <a:bodyPr wrap="square">
            <a:spAutoFit/>
          </a:bodyPr>
          <a:lstStyle/>
          <a:p>
            <a:pPr algn="l"/>
            <a:r>
              <a:rPr sz="1800" b="1" i="0">
                <a:solidFill>
                  <a:srgbClr val="00BFBF"/>
                </a:solidFill>
              </a:rPr>
              <a:t>Reflection Questions</a:t>
            </a:r>
          </a:p>
        </p:txBody>
      </p:sp>
      <p:sp>
        <p:nvSpPr>
          <p:cNvPr id="7" name="TextBox 6"/>
          <p:cNvSpPr txBox="1"/>
          <p:nvPr/>
        </p:nvSpPr>
        <p:spPr>
          <a:xfrm>
            <a:off x="457200" y="1800000"/>
            <a:ext cx="8229600" cy="4000000"/>
          </a:xfrm>
          <a:prstGeom prst="rect">
            <a:avLst/>
          </a:prstGeom>
          <a:noFill/>
        </p:spPr>
        <p:txBody>
          <a:bodyPr wrap="square">
            <a:spAutoFit/>
          </a:bodyPr>
          <a:lstStyle/>
          <a:p>
            <a:pPr>
              <a:spcBef>
                <a:spcPts val="400"/>
              </a:spcBef>
            </a:pPr>
            <a:r>
              <a:rPr sz="1700">
                <a:solidFill>
                  <a:srgbClr val="F0F0F0"/>
                </a:solidFill>
              </a:rPr>
              <a:t>• What stood out most to you about the foundations of mental health?</a:t>
            </a:r>
          </a:p>
          <a:p>
            <a:pPr>
              <a:spcBef>
                <a:spcPts val="400"/>
              </a:spcBef>
            </a:pPr>
            <a:r>
              <a:rPr sz="1700">
                <a:solidFill>
                  <a:srgbClr val="F0F0F0"/>
                </a:solidFill>
              </a:rPr>
              <a:t>• Has stigma ever stopped you or someone you know from seeking help?</a:t>
            </a:r>
          </a:p>
          <a:p>
            <a:pPr>
              <a:spcBef>
                <a:spcPts val="400"/>
              </a:spcBef>
            </a:pPr>
            <a:r>
              <a:rPr sz="1700">
                <a:solidFill>
                  <a:srgbClr val="F0F0F0"/>
                </a:solidFill>
              </a:rPr>
              <a:t>• What does 'good mental health' look like in your daily life?</a:t>
            </a:r>
          </a:p>
          <a:p>
            <a:pPr>
              <a:spcBef>
                <a:spcPts val="400"/>
              </a:spcBef>
            </a:pPr>
            <a:r>
              <a:rPr sz="1700">
                <a:solidFill>
                  <a:srgbClr val="F0F0F0"/>
                </a:solidFill>
              </a:rPr>
              <a:t>• What one thing could you do differently after today's session?</a:t>
            </a:r>
          </a:p>
          <a:p>
            <a:pPr>
              <a:spcBef>
                <a:spcPts val="400"/>
              </a:spcBef>
            </a:pPr>
            <a:r>
              <a:rPr sz="1700">
                <a:solidFill>
                  <a:srgbClr val="F0F0F0"/>
                </a:solidFill>
              </a:rPr>
              <a:t>• What community resources do you know of in Melksham and Wiltshire?</a:t>
            </a:r>
          </a:p>
        </p:txBody>
      </p:sp>
      <p:sp>
        <p:nvSpPr>
          <p:cNvPr id="8" name="TextBox 7"/>
          <p:cNvSpPr txBox="1"/>
          <p:nvPr/>
        </p:nvSpPr>
        <p:spPr>
          <a:xfrm>
            <a:off x="457200" y="5958000"/>
            <a:ext cx="8229600" cy="457200"/>
          </a:xfrm>
          <a:prstGeom prst="rect">
            <a:avLst/>
          </a:prstGeom>
          <a:noFill/>
        </p:spPr>
        <p:txBody>
          <a:bodyPr wrap="square">
            <a:spAutoFit/>
          </a:bodyPr>
          <a:lstStyle/>
          <a:p>
            <a:pPr algn="ctr"/>
            <a:r>
              <a:rPr sz="1400" b="1" i="0">
                <a:solidFill>
                  <a:srgbClr val="FF6B00"/>
                </a:solidFill>
              </a:rPr>
              <a:t>Remember: You are never alone. Help is always available.</a:t>
            </a:r>
          </a:p>
        </p:txBody>
      </p:sp>
      <p:sp>
        <p:nvSpPr>
          <p:cNvPr id="9" name="TextBox 8"/>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Resources &amp; Further Support</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365760"/>
          </a:xfrm>
          <a:prstGeom prst="rect">
            <a:avLst/>
          </a:prstGeom>
          <a:noFill/>
        </p:spPr>
        <p:txBody>
          <a:bodyPr wrap="square">
            <a:spAutoFit/>
          </a:bodyPr>
          <a:lstStyle/>
          <a:p>
            <a:pPr algn="l"/>
            <a:r>
              <a:rPr sz="1800" b="1" i="0">
                <a:solidFill>
                  <a:srgbClr val="00BFBF"/>
                </a:solidFill>
              </a:rPr>
              <a:t>Key References</a:t>
            </a:r>
          </a:p>
        </p:txBody>
      </p:sp>
      <p:sp>
        <p:nvSpPr>
          <p:cNvPr id="7" name="TextBox 6"/>
          <p:cNvSpPr txBox="1"/>
          <p:nvPr/>
        </p:nvSpPr>
        <p:spPr>
          <a:xfrm>
            <a:off x="457200" y="1700000"/>
            <a:ext cx="8229600" cy="2200000"/>
          </a:xfrm>
          <a:prstGeom prst="rect">
            <a:avLst/>
          </a:prstGeom>
          <a:noFill/>
        </p:spPr>
        <p:txBody>
          <a:bodyPr wrap="square">
            <a:spAutoFit/>
          </a:bodyPr>
          <a:lstStyle/>
          <a:p>
            <a:pPr>
              <a:spcBef>
                <a:spcPts val="400"/>
              </a:spcBef>
            </a:pPr>
            <a:r>
              <a:rPr sz="1400">
                <a:solidFill>
                  <a:srgbClr val="F0F0F0"/>
                </a:solidFill>
              </a:rPr>
              <a:t>• WHO World Mental Health Report 2022</a:t>
            </a:r>
          </a:p>
          <a:p>
            <a:pPr>
              <a:spcBef>
                <a:spcPts val="400"/>
              </a:spcBef>
            </a:pPr>
            <a:r>
              <a:rPr sz="1400">
                <a:solidFill>
                  <a:srgbClr val="F0F0F0"/>
                </a:solidFill>
              </a:rPr>
              <a:t>• NHS Mental Health Statistics (NHS England, 2023)</a:t>
            </a:r>
          </a:p>
          <a:p>
            <a:pPr>
              <a:spcBef>
                <a:spcPts val="400"/>
              </a:spcBef>
            </a:pPr>
            <a:r>
              <a:rPr sz="1400">
                <a:solidFill>
                  <a:srgbClr val="F0F0F0"/>
                </a:solidFill>
              </a:rPr>
              <a:t>• Mind UK: What is mental health? (mind.org.uk)</a:t>
            </a:r>
          </a:p>
          <a:p>
            <a:pPr>
              <a:spcBef>
                <a:spcPts val="400"/>
              </a:spcBef>
            </a:pPr>
            <a:r>
              <a:rPr sz="1400">
                <a:solidFill>
                  <a:srgbClr val="F0F0F0"/>
                </a:solidFill>
              </a:rPr>
              <a:t>• NICE: Common mental health problems (CG123)</a:t>
            </a:r>
          </a:p>
          <a:p>
            <a:pPr>
              <a:spcBef>
                <a:spcPts val="400"/>
              </a:spcBef>
            </a:pPr>
            <a:r>
              <a:rPr sz="1400">
                <a:solidFill>
                  <a:srgbClr val="F0F0F0"/>
                </a:solidFill>
              </a:rPr>
              <a:t>• Wiltshire Council: Mental Health and Wellbeing Strategy 2022–2027</a:t>
            </a:r>
          </a:p>
        </p:txBody>
      </p:sp>
      <p:sp>
        <p:nvSpPr>
          <p:cNvPr id="8" name="TextBox 7"/>
          <p:cNvSpPr txBox="1"/>
          <p:nvPr/>
        </p:nvSpPr>
        <p:spPr>
          <a:xfrm>
            <a:off x="457200" y="4000000"/>
            <a:ext cx="8229600" cy="365760"/>
          </a:xfrm>
          <a:prstGeom prst="rect">
            <a:avLst/>
          </a:prstGeom>
          <a:noFill/>
        </p:spPr>
        <p:txBody>
          <a:bodyPr wrap="square">
            <a:spAutoFit/>
          </a:bodyPr>
          <a:lstStyle/>
          <a:p>
            <a:pPr algn="l"/>
            <a:r>
              <a:rPr sz="1800" b="1" i="0">
                <a:solidFill>
                  <a:srgbClr val="FF6B00"/>
                </a:solidFill>
              </a:rPr>
              <a:t>Crisis Support</a:t>
            </a:r>
          </a:p>
        </p:txBody>
      </p:sp>
      <p:sp>
        <p:nvSpPr>
          <p:cNvPr id="9" name="TextBox 8"/>
          <p:cNvSpPr txBox="1"/>
          <p:nvPr/>
        </p:nvSpPr>
        <p:spPr>
          <a:xfrm>
            <a:off x="457200" y="4450000"/>
            <a:ext cx="8229600" cy="1800000"/>
          </a:xfrm>
          <a:prstGeom prst="rect">
            <a:avLst/>
          </a:prstGeom>
          <a:noFill/>
        </p:spPr>
        <p:txBody>
          <a:bodyPr wrap="square">
            <a:spAutoFit/>
          </a:bodyPr>
          <a:lstStyle/>
          <a:p>
            <a:pPr>
              <a:spcBef>
                <a:spcPts val="400"/>
              </a:spcBef>
            </a:pPr>
            <a:r>
              <a:rPr sz="1300">
                <a:solidFill>
                  <a:srgbClr val="AAAAAA"/>
                </a:solidFill>
              </a:rPr>
              <a:t>• Emergency: 999</a:t>
            </a:r>
          </a:p>
          <a:p>
            <a:pPr>
              <a:spcBef>
                <a:spcPts val="400"/>
              </a:spcBef>
            </a:pPr>
            <a:r>
              <a:rPr sz="1300">
                <a:solidFill>
                  <a:srgbClr val="AAAAAA"/>
                </a:solidFill>
              </a:rPr>
              <a:t>• NHS 111: 24/7 urgent mental health support</a:t>
            </a:r>
          </a:p>
          <a:p>
            <a:pPr>
              <a:spcBef>
                <a:spcPts val="400"/>
              </a:spcBef>
            </a:pPr>
            <a:r>
              <a:rPr sz="1300">
                <a:solidFill>
                  <a:srgbClr val="AAAAAA"/>
                </a:solidFill>
              </a:rPr>
              <a:t>• Samaritans: 116 123 (free, 24/7)</a:t>
            </a:r>
          </a:p>
          <a:p>
            <a:pPr>
              <a:spcBef>
                <a:spcPts val="400"/>
              </a:spcBef>
            </a:pPr>
            <a:r>
              <a:rPr sz="1300">
                <a:solidFill>
                  <a:srgbClr val="AAAAAA"/>
                </a:solidFill>
              </a:rPr>
              <a:t>• Shout Crisis Text: Text SHOUT to 85258</a:t>
            </a:r>
          </a:p>
          <a:p>
            <a:pPr>
              <a:spcBef>
                <a:spcPts val="400"/>
              </a:spcBef>
            </a:pPr>
            <a:r>
              <a:rPr sz="1300">
                <a:solidFill>
                  <a:srgbClr val="AAAAAA"/>
                </a:solidFill>
              </a:rPr>
              <a:t>• Wiltshire Crisis Line: 0800 953 0110 (24/7)</a:t>
            </a:r>
          </a:p>
          <a:p>
            <a:pPr>
              <a:spcBef>
                <a:spcPts val="400"/>
              </a:spcBef>
            </a:pPr>
            <a:r>
              <a:rPr sz="1300">
                <a:solidFill>
                  <a:srgbClr val="AAAAAA"/>
                </a:solidFill>
              </a:rPr>
              <a:t>• PAPYRUS (under 35): 0800 068 4141</a:t>
            </a:r>
          </a:p>
        </p:txBody>
      </p:sp>
      <p:sp>
        <p:nvSpPr>
          <p:cNvPr id="10" name="TextBox 9"/>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Rectangle 3"/>
          <p:cNvSpPr/>
          <p:nvPr/>
        </p:nvSpPr>
        <p:spPr>
          <a:xfrm>
            <a:off x="0" y="0"/>
            <a:ext cx="9144000" cy="182880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00000"/>
            <a:ext cx="7589520" cy="640080"/>
          </a:xfrm>
          <a:prstGeom prst="rect">
            <a:avLst/>
          </a:prstGeom>
          <a:noFill/>
        </p:spPr>
        <p:txBody>
          <a:bodyPr wrap="square">
            <a:spAutoFit/>
          </a:bodyPr>
          <a:lstStyle/>
          <a:p>
            <a:pPr algn="l"/>
            <a:r>
              <a:rPr sz="3400" b="1" i="0">
                <a:solidFill>
                  <a:srgbClr val="1A1A1A"/>
                </a:solidFill>
              </a:rPr>
              <a:t>Module 1 Complete</a:t>
            </a:r>
          </a:p>
        </p:txBody>
      </p:sp>
      <p:sp>
        <p:nvSpPr>
          <p:cNvPr id="6" name="TextBox 5"/>
          <p:cNvSpPr txBox="1"/>
          <p:nvPr/>
        </p:nvSpPr>
        <p:spPr>
          <a:xfrm>
            <a:off x="457200" y="700000"/>
            <a:ext cx="7589520" cy="640080"/>
          </a:xfrm>
          <a:prstGeom prst="rect">
            <a:avLst/>
          </a:prstGeom>
          <a:noFill/>
        </p:spPr>
        <p:txBody>
          <a:bodyPr wrap="square">
            <a:spAutoFit/>
          </a:bodyPr>
          <a:lstStyle/>
          <a:p>
            <a:pPr algn="l"/>
            <a:r>
              <a:rPr sz="2000" b="0" i="0">
                <a:solidFill>
                  <a:srgbClr val="1A1A1A"/>
                </a:solidFill>
              </a:rPr>
              <a:t>Foundations of Mental Health</a:t>
            </a:r>
          </a:p>
        </p:txBody>
      </p:sp>
      <p:sp>
        <p:nvSpPr>
          <p:cNvPr id="7" name="TextBox 6"/>
          <p:cNvSpPr txBox="1"/>
          <p:nvPr/>
        </p:nvSpPr>
        <p:spPr>
          <a:xfrm>
            <a:off x="457200" y="2100000"/>
            <a:ext cx="8229600" cy="3200000"/>
          </a:xfrm>
          <a:prstGeom prst="rect">
            <a:avLst/>
          </a:prstGeom>
          <a:noFill/>
        </p:spPr>
        <p:txBody>
          <a:bodyPr wrap="square">
            <a:spAutoFit/>
          </a:bodyPr>
          <a:lstStyle/>
          <a:p>
            <a:pPr>
              <a:spcBef>
                <a:spcPts val="400"/>
              </a:spcBef>
            </a:pPr>
            <a:r>
              <a:rPr sz="1700">
                <a:solidFill>
                  <a:srgbClr val="F0F0F0"/>
                </a:solidFill>
              </a:rPr>
              <a:t>• You have completed Module 1: Foundations of Mental Health</a:t>
            </a:r>
          </a:p>
          <a:p>
            <a:pPr>
              <a:spcBef>
                <a:spcPts val="400"/>
              </a:spcBef>
            </a:pPr>
            <a:r>
              <a:rPr sz="1700">
                <a:solidFill>
                  <a:srgbClr val="F0F0F0"/>
                </a:solidFill>
              </a:rPr>
              <a:t>• Key concepts and evidence-based strategies have been explored</a:t>
            </a:r>
          </a:p>
          <a:p>
            <a:pPr>
              <a:spcBef>
                <a:spcPts val="400"/>
              </a:spcBef>
            </a:pPr>
            <a:r>
              <a:rPr sz="1700">
                <a:solidFill>
                  <a:srgbClr val="F0F0F0"/>
                </a:solidFill>
              </a:rPr>
              <a:t>• Please complete the post-session reflection form</a:t>
            </a:r>
          </a:p>
          <a:p>
            <a:pPr>
              <a:spcBef>
                <a:spcPts val="400"/>
              </a:spcBef>
            </a:pPr>
            <a:r>
              <a:rPr sz="1700">
                <a:solidFill>
                  <a:srgbClr val="F0F0F0"/>
                </a:solidFill>
              </a:rPr>
              <a:t>• Access course materials and handouts in the Members Portal</a:t>
            </a:r>
          </a:p>
          <a:p>
            <a:pPr>
              <a:spcBef>
                <a:spcPts val="400"/>
              </a:spcBef>
            </a:pPr>
            <a:r>
              <a:rPr sz="1700">
                <a:solidFill>
                  <a:srgbClr val="F0F0F0"/>
                </a:solidFill>
              </a:rPr>
              <a:t>• Our next session builds on today's learning</a:t>
            </a:r>
          </a:p>
        </p:txBody>
      </p:sp>
      <p:sp>
        <p:nvSpPr>
          <p:cNvPr id="8" name="TextBox 7"/>
          <p:cNvSpPr txBox="1"/>
          <p:nvPr/>
        </p:nvSpPr>
        <p:spPr>
          <a:xfrm>
            <a:off x="457200" y="5958000"/>
            <a:ext cx="8229600" cy="457200"/>
          </a:xfrm>
          <a:prstGeom prst="rect">
            <a:avLst/>
          </a:prstGeom>
          <a:noFill/>
        </p:spPr>
        <p:txBody>
          <a:bodyPr wrap="square">
            <a:spAutoFit/>
          </a:bodyPr>
          <a:lstStyle/>
          <a:p>
            <a:pPr algn="ctr"/>
            <a:r>
              <a:rPr sz="1300" b="0" i="0">
                <a:solidFill>
                  <a:srgbClr val="AAAAAA"/>
                </a:solidFill>
              </a:rPr>
              <a:t>melksham-mentalhealth.us  |  Melksham-mental-health@outlook.com</a:t>
            </a:r>
          </a:p>
        </p:txBody>
      </p:sp>
      <p:sp>
        <p:nvSpPr>
          <p:cNvPr id="9" name="TextBox 8"/>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
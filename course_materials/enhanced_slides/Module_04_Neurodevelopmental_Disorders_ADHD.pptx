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548640"/>
          </a:xfrm>
          <a:prstGeom prst="rect">
            <a:avLst/>
          </a:prstGeom>
          <a:noFill/>
        </p:spPr>
        <p:txBody>
          <a:bodyPr wrap="square">
            <a:spAutoFit/>
          </a:bodyPr>
          <a:lstStyle/>
          <a:p>
            <a:pPr algn="l"/>
            <a:r>
              <a:rPr sz="3600" b="1" i="0">
                <a:solidFill>
                  <a:srgbClr val="1A1A1A"/>
                </a:solidFill>
              </a:rPr>
              <a:t>Module 4</a:t>
            </a:r>
          </a:p>
        </p:txBody>
      </p:sp>
      <p:sp>
        <p:nvSpPr>
          <p:cNvPr id="6" name="TextBox 5"/>
          <p:cNvSpPr txBox="1"/>
          <p:nvPr/>
        </p:nvSpPr>
        <p:spPr>
          <a:xfrm>
            <a:off x="457200" y="640080"/>
            <a:ext cx="7589520" cy="914400"/>
          </a:xfrm>
          <a:prstGeom prst="rect">
            <a:avLst/>
          </a:prstGeom>
          <a:noFill/>
        </p:spPr>
        <p:txBody>
          <a:bodyPr wrap="square">
            <a:spAutoFit/>
          </a:bodyPr>
          <a:lstStyle/>
          <a:p>
            <a:pPr algn="l"/>
            <a:r>
              <a:rPr sz="2600" b="0" i="0">
                <a:solidFill>
                  <a:srgbClr val="1A1A1A"/>
                </a:solidFill>
              </a:rPr>
              <a:t>Neurodevelopmental Disorders: ADHD</a:t>
            </a:r>
          </a:p>
        </p:txBody>
      </p:sp>
      <p:sp>
        <p:nvSpPr>
          <p:cNvPr id="7" name="TextBox 6"/>
          <p:cNvSpPr txBox="1"/>
          <p:nvPr/>
        </p:nvSpPr>
        <p:spPr>
          <a:xfrm>
            <a:off x="457200" y="2100000"/>
            <a:ext cx="8229600" cy="548640"/>
          </a:xfrm>
          <a:prstGeom prst="rect">
            <a:avLst/>
          </a:prstGeom>
          <a:noFill/>
        </p:spPr>
        <p:txBody>
          <a:bodyPr wrap="square">
            <a:spAutoFit/>
          </a:bodyPr>
          <a:lstStyle/>
          <a:p>
            <a:pPr algn="l"/>
            <a:r>
              <a:rPr sz="2000" b="1" i="0">
                <a:solidFill>
                  <a:srgbClr val="FF6B00"/>
                </a:solidFill>
              </a:rPr>
              <a:t>Melksham Mental Health — Comprehensive Course</a:t>
            </a:r>
          </a:p>
        </p:txBody>
      </p:sp>
      <p:sp>
        <p:nvSpPr>
          <p:cNvPr id="8" name="TextBox 7"/>
          <p:cNvSpPr txBox="1"/>
          <p:nvPr/>
        </p:nvSpPr>
        <p:spPr>
          <a:xfrm>
            <a:off x="457200" y="2650000"/>
            <a:ext cx="8229600" cy="457200"/>
          </a:xfrm>
          <a:prstGeom prst="rect">
            <a:avLst/>
          </a:prstGeom>
          <a:noFill/>
        </p:spPr>
        <p:txBody>
          <a:bodyPr wrap="square">
            <a:spAutoFit/>
          </a:bodyPr>
          <a:lstStyle/>
          <a:p>
            <a:pPr algn="l"/>
            <a:r>
              <a:rPr sz="1600" b="0" i="0">
                <a:solidFill>
                  <a:srgbClr val="AAAAAA"/>
                </a:solidFill>
              </a:rPr>
              <a:t>2-hour session  •  Includes 30-minute group discussion</a:t>
            </a:r>
          </a:p>
        </p:txBody>
      </p:sp>
      <p:sp>
        <p:nvSpPr>
          <p:cNvPr id="9" name="TextBox 8"/>
          <p:cNvSpPr txBox="1"/>
          <p:nvPr/>
        </p:nvSpPr>
        <p:spPr>
          <a:xfrm>
            <a:off x="457200" y="5958000"/>
            <a:ext cx="8229600" cy="457200"/>
          </a:xfrm>
          <a:prstGeom prst="rect">
            <a:avLst/>
          </a:prstGeom>
          <a:noFill/>
        </p:spPr>
        <p:txBody>
          <a:bodyPr wrap="square">
            <a:spAutoFit/>
          </a:bodyPr>
          <a:lstStyle/>
          <a:p>
            <a:pPr algn="ctr"/>
            <a:r>
              <a:rPr sz="1200" b="0" i="0">
                <a:solidFill>
                  <a:srgbClr val="AAAAAA"/>
                </a:solidFill>
              </a:rPr>
              <a:t>melksham-mentalhealth.us  |  Melksham-mental-health@outlook.com</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Session Overview</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0000"/>
            <a:ext cx="8229600" cy="1400000"/>
          </a:xfrm>
          <a:prstGeom prst="rect">
            <a:avLst/>
          </a:prstGeom>
          <a:noFill/>
        </p:spPr>
        <p:txBody>
          <a:bodyPr wrap="square">
            <a:spAutoFit/>
          </a:bodyPr>
          <a:lstStyle/>
          <a:p>
            <a:pPr algn="l"/>
            <a:r>
              <a:rPr sz="1500" b="0" i="0">
                <a:solidFill>
                  <a:srgbClr val="F0F0F0"/>
                </a:solidFill>
              </a:rPr>
              <a:t>Attention Deficit Hyperactivity Disorder (ADHD) is one of the most common neurodevelopmental conditions, affecting children and adults. This module explores the three presentations of ADHD, the neuroscience behind attention regulation, and evidence-based strategies for managing symptoms and thriving.</a:t>
            </a:r>
          </a:p>
        </p:txBody>
      </p:sp>
      <p:sp>
        <p:nvSpPr>
          <p:cNvPr id="7" name="TextBox 6"/>
          <p:cNvSpPr txBox="1"/>
          <p:nvPr/>
        </p:nvSpPr>
        <p:spPr>
          <a:xfrm>
            <a:off x="457200" y="2700000"/>
            <a:ext cx="8229600" cy="3200000"/>
          </a:xfrm>
          <a:prstGeom prst="rect">
            <a:avLst/>
          </a:prstGeom>
          <a:noFill/>
        </p:spPr>
        <p:txBody>
          <a:bodyPr wrap="square">
            <a:spAutoFit/>
          </a:bodyPr>
          <a:lstStyle/>
          <a:p>
            <a:pPr>
              <a:spcBef>
                <a:spcPts val="400"/>
              </a:spcBef>
            </a:pPr>
            <a:r>
              <a:rPr sz="1700">
                <a:solidFill>
                  <a:srgbClr val="F0F0F0"/>
                </a:solidFill>
              </a:rPr>
              <a:t>• Introduction &amp; Objectives  (15 min)</a:t>
            </a:r>
          </a:p>
          <a:p>
            <a:pPr>
              <a:spcBef>
                <a:spcPts val="400"/>
              </a:spcBef>
            </a:pPr>
            <a:r>
              <a:rPr sz="1700">
                <a:solidFill>
                  <a:srgbClr val="F0F0F0"/>
                </a:solidFill>
              </a:rPr>
              <a:t>• Evidence-Based Content  (45 min)</a:t>
            </a:r>
          </a:p>
          <a:p>
            <a:pPr>
              <a:spcBef>
                <a:spcPts val="400"/>
              </a:spcBef>
            </a:pPr>
            <a:r>
              <a:rPr sz="1700">
                <a:solidFill>
                  <a:srgbClr val="F0F0F0"/>
                </a:solidFill>
              </a:rPr>
              <a:t>• Case Study  (15 min)</a:t>
            </a:r>
          </a:p>
          <a:p>
            <a:pPr>
              <a:spcBef>
                <a:spcPts val="400"/>
              </a:spcBef>
            </a:pPr>
            <a:r>
              <a:rPr sz="1700">
                <a:solidFill>
                  <a:srgbClr val="F0F0F0"/>
                </a:solidFill>
              </a:rPr>
              <a:t>• Interactive Activity  (30 min)</a:t>
            </a:r>
          </a:p>
          <a:p>
            <a:pPr>
              <a:spcBef>
                <a:spcPts val="400"/>
              </a:spcBef>
            </a:pPr>
            <a:r>
              <a:rPr sz="1700">
                <a:solidFill>
                  <a:srgbClr val="F0F0F0"/>
                </a:solidFill>
              </a:rPr>
              <a:t>• Group Discussion  (30 min)</a:t>
            </a:r>
          </a:p>
          <a:p>
            <a:pPr>
              <a:spcBef>
                <a:spcPts val="400"/>
              </a:spcBef>
            </a:pPr>
            <a:r>
              <a:rPr sz="1700">
                <a:solidFill>
                  <a:srgbClr val="F0F0F0"/>
                </a:solidFill>
              </a:rPr>
              <a:t>• Wrap-Up &amp; Resources  (15 min)</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Learning Objectives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Define ADHD and its three presentations: inattentive, hyperactive-impulsive and combined</a:t>
            </a:r>
          </a:p>
          <a:p>
            <a:pPr>
              <a:spcBef>
                <a:spcPts val="400"/>
              </a:spcBef>
            </a:pPr>
            <a:r>
              <a:rPr sz="1700">
                <a:solidFill>
                  <a:srgbClr val="F0F0F0"/>
                </a:solidFill>
              </a:rPr>
              <a:t>• Understand the neuroscience of attention regulation and executive function</a:t>
            </a:r>
          </a:p>
          <a:p>
            <a:pPr>
              <a:spcBef>
                <a:spcPts val="400"/>
              </a:spcBef>
            </a:pPr>
            <a:r>
              <a:rPr sz="1700">
                <a:solidFill>
                  <a:srgbClr val="F0F0F0"/>
                </a:solidFill>
              </a:rPr>
              <a:t>• Identify common symptoms across childhood and adulthood</a:t>
            </a:r>
          </a:p>
          <a:p>
            <a:pPr>
              <a:spcBef>
                <a:spcPts val="400"/>
              </a:spcBef>
            </a:pPr>
            <a:r>
              <a:rPr sz="1700">
                <a:solidFill>
                  <a:srgbClr val="F0F0F0"/>
                </a:solidFill>
              </a:rPr>
              <a:t>• Explore evidence-based treatments: medication, behavioural therapy and coaching</a:t>
            </a:r>
          </a:p>
          <a:p>
            <a:pPr>
              <a:spcBef>
                <a:spcPts val="400"/>
              </a:spcBef>
            </a:pPr>
            <a:r>
              <a:rPr sz="1700">
                <a:solidFill>
                  <a:srgbClr val="F0F0F0"/>
                </a:solidFill>
              </a:rPr>
              <a:t>• Develop practical coping strategies for daily life</a:t>
            </a:r>
          </a:p>
          <a:p>
            <a:pPr>
              <a:spcBef>
                <a:spcPts val="400"/>
              </a:spcBef>
            </a:pPr>
            <a:r>
              <a:rPr sz="1700">
                <a:solidFill>
                  <a:srgbClr val="F0F0F0"/>
                </a:solidFill>
              </a:rPr>
              <a:t>• Recognise the emotional impact of ADHD and co-occurring conditions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Module 4: Key Topics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ADHD presentations: inattentive, hyperactive-impulsive and combined type</a:t>
            </a:r>
          </a:p>
          <a:p>
            <a:pPr>
              <a:spcBef>
                <a:spcPts val="400"/>
              </a:spcBef>
            </a:pPr>
            <a:r>
              <a:rPr sz="1700">
                <a:solidFill>
                  <a:srgbClr val="F0F0F0"/>
                </a:solidFill>
              </a:rPr>
              <a:t>• Neuroscience: dopamine dysregulation and executive function deficits</a:t>
            </a:r>
          </a:p>
          <a:p>
            <a:pPr>
              <a:spcBef>
                <a:spcPts val="400"/>
              </a:spcBef>
            </a:pPr>
            <a:r>
              <a:rPr sz="1700">
                <a:solidFill>
                  <a:srgbClr val="F0F0F0"/>
                </a:solidFill>
              </a:rPr>
              <a:t>• Childhood symptoms: daydreaming, forgetfulness, impulsivity, hyperactivity</a:t>
            </a:r>
          </a:p>
          <a:p>
            <a:pPr>
              <a:spcBef>
                <a:spcPts val="400"/>
              </a:spcBef>
            </a:pPr>
            <a:r>
              <a:rPr sz="1700">
                <a:solidFill>
                  <a:srgbClr val="F0F0F0"/>
                </a:solidFill>
              </a:rPr>
              <a:t>• Adult ADHD: time blindness, emotional dysregulation, relationship difficulties</a:t>
            </a:r>
          </a:p>
          <a:p>
            <a:pPr>
              <a:spcBef>
                <a:spcPts val="400"/>
              </a:spcBef>
            </a:pPr>
            <a:r>
              <a:rPr sz="1700">
                <a:solidFill>
                  <a:srgbClr val="F0F0F0"/>
                </a:solidFill>
              </a:rPr>
              <a:t>• Treatments: methylphenidate, lisdexamfetamine, atomoxetine and non-stimulants</a:t>
            </a:r>
          </a:p>
          <a:p>
            <a:pPr>
              <a:spcBef>
                <a:spcPts val="400"/>
              </a:spcBef>
            </a:pPr>
            <a:r>
              <a:rPr sz="1700">
                <a:solidFill>
                  <a:srgbClr val="F0F0F0"/>
                </a:solidFill>
              </a:rPr>
              <a:t>• Behavioural strategies: body doubling, time-blocking, external reminders</a:t>
            </a:r>
          </a:p>
          <a:p>
            <a:pPr>
              <a:spcBef>
                <a:spcPts val="400"/>
              </a:spcBef>
            </a:pPr>
            <a:r>
              <a:rPr sz="1700">
                <a:solidFill>
                  <a:srgbClr val="F0F0F0"/>
                </a:solidFill>
              </a:rPr>
              <a:t>• Co-occurring conditions: anxiety, depression, dyslexia and autism</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Key Statistics &amp; Prevalence</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ADHD affects 5% of children and 3–4% of adults worldwide (NICE, 2018)</a:t>
            </a:r>
          </a:p>
          <a:p>
            <a:pPr>
              <a:spcBef>
                <a:spcPts val="400"/>
              </a:spcBef>
            </a:pPr>
            <a:r>
              <a:rPr sz="1700">
                <a:solidFill>
                  <a:srgbClr val="F0F0F0"/>
                </a:solidFill>
              </a:rPr>
              <a:t>• UK adult ADHD prevalence: estimated 1.5 million people (ADHD UK, 2023)</a:t>
            </a:r>
          </a:p>
          <a:p>
            <a:pPr>
              <a:spcBef>
                <a:spcPts val="400"/>
              </a:spcBef>
            </a:pPr>
            <a:r>
              <a:rPr sz="1700">
                <a:solidFill>
                  <a:srgbClr val="F0F0F0"/>
                </a:solidFill>
              </a:rPr>
              <a:t>• Only 120,000 adults in the UK are diagnosed and receiving treatment</a:t>
            </a:r>
          </a:p>
          <a:p>
            <a:pPr>
              <a:spcBef>
                <a:spcPts val="400"/>
              </a:spcBef>
            </a:pPr>
            <a:r>
              <a:rPr sz="1700">
                <a:solidFill>
                  <a:srgbClr val="F0F0F0"/>
                </a:solidFill>
              </a:rPr>
              <a:t>• ADHD costs the UK economy £14.5 billion annually (London Economics, 2023)</a:t>
            </a:r>
          </a:p>
          <a:p>
            <a:pPr>
              <a:spcBef>
                <a:spcPts val="400"/>
              </a:spcBef>
            </a:pPr>
            <a:r>
              <a:rPr sz="1700">
                <a:solidFill>
                  <a:srgbClr val="F0F0F0"/>
                </a:solidFill>
              </a:rPr>
              <a:t>• Suicide risk: adults with ADHD are 2–4 times more likely to attempt suicide</a:t>
            </a:r>
          </a:p>
          <a:p>
            <a:pPr>
              <a:spcBef>
                <a:spcPts val="400"/>
              </a:spcBef>
            </a:pPr>
            <a:r>
              <a:rPr sz="1700">
                <a:solidFill>
                  <a:srgbClr val="F0F0F0"/>
                </a:solidFill>
              </a:rPr>
              <a:t>• Women and girls are significantly underdiagnosed due to internalising symptoms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Evidence &amp; Research</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000000"/>
          </a:xfrm>
          <a:prstGeom prst="rect">
            <a:avLst/>
          </a:prstGeom>
          <a:noFill/>
        </p:spPr>
        <p:txBody>
          <a:bodyPr wrap="square">
            <a:spAutoFit/>
          </a:bodyPr>
          <a:lstStyle/>
          <a:p>
            <a:pPr>
              <a:spcBef>
                <a:spcPts val="400"/>
              </a:spcBef>
            </a:pPr>
            <a:r>
              <a:rPr sz="1700">
                <a:solidFill>
                  <a:srgbClr val="F0F0F0"/>
                </a:solidFill>
              </a:rPr>
              <a:t>• ADHD is highly heritable: 70–80% genetic contribution (Faraone et al., 2021)</a:t>
            </a:r>
          </a:p>
          <a:p>
            <a:pPr>
              <a:spcBef>
                <a:spcPts val="400"/>
              </a:spcBef>
            </a:pPr>
            <a:r>
              <a:rPr sz="1700">
                <a:solidFill>
                  <a:srgbClr val="F0F0F0"/>
                </a:solidFill>
              </a:rPr>
              <a:t>• Stimulant medication is effective for 70–80% of people with ADHD</a:t>
            </a:r>
          </a:p>
          <a:p>
            <a:pPr>
              <a:spcBef>
                <a:spcPts val="400"/>
              </a:spcBef>
            </a:pPr>
            <a:r>
              <a:rPr sz="1700">
                <a:solidFill>
                  <a:srgbClr val="F0F0F0"/>
                </a:solidFill>
              </a:rPr>
              <a:t>• NICE (NG87): recommends combined medication and behavioural therapy</a:t>
            </a:r>
          </a:p>
          <a:p>
            <a:pPr>
              <a:spcBef>
                <a:spcPts val="400"/>
              </a:spcBef>
            </a:pPr>
            <a:r>
              <a:rPr sz="1700">
                <a:solidFill>
                  <a:srgbClr val="F0F0F0"/>
                </a:solidFill>
              </a:rPr>
              <a:t>• Adults with untreated ADHD are at higher risk of substance use and accidents</a:t>
            </a:r>
          </a:p>
          <a:p>
            <a:pPr>
              <a:spcBef>
                <a:spcPts val="400"/>
              </a:spcBef>
            </a:pPr>
            <a:r>
              <a:rPr sz="1700">
                <a:solidFill>
                  <a:srgbClr val="F0F0F0"/>
                </a:solidFill>
              </a:rPr>
              <a:t>• UK waiting times for adult ADHD assessment: up to 5 years in some areas (2023)</a:t>
            </a:r>
          </a:p>
          <a:p>
            <a:pPr>
              <a:spcBef>
                <a:spcPts val="400"/>
              </a:spcBef>
            </a:pPr>
            <a:r>
              <a:rPr sz="1700">
                <a:solidFill>
                  <a:srgbClr val="F0F0F0"/>
                </a:solidFill>
              </a:rPr>
              <a:t>• Exercise significantly improves ADHD symptoms: 30 minutes of aerobic activity</a:t>
            </a:r>
          </a:p>
        </p:txBody>
      </p:sp>
      <p:sp>
        <p:nvSpPr>
          <p:cNvPr id="7" name="TextBox 6"/>
          <p:cNvSpPr txBox="1"/>
          <p:nvPr/>
        </p:nvSpPr>
        <p:spPr>
          <a:xfrm>
            <a:off x="457200" y="5400000"/>
            <a:ext cx="8229600" cy="457200"/>
          </a:xfrm>
          <a:prstGeom prst="rect">
            <a:avLst/>
          </a:prstGeom>
          <a:noFill/>
        </p:spPr>
        <p:txBody>
          <a:bodyPr wrap="square">
            <a:spAutoFit/>
          </a:bodyPr>
          <a:lstStyle/>
          <a:p>
            <a:pPr algn="l"/>
            <a:r>
              <a:rPr sz="1300" b="1" i="0">
                <a:solidFill>
                  <a:srgbClr val="FF6B00"/>
                </a:solidFill>
              </a:rPr>
              <a:t>This content does not replace professional mental health advice.</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Case Study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200000"/>
          </a:xfrm>
          <a:prstGeom prst="rect">
            <a:avLst/>
          </a:prstGeom>
          <a:noFill/>
        </p:spPr>
        <p:txBody>
          <a:bodyPr wrap="square">
            <a:spAutoFit/>
          </a:bodyPr>
          <a:lstStyle/>
          <a:p>
            <a:pPr algn="l"/>
            <a:r>
              <a:rPr sz="1500" b="0" i="0">
                <a:solidFill>
                  <a:srgbClr val="F0F0F0"/>
                </a:solidFill>
              </a:rPr>
              <a:t>Priya, 32, was diagnosed with ADHD at 30 after years of job losses, relationship difficulties and feeling 'lazy' despite trying hard. Following diagnosis, she began methylphenidate and worked with an ADHD coach to develop time management systems. She learned to use body doubling (working alongside others) and external alarms to manage time blindness. Priya now runs her own business and advocates for ADHD awareness. Her story illustrates how late diagnosis and appropriate support can be life-changing.</a:t>
            </a:r>
          </a:p>
        </p:txBody>
      </p:sp>
      <p:sp>
        <p:nvSpPr>
          <p:cNvPr id="7" name="TextBox 6"/>
          <p:cNvSpPr txBox="1"/>
          <p:nvPr/>
        </p:nvSpPr>
        <p:spPr>
          <a:xfrm>
            <a:off x="457200" y="5600000"/>
            <a:ext cx="8229600" cy="457200"/>
          </a:xfrm>
          <a:prstGeom prst="rect">
            <a:avLst/>
          </a:prstGeom>
          <a:noFill/>
        </p:spPr>
        <p:txBody>
          <a:bodyPr wrap="square">
            <a:spAutoFit/>
          </a:bodyPr>
          <a:lstStyle/>
          <a:p>
            <a:pPr algn="l"/>
            <a:r>
              <a:rPr sz="1100" b="0" i="1">
                <a:solidFill>
                  <a:srgbClr val="AAAAAA"/>
                </a:solidFill>
              </a:rPr>
              <a:t>Names and details are fictional. Any resemblance to real persons is coincidental.</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Coping Strategies &amp; Interventions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Medication: stimulants (methylphenidate, lisdexamfetamine) and non-stimulants</a:t>
            </a:r>
          </a:p>
          <a:p>
            <a:pPr>
              <a:spcBef>
                <a:spcPts val="400"/>
              </a:spcBef>
            </a:pPr>
            <a:r>
              <a:rPr sz="1700">
                <a:solidFill>
                  <a:srgbClr val="F0F0F0"/>
                </a:solidFill>
              </a:rPr>
              <a:t>• Behavioural therapy: CBT adapted for ADHD, habit stacking and routine building</a:t>
            </a:r>
          </a:p>
          <a:p>
            <a:pPr>
              <a:spcBef>
                <a:spcPts val="400"/>
              </a:spcBef>
            </a:pPr>
            <a:r>
              <a:rPr sz="1700">
                <a:solidFill>
                  <a:srgbClr val="F0F0F0"/>
                </a:solidFill>
              </a:rPr>
              <a:t>• ADHD coaching: goal-setting, accountability and executive function support</a:t>
            </a:r>
          </a:p>
          <a:p>
            <a:pPr>
              <a:spcBef>
                <a:spcPts val="400"/>
              </a:spcBef>
            </a:pPr>
            <a:r>
              <a:rPr sz="1700">
                <a:solidFill>
                  <a:srgbClr val="F0F0F0"/>
                </a:solidFill>
              </a:rPr>
              <a:t>• Environmental modifications: reducing distractions, using noise-cancelling headphones</a:t>
            </a:r>
          </a:p>
          <a:p>
            <a:pPr>
              <a:spcBef>
                <a:spcPts val="400"/>
              </a:spcBef>
            </a:pPr>
            <a:r>
              <a:rPr sz="1700">
                <a:solidFill>
                  <a:srgbClr val="F0F0F0"/>
                </a:solidFill>
              </a:rPr>
              <a:t>• Body doubling: working alongside others to improve focus and task completion</a:t>
            </a:r>
          </a:p>
          <a:p>
            <a:pPr>
              <a:spcBef>
                <a:spcPts val="400"/>
              </a:spcBef>
            </a:pPr>
            <a:r>
              <a:rPr sz="1700">
                <a:solidFill>
                  <a:srgbClr val="F0F0F0"/>
                </a:solidFill>
              </a:rPr>
              <a:t>• Time management tools: timers, visual schedules, digital reminders</a:t>
            </a:r>
          </a:p>
          <a:p>
            <a:pPr>
              <a:spcBef>
                <a:spcPts val="400"/>
              </a:spcBef>
            </a:pPr>
            <a:r>
              <a:rPr sz="1700">
                <a:solidFill>
                  <a:srgbClr val="F0F0F0"/>
                </a:solidFill>
              </a:rPr>
              <a:t>• Exercise: regular physical activity significantly improves ADHD symptoms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Interactive Activity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2800000"/>
          </a:xfrm>
          <a:prstGeom prst="rect">
            <a:avLst/>
          </a:prstGeom>
          <a:noFill/>
        </p:spPr>
        <p:txBody>
          <a:bodyPr wrap="square">
            <a:spAutoFit/>
          </a:bodyPr>
          <a:lstStyle/>
          <a:p>
            <a:pPr algn="l"/>
            <a:r>
              <a:rPr sz="1700" b="0" i="0">
                <a:solidFill>
                  <a:srgbClr val="F0F0F0"/>
                </a:solidFill>
              </a:rPr>
              <a:t>Time blindness experiment: Participants estimate how long 2 minutes feels without looking at a clock. Discuss: How does poor time perception affect daily life? What strategies could help? Share one time management tool that works for you.</a:t>
            </a:r>
          </a:p>
        </p:txBody>
      </p:sp>
      <p:sp>
        <p:nvSpPr>
          <p:cNvPr id="7" name="TextBox 6"/>
          <p:cNvSpPr txBox="1"/>
          <p:nvPr/>
        </p:nvSpPr>
        <p:spPr>
          <a:xfrm>
            <a:off x="457200" y="4200000"/>
            <a:ext cx="8229600" cy="365760"/>
          </a:xfrm>
          <a:prstGeom prst="rect">
            <a:avLst/>
          </a:prstGeom>
          <a:noFill/>
        </p:spPr>
        <p:txBody>
          <a:bodyPr wrap="square">
            <a:spAutoFit/>
          </a:bodyPr>
          <a:lstStyle/>
          <a:p>
            <a:pPr algn="l"/>
            <a:r>
              <a:rPr sz="1600" b="1" i="0">
                <a:solidFill>
                  <a:srgbClr val="FF6B00"/>
                </a:solidFill>
              </a:rPr>
              <a:t>Instructions:</a:t>
            </a:r>
          </a:p>
        </p:txBody>
      </p:sp>
      <p:sp>
        <p:nvSpPr>
          <p:cNvPr id="8" name="TextBox 7"/>
          <p:cNvSpPr txBox="1"/>
          <p:nvPr/>
        </p:nvSpPr>
        <p:spPr>
          <a:xfrm>
            <a:off x="457200" y="4600000"/>
            <a:ext cx="8229600" cy="1500000"/>
          </a:xfrm>
          <a:prstGeom prst="rect">
            <a:avLst/>
          </a:prstGeom>
          <a:noFill/>
        </p:spPr>
        <p:txBody>
          <a:bodyPr wrap="square">
            <a:spAutoFit/>
          </a:bodyPr>
          <a:lstStyle/>
          <a:p>
            <a:pPr>
              <a:spcBef>
                <a:spcPts val="400"/>
              </a:spcBef>
            </a:pPr>
            <a:r>
              <a:rPr sz="1500">
                <a:solidFill>
                  <a:srgbClr val="AAAAAA"/>
                </a:solidFill>
              </a:rPr>
              <a:t>• Take 5 minutes to reflect individually or in pairs</a:t>
            </a:r>
          </a:p>
          <a:p>
            <a:pPr>
              <a:spcBef>
                <a:spcPts val="400"/>
              </a:spcBef>
            </a:pPr>
            <a:r>
              <a:rPr sz="1500">
                <a:solidFill>
                  <a:srgbClr val="AAAAAA"/>
                </a:solidFill>
              </a:rPr>
              <a:t>• Share your thoughts with the group (optional — sharing is never required)</a:t>
            </a:r>
          </a:p>
          <a:p>
            <a:pPr>
              <a:spcBef>
                <a:spcPts val="400"/>
              </a:spcBef>
            </a:pPr>
            <a:r>
              <a:rPr sz="1500">
                <a:solidFill>
                  <a:srgbClr val="AAAAAA"/>
                </a:solidFill>
              </a:rPr>
              <a:t>• Facilitator will guide and support the discussion</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Group Discussion (30 minutes)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57200"/>
          </a:xfrm>
          <a:prstGeom prst="rect">
            <a:avLst/>
          </a:prstGeom>
          <a:noFill/>
        </p:spPr>
        <p:txBody>
          <a:bodyPr wrap="square">
            <a:spAutoFit/>
          </a:bodyPr>
          <a:lstStyle/>
          <a:p>
            <a:pPr algn="l"/>
            <a:r>
              <a:rPr sz="1800" b="1" i="0">
                <a:solidFill>
                  <a:srgbClr val="00BFBF"/>
                </a:solidFill>
              </a:rPr>
              <a:t>Reflection Questions</a:t>
            </a:r>
          </a:p>
        </p:txBody>
      </p:sp>
      <p:sp>
        <p:nvSpPr>
          <p:cNvPr id="7" name="TextBox 6"/>
          <p:cNvSpPr txBox="1"/>
          <p:nvPr/>
        </p:nvSpPr>
        <p:spPr>
          <a:xfrm>
            <a:off x="457200" y="1800000"/>
            <a:ext cx="8229600" cy="4000000"/>
          </a:xfrm>
          <a:prstGeom prst="rect">
            <a:avLst/>
          </a:prstGeom>
          <a:noFill/>
        </p:spPr>
        <p:txBody>
          <a:bodyPr wrap="square">
            <a:spAutoFit/>
          </a:bodyPr>
          <a:lstStyle/>
          <a:p>
            <a:pPr>
              <a:spcBef>
                <a:spcPts val="400"/>
              </a:spcBef>
            </a:pPr>
            <a:r>
              <a:rPr sz="1700">
                <a:solidFill>
                  <a:srgbClr val="F0F0F0"/>
                </a:solidFill>
              </a:rPr>
              <a:t>• How has ADHD been portrayed in the media — accurately or inaccurately?</a:t>
            </a:r>
          </a:p>
          <a:p>
            <a:pPr>
              <a:spcBef>
                <a:spcPts val="400"/>
              </a:spcBef>
            </a:pPr>
            <a:r>
              <a:rPr sz="1700">
                <a:solidFill>
                  <a:srgbClr val="F0F0F0"/>
                </a:solidFill>
              </a:rPr>
              <a:t>• What challenges might an adult with undiagnosed ADHD face in the workplace?</a:t>
            </a:r>
          </a:p>
          <a:p>
            <a:pPr>
              <a:spcBef>
                <a:spcPts val="400"/>
              </a:spcBef>
            </a:pPr>
            <a:r>
              <a:rPr sz="1700">
                <a:solidFill>
                  <a:srgbClr val="F0F0F0"/>
                </a:solidFill>
              </a:rPr>
              <a:t>• How can employers make reasonable adjustments for people with ADHD?</a:t>
            </a:r>
          </a:p>
          <a:p>
            <a:pPr>
              <a:spcBef>
                <a:spcPts val="400"/>
              </a:spcBef>
            </a:pPr>
            <a:r>
              <a:rPr sz="1700">
                <a:solidFill>
                  <a:srgbClr val="F0F0F0"/>
                </a:solidFill>
              </a:rPr>
              <a:t>• What stigma surrounds ADHD medication and how can we address it?</a:t>
            </a:r>
          </a:p>
          <a:p>
            <a:pPr>
              <a:spcBef>
                <a:spcPts val="400"/>
              </a:spcBef>
            </a:pPr>
            <a:r>
              <a:rPr sz="1700">
                <a:solidFill>
                  <a:srgbClr val="F0F0F0"/>
                </a:solidFill>
              </a:rPr>
              <a:t>• What resources are available for adults with ADHD in Wiltshire?</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400" b="1" i="0">
                <a:solidFill>
                  <a:srgbClr val="FF6B00"/>
                </a:solidFill>
              </a:rPr>
              <a:t>Remember: You are never alone. Help is always available.</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Resources &amp; Further Support</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365760"/>
          </a:xfrm>
          <a:prstGeom prst="rect">
            <a:avLst/>
          </a:prstGeom>
          <a:noFill/>
        </p:spPr>
        <p:txBody>
          <a:bodyPr wrap="square">
            <a:spAutoFit/>
          </a:bodyPr>
          <a:lstStyle/>
          <a:p>
            <a:pPr algn="l"/>
            <a:r>
              <a:rPr sz="1800" b="1" i="0">
                <a:solidFill>
                  <a:srgbClr val="00BFBF"/>
                </a:solidFill>
              </a:rPr>
              <a:t>Key References</a:t>
            </a:r>
          </a:p>
        </p:txBody>
      </p:sp>
      <p:sp>
        <p:nvSpPr>
          <p:cNvPr id="7" name="TextBox 6"/>
          <p:cNvSpPr txBox="1"/>
          <p:nvPr/>
        </p:nvSpPr>
        <p:spPr>
          <a:xfrm>
            <a:off x="457200" y="1700000"/>
            <a:ext cx="8229600" cy="2200000"/>
          </a:xfrm>
          <a:prstGeom prst="rect">
            <a:avLst/>
          </a:prstGeom>
          <a:noFill/>
        </p:spPr>
        <p:txBody>
          <a:bodyPr wrap="square">
            <a:spAutoFit/>
          </a:bodyPr>
          <a:lstStyle/>
          <a:p>
            <a:pPr>
              <a:spcBef>
                <a:spcPts val="400"/>
              </a:spcBef>
            </a:pPr>
            <a:r>
              <a:rPr sz="1400">
                <a:solidFill>
                  <a:srgbClr val="F0F0F0"/>
                </a:solidFill>
              </a:rPr>
              <a:t>• NICE Guideline NG87: Attention deficit hyperactivity disorder (2018)</a:t>
            </a:r>
          </a:p>
          <a:p>
            <a:pPr>
              <a:spcBef>
                <a:spcPts val="400"/>
              </a:spcBef>
            </a:pPr>
            <a:r>
              <a:rPr sz="1400">
                <a:solidFill>
                  <a:srgbClr val="F0F0F0"/>
                </a:solidFill>
              </a:rPr>
              <a:t>• ADHD UK: adhduk.co.uk</a:t>
            </a:r>
          </a:p>
          <a:p>
            <a:pPr>
              <a:spcBef>
                <a:spcPts val="400"/>
              </a:spcBef>
            </a:pPr>
            <a:r>
              <a:rPr sz="1400">
                <a:solidFill>
                  <a:srgbClr val="F0F0F0"/>
                </a:solidFill>
              </a:rPr>
              <a:t>• ADDitude Magazine: additudemag.com</a:t>
            </a:r>
          </a:p>
          <a:p>
            <a:pPr>
              <a:spcBef>
                <a:spcPts val="400"/>
              </a:spcBef>
            </a:pPr>
            <a:r>
              <a:rPr sz="1400">
                <a:solidFill>
                  <a:srgbClr val="F0F0F0"/>
                </a:solidFill>
              </a:rPr>
              <a:t>• NHS: ADHD overview (nhs.uk/conditions/attention-deficit-hyperactivity-disorder-adhd)</a:t>
            </a:r>
          </a:p>
          <a:p>
            <a:pPr>
              <a:spcBef>
                <a:spcPts val="400"/>
              </a:spcBef>
            </a:pPr>
            <a:r>
              <a:rPr sz="1400">
                <a:solidFill>
                  <a:srgbClr val="F0F0F0"/>
                </a:solidFill>
              </a:rPr>
              <a:t>• CHADD: chadd.org (international resource)</a:t>
            </a:r>
          </a:p>
        </p:txBody>
      </p:sp>
      <p:sp>
        <p:nvSpPr>
          <p:cNvPr id="8" name="TextBox 7"/>
          <p:cNvSpPr txBox="1"/>
          <p:nvPr/>
        </p:nvSpPr>
        <p:spPr>
          <a:xfrm>
            <a:off x="457200" y="4000000"/>
            <a:ext cx="8229600" cy="365760"/>
          </a:xfrm>
          <a:prstGeom prst="rect">
            <a:avLst/>
          </a:prstGeom>
          <a:noFill/>
        </p:spPr>
        <p:txBody>
          <a:bodyPr wrap="square">
            <a:spAutoFit/>
          </a:bodyPr>
          <a:lstStyle/>
          <a:p>
            <a:pPr algn="l"/>
            <a:r>
              <a:rPr sz="1800" b="1" i="0">
                <a:solidFill>
                  <a:srgbClr val="FF6B00"/>
                </a:solidFill>
              </a:rPr>
              <a:t>Crisis Support</a:t>
            </a:r>
          </a:p>
        </p:txBody>
      </p:sp>
      <p:sp>
        <p:nvSpPr>
          <p:cNvPr id="9" name="TextBox 8"/>
          <p:cNvSpPr txBox="1"/>
          <p:nvPr/>
        </p:nvSpPr>
        <p:spPr>
          <a:xfrm>
            <a:off x="457200" y="4450000"/>
            <a:ext cx="8229600" cy="1800000"/>
          </a:xfrm>
          <a:prstGeom prst="rect">
            <a:avLst/>
          </a:prstGeom>
          <a:noFill/>
        </p:spPr>
        <p:txBody>
          <a:bodyPr wrap="square">
            <a:spAutoFit/>
          </a:bodyPr>
          <a:lstStyle/>
          <a:p>
            <a:pPr>
              <a:spcBef>
                <a:spcPts val="400"/>
              </a:spcBef>
            </a:pPr>
            <a:r>
              <a:rPr sz="1300">
                <a:solidFill>
                  <a:srgbClr val="AAAAAA"/>
                </a:solidFill>
              </a:rPr>
              <a:t>• Emergency: 999</a:t>
            </a:r>
          </a:p>
          <a:p>
            <a:pPr>
              <a:spcBef>
                <a:spcPts val="400"/>
              </a:spcBef>
            </a:pPr>
            <a:r>
              <a:rPr sz="1300">
                <a:solidFill>
                  <a:srgbClr val="AAAAAA"/>
                </a:solidFill>
              </a:rPr>
              <a:t>• NHS 111: 24/7 urgent mental health support</a:t>
            </a:r>
          </a:p>
          <a:p>
            <a:pPr>
              <a:spcBef>
                <a:spcPts val="400"/>
              </a:spcBef>
            </a:pPr>
            <a:r>
              <a:rPr sz="1300">
                <a:solidFill>
                  <a:srgbClr val="AAAAAA"/>
                </a:solidFill>
              </a:rPr>
              <a:t>• Samaritans: 116 123 (free, 24/7)</a:t>
            </a:r>
          </a:p>
          <a:p>
            <a:pPr>
              <a:spcBef>
                <a:spcPts val="400"/>
              </a:spcBef>
            </a:pPr>
            <a:r>
              <a:rPr sz="1300">
                <a:solidFill>
                  <a:srgbClr val="AAAAAA"/>
                </a:solidFill>
              </a:rPr>
              <a:t>• Shout Crisis Text: Text SHOUT to 85258</a:t>
            </a:r>
          </a:p>
          <a:p>
            <a:pPr>
              <a:spcBef>
                <a:spcPts val="400"/>
              </a:spcBef>
            </a:pPr>
            <a:r>
              <a:rPr sz="1300">
                <a:solidFill>
                  <a:srgbClr val="AAAAAA"/>
                </a:solidFill>
              </a:rPr>
              <a:t>• Wiltshire Crisis Line: 0800 953 0110 (24/7)</a:t>
            </a:r>
          </a:p>
          <a:p>
            <a:pPr>
              <a:spcBef>
                <a:spcPts val="400"/>
              </a:spcBef>
            </a:pPr>
            <a:r>
              <a:rPr sz="1300">
                <a:solidFill>
                  <a:srgbClr val="AAAAAA"/>
                </a:solidFill>
              </a:rPr>
              <a:t>• PAPYRUS (under 35): 0800 068 4141</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640080"/>
          </a:xfrm>
          <a:prstGeom prst="rect">
            <a:avLst/>
          </a:prstGeom>
          <a:noFill/>
        </p:spPr>
        <p:txBody>
          <a:bodyPr wrap="square">
            <a:spAutoFit/>
          </a:bodyPr>
          <a:lstStyle/>
          <a:p>
            <a:pPr algn="l"/>
            <a:r>
              <a:rPr sz="3400" b="1" i="0">
                <a:solidFill>
                  <a:srgbClr val="1A1A1A"/>
                </a:solidFill>
              </a:rPr>
              <a:t>Module 4 Complete</a:t>
            </a:r>
          </a:p>
        </p:txBody>
      </p:sp>
      <p:sp>
        <p:nvSpPr>
          <p:cNvPr id="6" name="TextBox 5"/>
          <p:cNvSpPr txBox="1"/>
          <p:nvPr/>
        </p:nvSpPr>
        <p:spPr>
          <a:xfrm>
            <a:off x="457200" y="700000"/>
            <a:ext cx="7589520" cy="640080"/>
          </a:xfrm>
          <a:prstGeom prst="rect">
            <a:avLst/>
          </a:prstGeom>
          <a:noFill/>
        </p:spPr>
        <p:txBody>
          <a:bodyPr wrap="square">
            <a:spAutoFit/>
          </a:bodyPr>
          <a:lstStyle/>
          <a:p>
            <a:pPr algn="l"/>
            <a:r>
              <a:rPr sz="2000" b="0" i="0">
                <a:solidFill>
                  <a:srgbClr val="1A1A1A"/>
                </a:solidFill>
              </a:rPr>
              <a:t>Neurodevelopmental Disorders: ADHD</a:t>
            </a:r>
          </a:p>
        </p:txBody>
      </p:sp>
      <p:sp>
        <p:nvSpPr>
          <p:cNvPr id="7" name="TextBox 6"/>
          <p:cNvSpPr txBox="1"/>
          <p:nvPr/>
        </p:nvSpPr>
        <p:spPr>
          <a:xfrm>
            <a:off x="457200" y="2100000"/>
            <a:ext cx="8229600" cy="3200000"/>
          </a:xfrm>
          <a:prstGeom prst="rect">
            <a:avLst/>
          </a:prstGeom>
          <a:noFill/>
        </p:spPr>
        <p:txBody>
          <a:bodyPr wrap="square">
            <a:spAutoFit/>
          </a:bodyPr>
          <a:lstStyle/>
          <a:p>
            <a:pPr>
              <a:spcBef>
                <a:spcPts val="400"/>
              </a:spcBef>
            </a:pPr>
            <a:r>
              <a:rPr sz="1700">
                <a:solidFill>
                  <a:srgbClr val="F0F0F0"/>
                </a:solidFill>
              </a:rPr>
              <a:t>• You have completed Module 4: Neurodevelopmental Disorders: ADHD</a:t>
            </a:r>
          </a:p>
          <a:p>
            <a:pPr>
              <a:spcBef>
                <a:spcPts val="400"/>
              </a:spcBef>
            </a:pPr>
            <a:r>
              <a:rPr sz="1700">
                <a:solidFill>
                  <a:srgbClr val="F0F0F0"/>
                </a:solidFill>
              </a:rPr>
              <a:t>• Key concepts and evidence-based strategies have been explored</a:t>
            </a:r>
          </a:p>
          <a:p>
            <a:pPr>
              <a:spcBef>
                <a:spcPts val="400"/>
              </a:spcBef>
            </a:pPr>
            <a:r>
              <a:rPr sz="1700">
                <a:solidFill>
                  <a:srgbClr val="F0F0F0"/>
                </a:solidFill>
              </a:rPr>
              <a:t>• Please complete the post-session reflection form</a:t>
            </a:r>
          </a:p>
          <a:p>
            <a:pPr>
              <a:spcBef>
                <a:spcPts val="400"/>
              </a:spcBef>
            </a:pPr>
            <a:r>
              <a:rPr sz="1700">
                <a:solidFill>
                  <a:srgbClr val="F0F0F0"/>
                </a:solidFill>
              </a:rPr>
              <a:t>• Access course materials and handouts in the Members Portal</a:t>
            </a:r>
          </a:p>
          <a:p>
            <a:pPr>
              <a:spcBef>
                <a:spcPts val="400"/>
              </a:spcBef>
            </a:pPr>
            <a:r>
              <a:rPr sz="1700">
                <a:solidFill>
                  <a:srgbClr val="F0F0F0"/>
                </a:solidFill>
              </a:rPr>
              <a:t>• Our next session builds on today's learning</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300" b="0" i="0">
                <a:solidFill>
                  <a:srgbClr val="AAAAAA"/>
                </a:solidFill>
              </a:rPr>
              <a:t>melksham-mentalhealth.us  |  Melksham-mental-health@outlook.com</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
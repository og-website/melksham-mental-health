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40</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Psychological Therapies Overview</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Psychological therapies are the cornerstone of mental health treatment. This module provides a comprehensive overview of the major therapeutic modalities — including CBT, psychodynamic therapy, DBT, ACT and humanistic approaches — alongside guidance on how to access talking therapies in Wiltshire.</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Identify the major psychological therapy modalities and their evidence base</a:t>
            </a:r>
          </a:p>
          <a:p>
            <a:pPr>
              <a:spcBef>
                <a:spcPts val="400"/>
              </a:spcBef>
            </a:pPr>
            <a:r>
              <a:rPr sz="1700">
                <a:solidFill>
                  <a:srgbClr val="F0F0F0"/>
                </a:solidFill>
              </a:rPr>
              <a:t>• Understand the principles of cognitive behavioural therapy (CBT)</a:t>
            </a:r>
          </a:p>
          <a:p>
            <a:pPr>
              <a:spcBef>
                <a:spcPts val="400"/>
              </a:spcBef>
            </a:pPr>
            <a:r>
              <a:rPr sz="1700">
                <a:solidFill>
                  <a:srgbClr val="F0F0F0"/>
                </a:solidFill>
              </a:rPr>
              <a:t>• Explore psychodynamic, humanistic, systemic and third-wave approaches</a:t>
            </a:r>
          </a:p>
          <a:p>
            <a:pPr>
              <a:spcBef>
                <a:spcPts val="400"/>
              </a:spcBef>
            </a:pPr>
            <a:r>
              <a:rPr sz="1700">
                <a:solidFill>
                  <a:srgbClr val="F0F0F0"/>
                </a:solidFill>
              </a:rPr>
              <a:t>• Understand how to match therapy type to presenting problem</a:t>
            </a:r>
          </a:p>
          <a:p>
            <a:pPr>
              <a:spcBef>
                <a:spcPts val="400"/>
              </a:spcBef>
            </a:pPr>
            <a:r>
              <a:rPr sz="1700">
                <a:solidFill>
                  <a:srgbClr val="F0F0F0"/>
                </a:solidFill>
              </a:rPr>
              <a:t>• Develop skills for supporting someone to access talking therapies</a:t>
            </a:r>
          </a:p>
          <a:p>
            <a:pPr>
              <a:spcBef>
                <a:spcPts val="400"/>
              </a:spcBef>
            </a:pPr>
            <a:r>
              <a:rPr sz="1700">
                <a:solidFill>
                  <a:srgbClr val="F0F0F0"/>
                </a:solidFill>
              </a:rPr>
              <a:t>• Know the talking therapy services available in Wiltshire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40: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CBT: identifying and changing negative thought patterns and behaviours</a:t>
            </a:r>
          </a:p>
          <a:p>
            <a:pPr>
              <a:spcBef>
                <a:spcPts val="400"/>
              </a:spcBef>
            </a:pPr>
            <a:r>
              <a:rPr sz="1700">
                <a:solidFill>
                  <a:srgbClr val="F0F0F0"/>
                </a:solidFill>
              </a:rPr>
              <a:t>• Psychodynamic therapy: exploring unconscious processes and early relationships</a:t>
            </a:r>
          </a:p>
          <a:p>
            <a:pPr>
              <a:spcBef>
                <a:spcPts val="400"/>
              </a:spcBef>
            </a:pPr>
            <a:r>
              <a:rPr sz="1700">
                <a:solidFill>
                  <a:srgbClr val="F0F0F0"/>
                </a:solidFill>
              </a:rPr>
              <a:t>• Person-centred therapy: unconditional positive regard, empathy and congruence</a:t>
            </a:r>
          </a:p>
          <a:p>
            <a:pPr>
              <a:spcBef>
                <a:spcPts val="400"/>
              </a:spcBef>
            </a:pPr>
            <a:r>
              <a:rPr sz="1700">
                <a:solidFill>
                  <a:srgbClr val="F0F0F0"/>
                </a:solidFill>
              </a:rPr>
              <a:t>• DBT: dialectical behaviour therapy for emotional dysregulation</a:t>
            </a:r>
          </a:p>
          <a:p>
            <a:pPr>
              <a:spcBef>
                <a:spcPts val="400"/>
              </a:spcBef>
            </a:pPr>
            <a:r>
              <a:rPr sz="1700">
                <a:solidFill>
                  <a:srgbClr val="F0F0F0"/>
                </a:solidFill>
              </a:rPr>
              <a:t>• ACT: acceptance and commitment therapy — psychological flexibility</a:t>
            </a:r>
          </a:p>
          <a:p>
            <a:pPr>
              <a:spcBef>
                <a:spcPts val="400"/>
              </a:spcBef>
            </a:pPr>
            <a:r>
              <a:rPr sz="1700">
                <a:solidFill>
                  <a:srgbClr val="F0F0F0"/>
                </a:solidFill>
              </a:rPr>
              <a:t>• EMDR: eye movement desensitisation and reprocessing for trauma</a:t>
            </a:r>
          </a:p>
          <a:p>
            <a:pPr>
              <a:spcBef>
                <a:spcPts val="400"/>
              </a:spcBef>
            </a:pPr>
            <a:r>
              <a:rPr sz="1700">
                <a:solidFill>
                  <a:srgbClr val="F0F0F0"/>
                </a:solidFill>
              </a:rPr>
              <a:t>• Systemic therapy: working with families and relationship systems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CBT is the most researched psychological therapy with the strongest evidence base</a:t>
            </a:r>
          </a:p>
          <a:p>
            <a:pPr>
              <a:spcBef>
                <a:spcPts val="400"/>
              </a:spcBef>
            </a:pPr>
            <a:r>
              <a:rPr sz="1700">
                <a:solidFill>
                  <a:srgbClr val="F0F0F0"/>
                </a:solidFill>
              </a:rPr>
              <a:t>• IAPT: 1.6 million people access talking therapies in England each year (NHS, 2023)</a:t>
            </a:r>
          </a:p>
          <a:p>
            <a:pPr>
              <a:spcBef>
                <a:spcPts val="400"/>
              </a:spcBef>
            </a:pPr>
            <a:r>
              <a:rPr sz="1700">
                <a:solidFill>
                  <a:srgbClr val="F0F0F0"/>
                </a:solidFill>
              </a:rPr>
              <a:t>• Recovery rate in IAPT: 52% of people who complete treatment recover</a:t>
            </a:r>
          </a:p>
          <a:p>
            <a:pPr>
              <a:spcBef>
                <a:spcPts val="400"/>
              </a:spcBef>
            </a:pPr>
            <a:r>
              <a:rPr sz="1700">
                <a:solidFill>
                  <a:srgbClr val="F0F0F0"/>
                </a:solidFill>
              </a:rPr>
              <a:t>• Average wait for IAPT: 6–8 weeks in England (2023)</a:t>
            </a:r>
          </a:p>
          <a:p>
            <a:pPr>
              <a:spcBef>
                <a:spcPts val="400"/>
              </a:spcBef>
            </a:pPr>
            <a:r>
              <a:rPr sz="1700">
                <a:solidFill>
                  <a:srgbClr val="F0F0F0"/>
                </a:solidFill>
              </a:rPr>
              <a:t>• Private therapy: average cost £50–£100 per session</a:t>
            </a:r>
          </a:p>
          <a:p>
            <a:pPr>
              <a:spcBef>
                <a:spcPts val="400"/>
              </a:spcBef>
            </a:pPr>
            <a:r>
              <a:rPr sz="1700">
                <a:solidFill>
                  <a:srgbClr val="F0F0F0"/>
                </a:solidFill>
              </a:rPr>
              <a:t>• Only 25% of people who need talking therapy receive it (NHS England)</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NICE recommends CBT as first-line for depression, anxiety, OCD, PTSD and eating disorders</a:t>
            </a:r>
          </a:p>
          <a:p>
            <a:pPr>
              <a:spcBef>
                <a:spcPts val="400"/>
              </a:spcBef>
            </a:pPr>
            <a:r>
              <a:rPr sz="1700">
                <a:solidFill>
                  <a:srgbClr val="F0F0F0"/>
                </a:solidFill>
              </a:rPr>
              <a:t>• EMDR is NICE-recommended as first-line for PTSD</a:t>
            </a:r>
          </a:p>
          <a:p>
            <a:pPr>
              <a:spcBef>
                <a:spcPts val="400"/>
              </a:spcBef>
            </a:pPr>
            <a:r>
              <a:rPr sz="1700">
                <a:solidFill>
                  <a:srgbClr val="F0F0F0"/>
                </a:solidFill>
              </a:rPr>
              <a:t>• DBT is NICE-recommended for borderline personality disorder</a:t>
            </a:r>
          </a:p>
          <a:p>
            <a:pPr>
              <a:spcBef>
                <a:spcPts val="400"/>
              </a:spcBef>
            </a:pPr>
            <a:r>
              <a:rPr sz="1700">
                <a:solidFill>
                  <a:srgbClr val="F0F0F0"/>
                </a:solidFill>
              </a:rPr>
              <a:t>• Person-centred therapy is effective for mild-moderate depression and anxiety</a:t>
            </a:r>
          </a:p>
          <a:p>
            <a:pPr>
              <a:spcBef>
                <a:spcPts val="400"/>
              </a:spcBef>
            </a:pPr>
            <a:r>
              <a:rPr sz="1700">
                <a:solidFill>
                  <a:srgbClr val="F0F0F0"/>
                </a:solidFill>
              </a:rPr>
              <a:t>• Systemic therapy is effective for family conflict, eating disorders and psychosis</a:t>
            </a:r>
          </a:p>
          <a:p>
            <a:pPr>
              <a:spcBef>
                <a:spcPts val="400"/>
              </a:spcBef>
            </a:pPr>
            <a:r>
              <a:rPr sz="1700">
                <a:solidFill>
                  <a:srgbClr val="F0F0F0"/>
                </a:solidFill>
              </a:rPr>
              <a:t>• Online CBT (iCBT) is as effective as face-to-face CBT for mild-moderate conditions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Aisha, 26, had been struggling with depression and anxiety for two years. She was referred to IAPT and began a course of CBT. Initially sceptical, Aisha found the structured, practical approach helpful. She learned to identify her negative automatic thoughts, challenge them and engage in behavioural activation. After 16 sessions, her PHQ-9 score dropped from 19 to 4. Aisha described CBT as 'giving me a toolkit for life'.</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CBT: structured, time-limited, practical and evidence-based</a:t>
            </a:r>
          </a:p>
          <a:p>
            <a:pPr>
              <a:spcBef>
                <a:spcPts val="400"/>
              </a:spcBef>
            </a:pPr>
            <a:r>
              <a:rPr sz="1700">
                <a:solidFill>
                  <a:srgbClr val="F0F0F0"/>
                </a:solidFill>
              </a:rPr>
              <a:t>• EMDR: effective for trauma; NICE first-line for PTSD</a:t>
            </a:r>
          </a:p>
          <a:p>
            <a:pPr>
              <a:spcBef>
                <a:spcPts val="400"/>
              </a:spcBef>
            </a:pPr>
            <a:r>
              <a:rPr sz="1700">
                <a:solidFill>
                  <a:srgbClr val="F0F0F0"/>
                </a:solidFill>
              </a:rPr>
              <a:t>• DBT: skills-based approach for emotional dysregulation</a:t>
            </a:r>
          </a:p>
          <a:p>
            <a:pPr>
              <a:spcBef>
                <a:spcPts val="400"/>
              </a:spcBef>
            </a:pPr>
            <a:r>
              <a:rPr sz="1700">
                <a:solidFill>
                  <a:srgbClr val="F0F0F0"/>
                </a:solidFill>
              </a:rPr>
              <a:t>• ACT: developing psychological flexibility and values-based living</a:t>
            </a:r>
          </a:p>
          <a:p>
            <a:pPr>
              <a:spcBef>
                <a:spcPts val="400"/>
              </a:spcBef>
            </a:pPr>
            <a:r>
              <a:rPr sz="1700">
                <a:solidFill>
                  <a:srgbClr val="F0F0F0"/>
                </a:solidFill>
              </a:rPr>
              <a:t>• Person-centred therapy: supportive, non-directive and empathic</a:t>
            </a:r>
          </a:p>
          <a:p>
            <a:pPr>
              <a:spcBef>
                <a:spcPts val="400"/>
              </a:spcBef>
            </a:pPr>
            <a:r>
              <a:rPr sz="1700">
                <a:solidFill>
                  <a:srgbClr val="F0F0F0"/>
                </a:solidFill>
              </a:rPr>
              <a:t>• Systemic therapy: working with families and relationship systems</a:t>
            </a:r>
          </a:p>
          <a:p>
            <a:pPr>
              <a:spcBef>
                <a:spcPts val="400"/>
              </a:spcBef>
            </a:pPr>
            <a:r>
              <a:rPr sz="1700">
                <a:solidFill>
                  <a:srgbClr val="F0F0F0"/>
                </a:solidFill>
              </a:rPr>
              <a:t>• Self-help: CBT workbooks, apps and online programmes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Therapy matching exercise: Participants are presented with three case vignettes and asked to identify the most appropriate therapy for each person. Discuss: How do you decide which therapy is right for someone? What factors influence the choice of therapy?</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experiences have you had of psychological therapy — positive or negative?</a:t>
            </a:r>
          </a:p>
          <a:p>
            <a:pPr>
              <a:spcBef>
                <a:spcPts val="400"/>
              </a:spcBef>
            </a:pPr>
            <a:r>
              <a:rPr sz="1700">
                <a:solidFill>
                  <a:srgbClr val="F0F0F0"/>
                </a:solidFill>
              </a:rPr>
              <a:t>• How do you decide which type of therapy is right for someone?</a:t>
            </a:r>
          </a:p>
          <a:p>
            <a:pPr>
              <a:spcBef>
                <a:spcPts val="400"/>
              </a:spcBef>
            </a:pPr>
            <a:r>
              <a:rPr sz="1700">
                <a:solidFill>
                  <a:srgbClr val="F0F0F0"/>
                </a:solidFill>
              </a:rPr>
              <a:t>• What barriers prevent people from accessing talking therapies?</a:t>
            </a:r>
          </a:p>
          <a:p>
            <a:pPr>
              <a:spcBef>
                <a:spcPts val="400"/>
              </a:spcBef>
            </a:pPr>
            <a:r>
              <a:rPr sz="1700">
                <a:solidFill>
                  <a:srgbClr val="F0F0F0"/>
                </a:solidFill>
              </a:rPr>
              <a:t>• How effective is online therapy compared to face-to-face therapy?</a:t>
            </a:r>
          </a:p>
          <a:p>
            <a:pPr>
              <a:spcBef>
                <a:spcPts val="400"/>
              </a:spcBef>
            </a:pPr>
            <a:r>
              <a:rPr sz="1700">
                <a:solidFill>
                  <a:srgbClr val="F0F0F0"/>
                </a:solidFill>
              </a:rPr>
              <a:t>• What talking therapy services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IAPT: nhs.uk/mental-health/talking-therapies-medicine-treatments/talking-therapies-and-counselling</a:t>
            </a:r>
          </a:p>
          <a:p>
            <a:pPr>
              <a:spcBef>
                <a:spcPts val="400"/>
              </a:spcBef>
            </a:pPr>
            <a:r>
              <a:rPr sz="1400">
                <a:solidFill>
                  <a:srgbClr val="F0F0F0"/>
                </a:solidFill>
              </a:rPr>
              <a:t>• BACP: bacp.co.uk (find a therapist)</a:t>
            </a:r>
          </a:p>
          <a:p>
            <a:pPr>
              <a:spcBef>
                <a:spcPts val="400"/>
              </a:spcBef>
            </a:pPr>
            <a:r>
              <a:rPr sz="1400">
                <a:solidFill>
                  <a:srgbClr val="F0F0F0"/>
                </a:solidFill>
              </a:rPr>
              <a:t>• Mind UK: Talking therapies (mind.org.uk)</a:t>
            </a:r>
          </a:p>
          <a:p>
            <a:pPr>
              <a:spcBef>
                <a:spcPts val="400"/>
              </a:spcBef>
            </a:pPr>
            <a:r>
              <a:rPr sz="1400">
                <a:solidFill>
                  <a:srgbClr val="F0F0F0"/>
                </a:solidFill>
              </a:rPr>
              <a:t>• NHS: Talking therapies (nhs.uk)</a:t>
            </a:r>
          </a:p>
          <a:p>
            <a:pPr>
              <a:spcBef>
                <a:spcPts val="400"/>
              </a:spcBef>
            </a:pPr>
            <a:r>
              <a:rPr sz="1400">
                <a:solidFill>
                  <a:srgbClr val="F0F0F0"/>
                </a:solidFill>
              </a:rPr>
              <a:t>• Wiltshire IAPT: wiltshirehealthandcare.nhs.uk/iapt</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40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Psychological Therapies Overview</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40: Psychological Therapies Overview</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
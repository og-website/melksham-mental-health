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Rectangle 3"/>
          <p:cNvSpPr/>
          <p:nvPr/>
        </p:nvSpPr>
        <p:spPr>
          <a:xfrm>
            <a:off x="0" y="0"/>
            <a:ext cx="9144000" cy="182880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00000"/>
            <a:ext cx="7589520" cy="548640"/>
          </a:xfrm>
          <a:prstGeom prst="rect">
            <a:avLst/>
          </a:prstGeom>
          <a:noFill/>
        </p:spPr>
        <p:txBody>
          <a:bodyPr wrap="square">
            <a:spAutoFit/>
          </a:bodyPr>
          <a:lstStyle/>
          <a:p>
            <a:pPr algn="l"/>
            <a:r>
              <a:rPr sz="3600" b="1" i="0">
                <a:solidFill>
                  <a:srgbClr val="1A1A1A"/>
                </a:solidFill>
              </a:rPr>
              <a:t>Module 37</a:t>
            </a:r>
          </a:p>
        </p:txBody>
      </p:sp>
      <p:sp>
        <p:nvSpPr>
          <p:cNvPr id="6" name="TextBox 5"/>
          <p:cNvSpPr txBox="1"/>
          <p:nvPr/>
        </p:nvSpPr>
        <p:spPr>
          <a:xfrm>
            <a:off x="457200" y="640080"/>
            <a:ext cx="7589520" cy="914400"/>
          </a:xfrm>
          <a:prstGeom prst="rect">
            <a:avLst/>
          </a:prstGeom>
          <a:noFill/>
        </p:spPr>
        <p:txBody>
          <a:bodyPr wrap="square">
            <a:spAutoFit/>
          </a:bodyPr>
          <a:lstStyle/>
          <a:p>
            <a:pPr algn="l"/>
            <a:r>
              <a:rPr sz="2600" b="0" i="0">
                <a:solidFill>
                  <a:srgbClr val="1A1A1A"/>
                </a:solidFill>
              </a:rPr>
              <a:t>Mental Health and the Criminal Justice System</a:t>
            </a:r>
          </a:p>
        </p:txBody>
      </p:sp>
      <p:sp>
        <p:nvSpPr>
          <p:cNvPr id="7" name="TextBox 6"/>
          <p:cNvSpPr txBox="1"/>
          <p:nvPr/>
        </p:nvSpPr>
        <p:spPr>
          <a:xfrm>
            <a:off x="457200" y="2100000"/>
            <a:ext cx="8229600" cy="548640"/>
          </a:xfrm>
          <a:prstGeom prst="rect">
            <a:avLst/>
          </a:prstGeom>
          <a:noFill/>
        </p:spPr>
        <p:txBody>
          <a:bodyPr wrap="square">
            <a:spAutoFit/>
          </a:bodyPr>
          <a:lstStyle/>
          <a:p>
            <a:pPr algn="l"/>
            <a:r>
              <a:rPr sz="2000" b="1" i="0">
                <a:solidFill>
                  <a:srgbClr val="FF6B00"/>
                </a:solidFill>
              </a:rPr>
              <a:t>Melksham Mental Health — Comprehensive Course</a:t>
            </a:r>
          </a:p>
        </p:txBody>
      </p:sp>
      <p:sp>
        <p:nvSpPr>
          <p:cNvPr id="8" name="TextBox 7"/>
          <p:cNvSpPr txBox="1"/>
          <p:nvPr/>
        </p:nvSpPr>
        <p:spPr>
          <a:xfrm>
            <a:off x="457200" y="2650000"/>
            <a:ext cx="8229600" cy="457200"/>
          </a:xfrm>
          <a:prstGeom prst="rect">
            <a:avLst/>
          </a:prstGeom>
          <a:noFill/>
        </p:spPr>
        <p:txBody>
          <a:bodyPr wrap="square">
            <a:spAutoFit/>
          </a:bodyPr>
          <a:lstStyle/>
          <a:p>
            <a:pPr algn="l"/>
            <a:r>
              <a:rPr sz="1600" b="0" i="0">
                <a:solidFill>
                  <a:srgbClr val="AAAAAA"/>
                </a:solidFill>
              </a:rPr>
              <a:t>2-hour session  •  Includes 30-minute group discussion</a:t>
            </a:r>
          </a:p>
        </p:txBody>
      </p:sp>
      <p:sp>
        <p:nvSpPr>
          <p:cNvPr id="9" name="TextBox 8"/>
          <p:cNvSpPr txBox="1"/>
          <p:nvPr/>
        </p:nvSpPr>
        <p:spPr>
          <a:xfrm>
            <a:off x="457200" y="5958000"/>
            <a:ext cx="8229600" cy="457200"/>
          </a:xfrm>
          <a:prstGeom prst="rect">
            <a:avLst/>
          </a:prstGeom>
          <a:noFill/>
        </p:spPr>
        <p:txBody>
          <a:bodyPr wrap="square">
            <a:spAutoFit/>
          </a:bodyPr>
          <a:lstStyle/>
          <a:p>
            <a:pPr algn="ctr"/>
            <a:r>
              <a:rPr sz="1200" b="0" i="0">
                <a:solidFill>
                  <a:srgbClr val="AAAAAA"/>
                </a:solidFill>
              </a:rPr>
              <a:t>melksham-mentalhealth.us  |  Melksham-mental-health@outlook.com</a:t>
            </a:r>
          </a:p>
        </p:txBody>
      </p:sp>
      <p:sp>
        <p:nvSpPr>
          <p:cNvPr id="10" name="TextBox 9"/>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Session Overview</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00000"/>
            <a:ext cx="8229600" cy="1400000"/>
          </a:xfrm>
          <a:prstGeom prst="rect">
            <a:avLst/>
          </a:prstGeom>
          <a:noFill/>
        </p:spPr>
        <p:txBody>
          <a:bodyPr wrap="square">
            <a:spAutoFit/>
          </a:bodyPr>
          <a:lstStyle/>
          <a:p>
            <a:pPr algn="l"/>
            <a:r>
              <a:rPr sz="1500" b="0" i="0">
                <a:solidFill>
                  <a:srgbClr val="F0F0F0"/>
                </a:solidFill>
              </a:rPr>
              <a:t>People in contact with the criminal justice system have significantly elevated rates of mental health problems. This module explores the mental health needs of people in prison, on probation and in secure settings, and the diversion, liaison and treatment services that support recovery and reduce reoffending.</a:t>
            </a:r>
          </a:p>
        </p:txBody>
      </p:sp>
      <p:sp>
        <p:nvSpPr>
          <p:cNvPr id="7" name="TextBox 6"/>
          <p:cNvSpPr txBox="1"/>
          <p:nvPr/>
        </p:nvSpPr>
        <p:spPr>
          <a:xfrm>
            <a:off x="457200" y="2700000"/>
            <a:ext cx="8229600" cy="3200000"/>
          </a:xfrm>
          <a:prstGeom prst="rect">
            <a:avLst/>
          </a:prstGeom>
          <a:noFill/>
        </p:spPr>
        <p:txBody>
          <a:bodyPr wrap="square">
            <a:spAutoFit/>
          </a:bodyPr>
          <a:lstStyle/>
          <a:p>
            <a:pPr>
              <a:spcBef>
                <a:spcPts val="400"/>
              </a:spcBef>
            </a:pPr>
            <a:r>
              <a:rPr sz="1700">
                <a:solidFill>
                  <a:srgbClr val="F0F0F0"/>
                </a:solidFill>
              </a:rPr>
              <a:t>• Introduction &amp; Objectives  (15 min)</a:t>
            </a:r>
          </a:p>
          <a:p>
            <a:pPr>
              <a:spcBef>
                <a:spcPts val="400"/>
              </a:spcBef>
            </a:pPr>
            <a:r>
              <a:rPr sz="1700">
                <a:solidFill>
                  <a:srgbClr val="F0F0F0"/>
                </a:solidFill>
              </a:rPr>
              <a:t>• Evidence-Based Content  (45 min)</a:t>
            </a:r>
          </a:p>
          <a:p>
            <a:pPr>
              <a:spcBef>
                <a:spcPts val="400"/>
              </a:spcBef>
            </a:pPr>
            <a:r>
              <a:rPr sz="1700">
                <a:solidFill>
                  <a:srgbClr val="F0F0F0"/>
                </a:solidFill>
              </a:rPr>
              <a:t>• Case Study  (15 min)</a:t>
            </a:r>
          </a:p>
          <a:p>
            <a:pPr>
              <a:spcBef>
                <a:spcPts val="400"/>
              </a:spcBef>
            </a:pPr>
            <a:r>
              <a:rPr sz="1700">
                <a:solidFill>
                  <a:srgbClr val="F0F0F0"/>
                </a:solidFill>
              </a:rPr>
              <a:t>• Interactive Activity  (30 min)</a:t>
            </a:r>
          </a:p>
          <a:p>
            <a:pPr>
              <a:spcBef>
                <a:spcPts val="400"/>
              </a:spcBef>
            </a:pPr>
            <a:r>
              <a:rPr sz="1700">
                <a:solidFill>
                  <a:srgbClr val="F0F0F0"/>
                </a:solidFill>
              </a:rPr>
              <a:t>• Group Discussion  (30 min)</a:t>
            </a:r>
          </a:p>
          <a:p>
            <a:pPr>
              <a:spcBef>
                <a:spcPts val="400"/>
              </a:spcBef>
            </a:pPr>
            <a:r>
              <a:rPr sz="1700">
                <a:solidFill>
                  <a:srgbClr val="F0F0F0"/>
                </a:solidFill>
              </a:rPr>
              <a:t>• Wrap-Up &amp; Resources  (15 min)</a:t>
            </a:r>
          </a:p>
        </p:txBody>
      </p:sp>
      <p:sp>
        <p:nvSpPr>
          <p:cNvPr id="8" name="TextBox 7"/>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Learning Objectives</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80160"/>
            <a:ext cx="8229600" cy="4800000"/>
          </a:xfrm>
          <a:prstGeom prst="rect">
            <a:avLst/>
          </a:prstGeom>
          <a:noFill/>
        </p:spPr>
        <p:txBody>
          <a:bodyPr wrap="square">
            <a:spAutoFit/>
          </a:bodyPr>
          <a:lstStyle/>
          <a:p>
            <a:pPr>
              <a:spcBef>
                <a:spcPts val="400"/>
              </a:spcBef>
            </a:pPr>
            <a:r>
              <a:rPr sz="1700">
                <a:solidFill>
                  <a:srgbClr val="F0F0F0"/>
                </a:solidFill>
              </a:rPr>
              <a:t>• Understand the prevalence of mental health problems in the criminal justice system</a:t>
            </a:r>
          </a:p>
          <a:p>
            <a:pPr>
              <a:spcBef>
                <a:spcPts val="400"/>
              </a:spcBef>
            </a:pPr>
            <a:r>
              <a:rPr sz="1700">
                <a:solidFill>
                  <a:srgbClr val="F0F0F0"/>
                </a:solidFill>
              </a:rPr>
              <a:t>• Explore the relationship between mental illness, trauma and offending behaviour</a:t>
            </a:r>
          </a:p>
          <a:p>
            <a:pPr>
              <a:spcBef>
                <a:spcPts val="400"/>
              </a:spcBef>
            </a:pPr>
            <a:r>
              <a:rPr sz="1700">
                <a:solidFill>
                  <a:srgbClr val="F0F0F0"/>
                </a:solidFill>
              </a:rPr>
              <a:t>• Understand the role of mental health diversion and liaison services</a:t>
            </a:r>
          </a:p>
          <a:p>
            <a:pPr>
              <a:spcBef>
                <a:spcPts val="400"/>
              </a:spcBef>
            </a:pPr>
            <a:r>
              <a:rPr sz="1700">
                <a:solidFill>
                  <a:srgbClr val="F0F0F0"/>
                </a:solidFill>
              </a:rPr>
              <a:t>• Identify the mental health services available in prisons and secure settings</a:t>
            </a:r>
          </a:p>
          <a:p>
            <a:pPr>
              <a:spcBef>
                <a:spcPts val="400"/>
              </a:spcBef>
            </a:pPr>
            <a:r>
              <a:rPr sz="1700">
                <a:solidFill>
                  <a:srgbClr val="F0F0F0"/>
                </a:solidFill>
              </a:rPr>
              <a:t>• Explore the recovery model in forensic mental health</a:t>
            </a:r>
          </a:p>
          <a:p>
            <a:pPr>
              <a:spcBef>
                <a:spcPts val="400"/>
              </a:spcBef>
            </a:pPr>
            <a:r>
              <a:rPr sz="1700">
                <a:solidFill>
                  <a:srgbClr val="F0F0F0"/>
                </a:solidFill>
              </a:rPr>
              <a:t>• Develop skills for working with people with complex mental health and forensic histories</a:t>
            </a:r>
          </a:p>
        </p:txBody>
      </p:sp>
      <p:sp>
        <p:nvSpPr>
          <p:cNvPr id="7" name="TextBox 6"/>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Module 37: Key Topics</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80160"/>
            <a:ext cx="8229600" cy="4800000"/>
          </a:xfrm>
          <a:prstGeom prst="rect">
            <a:avLst/>
          </a:prstGeom>
          <a:noFill/>
        </p:spPr>
        <p:txBody>
          <a:bodyPr wrap="square">
            <a:spAutoFit/>
          </a:bodyPr>
          <a:lstStyle/>
          <a:p>
            <a:pPr>
              <a:spcBef>
                <a:spcPts val="400"/>
              </a:spcBef>
            </a:pPr>
            <a:r>
              <a:rPr sz="1700">
                <a:solidFill>
                  <a:srgbClr val="F0F0F0"/>
                </a:solidFill>
              </a:rPr>
              <a:t>• Prevalence: 70% of people in prison have two or more mental health conditions</a:t>
            </a:r>
          </a:p>
          <a:p>
            <a:pPr>
              <a:spcBef>
                <a:spcPts val="400"/>
              </a:spcBef>
            </a:pPr>
            <a:r>
              <a:rPr sz="1700">
                <a:solidFill>
                  <a:srgbClr val="F0F0F0"/>
                </a:solidFill>
              </a:rPr>
              <a:t>• Mental health diversion: identifying and diverting people with mental illness from custody</a:t>
            </a:r>
          </a:p>
          <a:p>
            <a:pPr>
              <a:spcBef>
                <a:spcPts val="400"/>
              </a:spcBef>
            </a:pPr>
            <a:r>
              <a:rPr sz="1700">
                <a:solidFill>
                  <a:srgbClr val="F0F0F0"/>
                </a:solidFill>
              </a:rPr>
              <a:t>• Liaison and diversion services: assessment at police stations and courts</a:t>
            </a:r>
          </a:p>
          <a:p>
            <a:pPr>
              <a:spcBef>
                <a:spcPts val="400"/>
              </a:spcBef>
            </a:pPr>
            <a:r>
              <a:rPr sz="1700">
                <a:solidFill>
                  <a:srgbClr val="F0F0F0"/>
                </a:solidFill>
              </a:rPr>
              <a:t>• Prison mental health: NICE-recommended equivalence of care to community</a:t>
            </a:r>
          </a:p>
          <a:p>
            <a:pPr>
              <a:spcBef>
                <a:spcPts val="400"/>
              </a:spcBef>
            </a:pPr>
            <a:r>
              <a:rPr sz="1700">
                <a:solidFill>
                  <a:srgbClr val="F0F0F0"/>
                </a:solidFill>
              </a:rPr>
              <a:t>• Forensic mental health: secure hospitals, medium secure units and community forensic teams</a:t>
            </a:r>
          </a:p>
          <a:p>
            <a:pPr>
              <a:spcBef>
                <a:spcPts val="400"/>
              </a:spcBef>
            </a:pPr>
            <a:r>
              <a:rPr sz="1700">
                <a:solidFill>
                  <a:srgbClr val="F0F0F0"/>
                </a:solidFill>
              </a:rPr>
              <a:t>• Trauma and offending: 80% of people in prison have experienced significant trauma</a:t>
            </a:r>
          </a:p>
          <a:p>
            <a:pPr>
              <a:spcBef>
                <a:spcPts val="400"/>
              </a:spcBef>
            </a:pPr>
            <a:r>
              <a:rPr sz="1700">
                <a:solidFill>
                  <a:srgbClr val="F0F0F0"/>
                </a:solidFill>
              </a:rPr>
              <a:t>• Recovery in forensic settings: hope, agency and meaningful activity</a:t>
            </a:r>
          </a:p>
        </p:txBody>
      </p:sp>
      <p:sp>
        <p:nvSpPr>
          <p:cNvPr id="7" name="TextBox 6"/>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Key Statistics &amp; Prevalence</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80160"/>
            <a:ext cx="8229600" cy="4800000"/>
          </a:xfrm>
          <a:prstGeom prst="rect">
            <a:avLst/>
          </a:prstGeom>
          <a:noFill/>
        </p:spPr>
        <p:txBody>
          <a:bodyPr wrap="square">
            <a:spAutoFit/>
          </a:bodyPr>
          <a:lstStyle/>
          <a:p>
            <a:pPr>
              <a:spcBef>
                <a:spcPts val="400"/>
              </a:spcBef>
            </a:pPr>
            <a:r>
              <a:rPr sz="1700">
                <a:solidFill>
                  <a:srgbClr val="F0F0F0"/>
                </a:solidFill>
              </a:rPr>
              <a:t>• 70% of people in prison have two or more mental health conditions (NHS England)</a:t>
            </a:r>
          </a:p>
          <a:p>
            <a:pPr>
              <a:spcBef>
                <a:spcPts val="400"/>
              </a:spcBef>
            </a:pPr>
            <a:r>
              <a:rPr sz="1700">
                <a:solidFill>
                  <a:srgbClr val="F0F0F0"/>
                </a:solidFill>
              </a:rPr>
              <a:t>• 90% of people in prison have a personality disorder, substance use disorder or both</a:t>
            </a:r>
          </a:p>
          <a:p>
            <a:pPr>
              <a:spcBef>
                <a:spcPts val="400"/>
              </a:spcBef>
            </a:pPr>
            <a:r>
              <a:rPr sz="1700">
                <a:solidFill>
                  <a:srgbClr val="F0F0F0"/>
                </a:solidFill>
              </a:rPr>
              <a:t>• Women in prison: 80% have a diagnosable mental health condition</a:t>
            </a:r>
          </a:p>
          <a:p>
            <a:pPr>
              <a:spcBef>
                <a:spcPts val="400"/>
              </a:spcBef>
            </a:pPr>
            <a:r>
              <a:rPr sz="1700">
                <a:solidFill>
                  <a:srgbClr val="F0F0F0"/>
                </a:solidFill>
              </a:rPr>
              <a:t>• Suicide rate in prison: 9 times higher than in the general population</a:t>
            </a:r>
          </a:p>
          <a:p>
            <a:pPr>
              <a:spcBef>
                <a:spcPts val="400"/>
              </a:spcBef>
            </a:pPr>
            <a:r>
              <a:rPr sz="1700">
                <a:solidFill>
                  <a:srgbClr val="F0F0F0"/>
                </a:solidFill>
              </a:rPr>
              <a:t>• Mental health diversion reduces custody rates by 20–30%</a:t>
            </a:r>
          </a:p>
          <a:p>
            <a:pPr>
              <a:spcBef>
                <a:spcPts val="400"/>
              </a:spcBef>
            </a:pPr>
            <a:r>
              <a:rPr sz="1700">
                <a:solidFill>
                  <a:srgbClr val="F0F0F0"/>
                </a:solidFill>
              </a:rPr>
              <a:t>• Reoffending: mental health treatment reduces reoffending by 20% (MoJ, 2019)</a:t>
            </a:r>
          </a:p>
        </p:txBody>
      </p:sp>
      <p:sp>
        <p:nvSpPr>
          <p:cNvPr id="7" name="TextBox 6"/>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Evidence &amp; Research</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80160"/>
            <a:ext cx="8229600" cy="4000000"/>
          </a:xfrm>
          <a:prstGeom prst="rect">
            <a:avLst/>
          </a:prstGeom>
          <a:noFill/>
        </p:spPr>
        <p:txBody>
          <a:bodyPr wrap="square">
            <a:spAutoFit/>
          </a:bodyPr>
          <a:lstStyle/>
          <a:p>
            <a:pPr>
              <a:spcBef>
                <a:spcPts val="400"/>
              </a:spcBef>
            </a:pPr>
            <a:r>
              <a:rPr sz="1700">
                <a:solidFill>
                  <a:srgbClr val="F0F0F0"/>
                </a:solidFill>
              </a:rPr>
              <a:t>• Liaison and diversion services reduce custody rates and improve mental health outcomes</a:t>
            </a:r>
          </a:p>
          <a:p>
            <a:pPr>
              <a:spcBef>
                <a:spcPts val="400"/>
              </a:spcBef>
            </a:pPr>
            <a:r>
              <a:rPr sz="1700">
                <a:solidFill>
                  <a:srgbClr val="F0F0F0"/>
                </a:solidFill>
              </a:rPr>
              <a:t>• NICE (NG66): recommends equivalence of mental health care in prisons</a:t>
            </a:r>
          </a:p>
          <a:p>
            <a:pPr>
              <a:spcBef>
                <a:spcPts val="400"/>
              </a:spcBef>
            </a:pPr>
            <a:r>
              <a:rPr sz="1700">
                <a:solidFill>
                  <a:srgbClr val="F0F0F0"/>
                </a:solidFill>
              </a:rPr>
              <a:t>• Trauma-informed approaches significantly improve engagement in forensic settings</a:t>
            </a:r>
          </a:p>
          <a:p>
            <a:pPr>
              <a:spcBef>
                <a:spcPts val="400"/>
              </a:spcBef>
            </a:pPr>
            <a:r>
              <a:rPr sz="1700">
                <a:solidFill>
                  <a:srgbClr val="F0F0F0"/>
                </a:solidFill>
              </a:rPr>
              <a:t>• Recovery-oriented practice improves outcomes and reduces reoffending</a:t>
            </a:r>
          </a:p>
          <a:p>
            <a:pPr>
              <a:spcBef>
                <a:spcPts val="400"/>
              </a:spcBef>
            </a:pPr>
            <a:r>
              <a:rPr sz="1700">
                <a:solidFill>
                  <a:srgbClr val="F0F0F0"/>
                </a:solidFill>
              </a:rPr>
              <a:t>• Medication-assisted treatment for substance use disorders reduces reoffending</a:t>
            </a:r>
          </a:p>
          <a:p>
            <a:pPr>
              <a:spcBef>
                <a:spcPts val="400"/>
              </a:spcBef>
            </a:pPr>
            <a:r>
              <a:rPr sz="1700">
                <a:solidFill>
                  <a:srgbClr val="F0F0F0"/>
                </a:solidFill>
              </a:rPr>
              <a:t>• Community forensic teams provide step-down support from secure settings</a:t>
            </a:r>
          </a:p>
        </p:txBody>
      </p:sp>
      <p:sp>
        <p:nvSpPr>
          <p:cNvPr id="7" name="TextBox 6"/>
          <p:cNvSpPr txBox="1"/>
          <p:nvPr/>
        </p:nvSpPr>
        <p:spPr>
          <a:xfrm>
            <a:off x="457200" y="5400000"/>
            <a:ext cx="8229600" cy="457200"/>
          </a:xfrm>
          <a:prstGeom prst="rect">
            <a:avLst/>
          </a:prstGeom>
          <a:noFill/>
        </p:spPr>
        <p:txBody>
          <a:bodyPr wrap="square">
            <a:spAutoFit/>
          </a:bodyPr>
          <a:lstStyle/>
          <a:p>
            <a:pPr algn="l"/>
            <a:r>
              <a:rPr sz="1300" b="1" i="0">
                <a:solidFill>
                  <a:srgbClr val="FF6B00"/>
                </a:solidFill>
              </a:rPr>
              <a:t>This content does not replace professional mental health advice.</a:t>
            </a:r>
          </a:p>
        </p:txBody>
      </p:sp>
      <p:sp>
        <p:nvSpPr>
          <p:cNvPr id="8" name="TextBox 7"/>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Case Study</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80160"/>
            <a:ext cx="8229600" cy="4200000"/>
          </a:xfrm>
          <a:prstGeom prst="rect">
            <a:avLst/>
          </a:prstGeom>
          <a:noFill/>
        </p:spPr>
        <p:txBody>
          <a:bodyPr wrap="square">
            <a:spAutoFit/>
          </a:bodyPr>
          <a:lstStyle/>
          <a:p>
            <a:pPr algn="l"/>
            <a:r>
              <a:rPr sz="1500" b="0" i="0">
                <a:solidFill>
                  <a:srgbClr val="F0F0F0"/>
                </a:solidFill>
              </a:rPr>
              <a:t>Marcus, 35, had a long history of mental illness, substance use and offending. He was repeatedly imprisoned without his mental health needs being addressed. After a liaison and diversion service assessment at court, Marcus was diverted to a community forensic mental health team rather than custody. He received integrated mental health and substance use treatment, supported housing and employment support. Marcus has not reoffended in three years.</a:t>
            </a:r>
          </a:p>
        </p:txBody>
      </p:sp>
      <p:sp>
        <p:nvSpPr>
          <p:cNvPr id="7" name="TextBox 6"/>
          <p:cNvSpPr txBox="1"/>
          <p:nvPr/>
        </p:nvSpPr>
        <p:spPr>
          <a:xfrm>
            <a:off x="457200" y="5600000"/>
            <a:ext cx="8229600" cy="457200"/>
          </a:xfrm>
          <a:prstGeom prst="rect">
            <a:avLst/>
          </a:prstGeom>
          <a:noFill/>
        </p:spPr>
        <p:txBody>
          <a:bodyPr wrap="square">
            <a:spAutoFit/>
          </a:bodyPr>
          <a:lstStyle/>
          <a:p>
            <a:pPr algn="l"/>
            <a:r>
              <a:rPr sz="1100" b="0" i="1">
                <a:solidFill>
                  <a:srgbClr val="AAAAAA"/>
                </a:solidFill>
              </a:rPr>
              <a:t>Names and details are fictional. Any resemblance to real persons is coincidental.</a:t>
            </a:r>
          </a:p>
        </p:txBody>
      </p:sp>
      <p:sp>
        <p:nvSpPr>
          <p:cNvPr id="8" name="TextBox 7"/>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Coping Strategies &amp; Interventions</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80160"/>
            <a:ext cx="8229600" cy="4800000"/>
          </a:xfrm>
          <a:prstGeom prst="rect">
            <a:avLst/>
          </a:prstGeom>
          <a:noFill/>
        </p:spPr>
        <p:txBody>
          <a:bodyPr wrap="square">
            <a:spAutoFit/>
          </a:bodyPr>
          <a:lstStyle/>
          <a:p>
            <a:pPr>
              <a:spcBef>
                <a:spcPts val="400"/>
              </a:spcBef>
            </a:pPr>
            <a:r>
              <a:rPr sz="1700">
                <a:solidFill>
                  <a:srgbClr val="F0F0F0"/>
                </a:solidFill>
              </a:rPr>
              <a:t>• Liaison and diversion: assessment and diversion at police stations and courts</a:t>
            </a:r>
          </a:p>
          <a:p>
            <a:pPr>
              <a:spcBef>
                <a:spcPts val="400"/>
              </a:spcBef>
            </a:pPr>
            <a:r>
              <a:rPr sz="1700">
                <a:solidFill>
                  <a:srgbClr val="F0F0F0"/>
                </a:solidFill>
              </a:rPr>
              <a:t>• Prison mental health services: in-reach teams, talking therapies, medication</a:t>
            </a:r>
          </a:p>
          <a:p>
            <a:pPr>
              <a:spcBef>
                <a:spcPts val="400"/>
              </a:spcBef>
            </a:pPr>
            <a:r>
              <a:rPr sz="1700">
                <a:solidFill>
                  <a:srgbClr val="F0F0F0"/>
                </a:solidFill>
              </a:rPr>
              <a:t>• Trauma-informed practice: addressing underlying trauma driving offending behaviour</a:t>
            </a:r>
          </a:p>
          <a:p>
            <a:pPr>
              <a:spcBef>
                <a:spcPts val="400"/>
              </a:spcBef>
            </a:pPr>
            <a:r>
              <a:rPr sz="1700">
                <a:solidFill>
                  <a:srgbClr val="F0F0F0"/>
                </a:solidFill>
              </a:rPr>
              <a:t>• Substance use treatment: medication-assisted treatment, CBT, peer support</a:t>
            </a:r>
          </a:p>
          <a:p>
            <a:pPr>
              <a:spcBef>
                <a:spcPts val="400"/>
              </a:spcBef>
            </a:pPr>
            <a:r>
              <a:rPr sz="1700">
                <a:solidFill>
                  <a:srgbClr val="F0F0F0"/>
                </a:solidFill>
              </a:rPr>
              <a:t>• Recovery-oriented practice: hope, agency, meaningful activity and social inclusion</a:t>
            </a:r>
          </a:p>
          <a:p>
            <a:pPr>
              <a:spcBef>
                <a:spcPts val="400"/>
              </a:spcBef>
            </a:pPr>
            <a:r>
              <a:rPr sz="1700">
                <a:solidFill>
                  <a:srgbClr val="F0F0F0"/>
                </a:solidFill>
              </a:rPr>
              <a:t>• Community forensic teams: step-down support from secure settings</a:t>
            </a:r>
          </a:p>
          <a:p>
            <a:pPr>
              <a:spcBef>
                <a:spcPts val="400"/>
              </a:spcBef>
            </a:pPr>
            <a:r>
              <a:rPr sz="1700">
                <a:solidFill>
                  <a:srgbClr val="F0F0F0"/>
                </a:solidFill>
              </a:rPr>
              <a:t>• Advocacy: supporting people to navigate the criminal justice and mental health systems</a:t>
            </a:r>
          </a:p>
        </p:txBody>
      </p:sp>
      <p:sp>
        <p:nvSpPr>
          <p:cNvPr id="7" name="TextBox 6"/>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Interactive Activity</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80160"/>
            <a:ext cx="8229600" cy="2800000"/>
          </a:xfrm>
          <a:prstGeom prst="rect">
            <a:avLst/>
          </a:prstGeom>
          <a:noFill/>
        </p:spPr>
        <p:txBody>
          <a:bodyPr wrap="square">
            <a:spAutoFit/>
          </a:bodyPr>
          <a:lstStyle/>
          <a:p>
            <a:pPr algn="l"/>
            <a:r>
              <a:rPr sz="1700" b="0" i="0">
                <a:solidFill>
                  <a:srgbClr val="F0F0F0"/>
                </a:solidFill>
              </a:rPr>
              <a:t>Diversion scenario: Participants consider a scenario where someone with severe mental illness is arrested for a minor offence. Discuss: What should happen next? What are the options for diversion? What mental health needs might this person have?</a:t>
            </a:r>
          </a:p>
        </p:txBody>
      </p:sp>
      <p:sp>
        <p:nvSpPr>
          <p:cNvPr id="7" name="TextBox 6"/>
          <p:cNvSpPr txBox="1"/>
          <p:nvPr/>
        </p:nvSpPr>
        <p:spPr>
          <a:xfrm>
            <a:off x="457200" y="4200000"/>
            <a:ext cx="8229600" cy="365760"/>
          </a:xfrm>
          <a:prstGeom prst="rect">
            <a:avLst/>
          </a:prstGeom>
          <a:noFill/>
        </p:spPr>
        <p:txBody>
          <a:bodyPr wrap="square">
            <a:spAutoFit/>
          </a:bodyPr>
          <a:lstStyle/>
          <a:p>
            <a:pPr algn="l"/>
            <a:r>
              <a:rPr sz="1600" b="1" i="0">
                <a:solidFill>
                  <a:srgbClr val="FF6B00"/>
                </a:solidFill>
              </a:rPr>
              <a:t>Instructions:</a:t>
            </a:r>
          </a:p>
        </p:txBody>
      </p:sp>
      <p:sp>
        <p:nvSpPr>
          <p:cNvPr id="8" name="TextBox 7"/>
          <p:cNvSpPr txBox="1"/>
          <p:nvPr/>
        </p:nvSpPr>
        <p:spPr>
          <a:xfrm>
            <a:off x="457200" y="4600000"/>
            <a:ext cx="8229600" cy="1500000"/>
          </a:xfrm>
          <a:prstGeom prst="rect">
            <a:avLst/>
          </a:prstGeom>
          <a:noFill/>
        </p:spPr>
        <p:txBody>
          <a:bodyPr wrap="square">
            <a:spAutoFit/>
          </a:bodyPr>
          <a:lstStyle/>
          <a:p>
            <a:pPr>
              <a:spcBef>
                <a:spcPts val="400"/>
              </a:spcBef>
            </a:pPr>
            <a:r>
              <a:rPr sz="1500">
                <a:solidFill>
                  <a:srgbClr val="AAAAAA"/>
                </a:solidFill>
              </a:rPr>
              <a:t>• Take 5 minutes to reflect individually or in pairs</a:t>
            </a:r>
          </a:p>
          <a:p>
            <a:pPr>
              <a:spcBef>
                <a:spcPts val="400"/>
              </a:spcBef>
            </a:pPr>
            <a:r>
              <a:rPr sz="1500">
                <a:solidFill>
                  <a:srgbClr val="AAAAAA"/>
                </a:solidFill>
              </a:rPr>
              <a:t>• Share your thoughts with the group (optional — sharing is never required)</a:t>
            </a:r>
          </a:p>
          <a:p>
            <a:pPr>
              <a:spcBef>
                <a:spcPts val="400"/>
              </a:spcBef>
            </a:pPr>
            <a:r>
              <a:rPr sz="1500">
                <a:solidFill>
                  <a:srgbClr val="AAAAAA"/>
                </a:solidFill>
              </a:rPr>
              <a:t>• Facilitator will guide and support the discussion</a:t>
            </a:r>
          </a:p>
        </p:txBody>
      </p:sp>
      <p:sp>
        <p:nvSpPr>
          <p:cNvPr id="9" name="TextBox 8"/>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Group Discussion (30 minutes)</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80160"/>
            <a:ext cx="8229600" cy="457200"/>
          </a:xfrm>
          <a:prstGeom prst="rect">
            <a:avLst/>
          </a:prstGeom>
          <a:noFill/>
        </p:spPr>
        <p:txBody>
          <a:bodyPr wrap="square">
            <a:spAutoFit/>
          </a:bodyPr>
          <a:lstStyle/>
          <a:p>
            <a:pPr algn="l"/>
            <a:r>
              <a:rPr sz="1800" b="1" i="0">
                <a:solidFill>
                  <a:srgbClr val="00BFBF"/>
                </a:solidFill>
              </a:rPr>
              <a:t>Reflection Questions</a:t>
            </a:r>
          </a:p>
        </p:txBody>
      </p:sp>
      <p:sp>
        <p:nvSpPr>
          <p:cNvPr id="7" name="TextBox 6"/>
          <p:cNvSpPr txBox="1"/>
          <p:nvPr/>
        </p:nvSpPr>
        <p:spPr>
          <a:xfrm>
            <a:off x="457200" y="1800000"/>
            <a:ext cx="8229600" cy="4000000"/>
          </a:xfrm>
          <a:prstGeom prst="rect">
            <a:avLst/>
          </a:prstGeom>
          <a:noFill/>
        </p:spPr>
        <p:txBody>
          <a:bodyPr wrap="square">
            <a:spAutoFit/>
          </a:bodyPr>
          <a:lstStyle/>
          <a:p>
            <a:pPr>
              <a:spcBef>
                <a:spcPts val="400"/>
              </a:spcBef>
            </a:pPr>
            <a:r>
              <a:rPr sz="1700">
                <a:solidFill>
                  <a:srgbClr val="F0F0F0"/>
                </a:solidFill>
              </a:rPr>
              <a:t>• What mental health needs do people in contact with the criminal justice system have?</a:t>
            </a:r>
          </a:p>
          <a:p>
            <a:pPr>
              <a:spcBef>
                <a:spcPts val="400"/>
              </a:spcBef>
            </a:pPr>
            <a:r>
              <a:rPr sz="1700">
                <a:solidFill>
                  <a:srgbClr val="F0F0F0"/>
                </a:solidFill>
              </a:rPr>
              <a:t>• How does trauma contribute to offending behaviour?</a:t>
            </a:r>
          </a:p>
          <a:p>
            <a:pPr>
              <a:spcBef>
                <a:spcPts val="400"/>
              </a:spcBef>
            </a:pPr>
            <a:r>
              <a:rPr sz="1700">
                <a:solidFill>
                  <a:srgbClr val="F0F0F0"/>
                </a:solidFill>
              </a:rPr>
              <a:t>• What is mental health diversion and why is it important?</a:t>
            </a:r>
          </a:p>
          <a:p>
            <a:pPr>
              <a:spcBef>
                <a:spcPts val="400"/>
              </a:spcBef>
            </a:pPr>
            <a:r>
              <a:rPr sz="1700">
                <a:solidFill>
                  <a:srgbClr val="F0F0F0"/>
                </a:solidFill>
              </a:rPr>
              <a:t>• How can mental health services better support people with forensic histories?</a:t>
            </a:r>
          </a:p>
          <a:p>
            <a:pPr>
              <a:spcBef>
                <a:spcPts val="400"/>
              </a:spcBef>
            </a:pPr>
            <a:r>
              <a:rPr sz="1700">
                <a:solidFill>
                  <a:srgbClr val="F0F0F0"/>
                </a:solidFill>
              </a:rPr>
              <a:t>• What forensic mental health services are available in Wiltshire?</a:t>
            </a:r>
          </a:p>
        </p:txBody>
      </p:sp>
      <p:sp>
        <p:nvSpPr>
          <p:cNvPr id="8" name="TextBox 7"/>
          <p:cNvSpPr txBox="1"/>
          <p:nvPr/>
        </p:nvSpPr>
        <p:spPr>
          <a:xfrm>
            <a:off x="457200" y="5958000"/>
            <a:ext cx="8229600" cy="457200"/>
          </a:xfrm>
          <a:prstGeom prst="rect">
            <a:avLst/>
          </a:prstGeom>
          <a:noFill/>
        </p:spPr>
        <p:txBody>
          <a:bodyPr wrap="square">
            <a:spAutoFit/>
          </a:bodyPr>
          <a:lstStyle/>
          <a:p>
            <a:pPr algn="ctr"/>
            <a:r>
              <a:rPr sz="1400" b="1" i="0">
                <a:solidFill>
                  <a:srgbClr val="FF6B00"/>
                </a:solidFill>
              </a:rPr>
              <a:t>Remember: You are never alone. Help is always available.</a:t>
            </a:r>
          </a:p>
        </p:txBody>
      </p:sp>
      <p:sp>
        <p:nvSpPr>
          <p:cNvPr id="9" name="TextBox 8"/>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Resources &amp; Further Support</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80160"/>
            <a:ext cx="8229600" cy="365760"/>
          </a:xfrm>
          <a:prstGeom prst="rect">
            <a:avLst/>
          </a:prstGeom>
          <a:noFill/>
        </p:spPr>
        <p:txBody>
          <a:bodyPr wrap="square">
            <a:spAutoFit/>
          </a:bodyPr>
          <a:lstStyle/>
          <a:p>
            <a:pPr algn="l"/>
            <a:r>
              <a:rPr sz="1800" b="1" i="0">
                <a:solidFill>
                  <a:srgbClr val="00BFBF"/>
                </a:solidFill>
              </a:rPr>
              <a:t>Key References</a:t>
            </a:r>
          </a:p>
        </p:txBody>
      </p:sp>
      <p:sp>
        <p:nvSpPr>
          <p:cNvPr id="7" name="TextBox 6"/>
          <p:cNvSpPr txBox="1"/>
          <p:nvPr/>
        </p:nvSpPr>
        <p:spPr>
          <a:xfrm>
            <a:off x="457200" y="1700000"/>
            <a:ext cx="8229600" cy="2200000"/>
          </a:xfrm>
          <a:prstGeom prst="rect">
            <a:avLst/>
          </a:prstGeom>
          <a:noFill/>
        </p:spPr>
        <p:txBody>
          <a:bodyPr wrap="square">
            <a:spAutoFit/>
          </a:bodyPr>
          <a:lstStyle/>
          <a:p>
            <a:pPr>
              <a:spcBef>
                <a:spcPts val="400"/>
              </a:spcBef>
            </a:pPr>
            <a:r>
              <a:rPr sz="1400">
                <a:solidFill>
                  <a:srgbClr val="F0F0F0"/>
                </a:solidFill>
              </a:rPr>
              <a:t>• Mind UK: Mental health and the criminal justice system (mind.org.uk)</a:t>
            </a:r>
          </a:p>
          <a:p>
            <a:pPr>
              <a:spcBef>
                <a:spcPts val="400"/>
              </a:spcBef>
            </a:pPr>
            <a:r>
              <a:rPr sz="1400">
                <a:solidFill>
                  <a:srgbClr val="F0F0F0"/>
                </a:solidFill>
              </a:rPr>
              <a:t>• Prison Reform Trust: prisonreformtrust.org.uk</a:t>
            </a:r>
          </a:p>
          <a:p>
            <a:pPr>
              <a:spcBef>
                <a:spcPts val="400"/>
              </a:spcBef>
            </a:pPr>
            <a:r>
              <a:rPr sz="1400">
                <a:solidFill>
                  <a:srgbClr val="F0F0F0"/>
                </a:solidFill>
              </a:rPr>
              <a:t>• NHS England: Liaison and diversion (england.nhs.uk)</a:t>
            </a:r>
          </a:p>
          <a:p>
            <a:pPr>
              <a:spcBef>
                <a:spcPts val="400"/>
              </a:spcBef>
            </a:pPr>
            <a:r>
              <a:rPr sz="1400">
                <a:solidFill>
                  <a:srgbClr val="F0F0F0"/>
                </a:solidFill>
              </a:rPr>
              <a:t>• Nacro: nacro.org.uk</a:t>
            </a:r>
          </a:p>
          <a:p>
            <a:pPr>
              <a:spcBef>
                <a:spcPts val="400"/>
              </a:spcBef>
            </a:pPr>
            <a:r>
              <a:rPr sz="1400">
                <a:solidFill>
                  <a:srgbClr val="F0F0F0"/>
                </a:solidFill>
              </a:rPr>
              <a:t>• Samaritans: 116 123 (free, 24/7)</a:t>
            </a:r>
          </a:p>
        </p:txBody>
      </p:sp>
      <p:sp>
        <p:nvSpPr>
          <p:cNvPr id="8" name="TextBox 7"/>
          <p:cNvSpPr txBox="1"/>
          <p:nvPr/>
        </p:nvSpPr>
        <p:spPr>
          <a:xfrm>
            <a:off x="457200" y="4000000"/>
            <a:ext cx="8229600" cy="365760"/>
          </a:xfrm>
          <a:prstGeom prst="rect">
            <a:avLst/>
          </a:prstGeom>
          <a:noFill/>
        </p:spPr>
        <p:txBody>
          <a:bodyPr wrap="square">
            <a:spAutoFit/>
          </a:bodyPr>
          <a:lstStyle/>
          <a:p>
            <a:pPr algn="l"/>
            <a:r>
              <a:rPr sz="1800" b="1" i="0">
                <a:solidFill>
                  <a:srgbClr val="FF6B00"/>
                </a:solidFill>
              </a:rPr>
              <a:t>Crisis Support</a:t>
            </a:r>
          </a:p>
        </p:txBody>
      </p:sp>
      <p:sp>
        <p:nvSpPr>
          <p:cNvPr id="9" name="TextBox 8"/>
          <p:cNvSpPr txBox="1"/>
          <p:nvPr/>
        </p:nvSpPr>
        <p:spPr>
          <a:xfrm>
            <a:off x="457200" y="4450000"/>
            <a:ext cx="8229600" cy="1800000"/>
          </a:xfrm>
          <a:prstGeom prst="rect">
            <a:avLst/>
          </a:prstGeom>
          <a:noFill/>
        </p:spPr>
        <p:txBody>
          <a:bodyPr wrap="square">
            <a:spAutoFit/>
          </a:bodyPr>
          <a:lstStyle/>
          <a:p>
            <a:pPr>
              <a:spcBef>
                <a:spcPts val="400"/>
              </a:spcBef>
            </a:pPr>
            <a:r>
              <a:rPr sz="1300">
                <a:solidFill>
                  <a:srgbClr val="AAAAAA"/>
                </a:solidFill>
              </a:rPr>
              <a:t>• Emergency: 999</a:t>
            </a:r>
          </a:p>
          <a:p>
            <a:pPr>
              <a:spcBef>
                <a:spcPts val="400"/>
              </a:spcBef>
            </a:pPr>
            <a:r>
              <a:rPr sz="1300">
                <a:solidFill>
                  <a:srgbClr val="AAAAAA"/>
                </a:solidFill>
              </a:rPr>
              <a:t>• NHS 111: 24/7 urgent mental health support</a:t>
            </a:r>
          </a:p>
          <a:p>
            <a:pPr>
              <a:spcBef>
                <a:spcPts val="400"/>
              </a:spcBef>
            </a:pPr>
            <a:r>
              <a:rPr sz="1300">
                <a:solidFill>
                  <a:srgbClr val="AAAAAA"/>
                </a:solidFill>
              </a:rPr>
              <a:t>• Samaritans: 116 123 (free, 24/7)</a:t>
            </a:r>
          </a:p>
          <a:p>
            <a:pPr>
              <a:spcBef>
                <a:spcPts val="400"/>
              </a:spcBef>
            </a:pPr>
            <a:r>
              <a:rPr sz="1300">
                <a:solidFill>
                  <a:srgbClr val="AAAAAA"/>
                </a:solidFill>
              </a:rPr>
              <a:t>• Shout Crisis Text: Text SHOUT to 85258</a:t>
            </a:r>
          </a:p>
          <a:p>
            <a:pPr>
              <a:spcBef>
                <a:spcPts val="400"/>
              </a:spcBef>
            </a:pPr>
            <a:r>
              <a:rPr sz="1300">
                <a:solidFill>
                  <a:srgbClr val="AAAAAA"/>
                </a:solidFill>
              </a:rPr>
              <a:t>• Wiltshire Crisis Line: 0800 953 0110 (24/7)</a:t>
            </a:r>
          </a:p>
          <a:p>
            <a:pPr>
              <a:spcBef>
                <a:spcPts val="400"/>
              </a:spcBef>
            </a:pPr>
            <a:r>
              <a:rPr sz="1300">
                <a:solidFill>
                  <a:srgbClr val="AAAAAA"/>
                </a:solidFill>
              </a:rPr>
              <a:t>• PAPYRUS (under 35): 0800 068 4141</a:t>
            </a:r>
          </a:p>
        </p:txBody>
      </p:sp>
      <p:sp>
        <p:nvSpPr>
          <p:cNvPr id="10" name="TextBox 9"/>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Rectangle 3"/>
          <p:cNvSpPr/>
          <p:nvPr/>
        </p:nvSpPr>
        <p:spPr>
          <a:xfrm>
            <a:off x="0" y="0"/>
            <a:ext cx="9144000" cy="182880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00000"/>
            <a:ext cx="7589520" cy="640080"/>
          </a:xfrm>
          <a:prstGeom prst="rect">
            <a:avLst/>
          </a:prstGeom>
          <a:noFill/>
        </p:spPr>
        <p:txBody>
          <a:bodyPr wrap="square">
            <a:spAutoFit/>
          </a:bodyPr>
          <a:lstStyle/>
          <a:p>
            <a:pPr algn="l"/>
            <a:r>
              <a:rPr sz="3400" b="1" i="0">
                <a:solidFill>
                  <a:srgbClr val="1A1A1A"/>
                </a:solidFill>
              </a:rPr>
              <a:t>Module 37 Complete</a:t>
            </a:r>
          </a:p>
        </p:txBody>
      </p:sp>
      <p:sp>
        <p:nvSpPr>
          <p:cNvPr id="6" name="TextBox 5"/>
          <p:cNvSpPr txBox="1"/>
          <p:nvPr/>
        </p:nvSpPr>
        <p:spPr>
          <a:xfrm>
            <a:off x="457200" y="700000"/>
            <a:ext cx="7589520" cy="640080"/>
          </a:xfrm>
          <a:prstGeom prst="rect">
            <a:avLst/>
          </a:prstGeom>
          <a:noFill/>
        </p:spPr>
        <p:txBody>
          <a:bodyPr wrap="square">
            <a:spAutoFit/>
          </a:bodyPr>
          <a:lstStyle/>
          <a:p>
            <a:pPr algn="l"/>
            <a:r>
              <a:rPr sz="2000" b="0" i="0">
                <a:solidFill>
                  <a:srgbClr val="1A1A1A"/>
                </a:solidFill>
              </a:rPr>
              <a:t>Mental Health and the Criminal Justice System</a:t>
            </a:r>
          </a:p>
        </p:txBody>
      </p:sp>
      <p:sp>
        <p:nvSpPr>
          <p:cNvPr id="7" name="TextBox 6"/>
          <p:cNvSpPr txBox="1"/>
          <p:nvPr/>
        </p:nvSpPr>
        <p:spPr>
          <a:xfrm>
            <a:off x="457200" y="2100000"/>
            <a:ext cx="8229600" cy="3200000"/>
          </a:xfrm>
          <a:prstGeom prst="rect">
            <a:avLst/>
          </a:prstGeom>
          <a:noFill/>
        </p:spPr>
        <p:txBody>
          <a:bodyPr wrap="square">
            <a:spAutoFit/>
          </a:bodyPr>
          <a:lstStyle/>
          <a:p>
            <a:pPr>
              <a:spcBef>
                <a:spcPts val="400"/>
              </a:spcBef>
            </a:pPr>
            <a:r>
              <a:rPr sz="1700">
                <a:solidFill>
                  <a:srgbClr val="F0F0F0"/>
                </a:solidFill>
              </a:rPr>
              <a:t>• You have completed Module 37: Mental Health and the Criminal Justice System</a:t>
            </a:r>
          </a:p>
          <a:p>
            <a:pPr>
              <a:spcBef>
                <a:spcPts val="400"/>
              </a:spcBef>
            </a:pPr>
            <a:r>
              <a:rPr sz="1700">
                <a:solidFill>
                  <a:srgbClr val="F0F0F0"/>
                </a:solidFill>
              </a:rPr>
              <a:t>• Key concepts and evidence-based strategies have been explored</a:t>
            </a:r>
          </a:p>
          <a:p>
            <a:pPr>
              <a:spcBef>
                <a:spcPts val="400"/>
              </a:spcBef>
            </a:pPr>
            <a:r>
              <a:rPr sz="1700">
                <a:solidFill>
                  <a:srgbClr val="F0F0F0"/>
                </a:solidFill>
              </a:rPr>
              <a:t>• Please complete the post-session reflection form</a:t>
            </a:r>
          </a:p>
          <a:p>
            <a:pPr>
              <a:spcBef>
                <a:spcPts val="400"/>
              </a:spcBef>
            </a:pPr>
            <a:r>
              <a:rPr sz="1700">
                <a:solidFill>
                  <a:srgbClr val="F0F0F0"/>
                </a:solidFill>
              </a:rPr>
              <a:t>• Access course materials and handouts in the Members Portal</a:t>
            </a:r>
          </a:p>
          <a:p>
            <a:pPr>
              <a:spcBef>
                <a:spcPts val="400"/>
              </a:spcBef>
            </a:pPr>
            <a:r>
              <a:rPr sz="1700">
                <a:solidFill>
                  <a:srgbClr val="F0F0F0"/>
                </a:solidFill>
              </a:rPr>
              <a:t>• Our next session builds on today's learning</a:t>
            </a:r>
          </a:p>
        </p:txBody>
      </p:sp>
      <p:sp>
        <p:nvSpPr>
          <p:cNvPr id="8" name="TextBox 7"/>
          <p:cNvSpPr txBox="1"/>
          <p:nvPr/>
        </p:nvSpPr>
        <p:spPr>
          <a:xfrm>
            <a:off x="457200" y="5958000"/>
            <a:ext cx="8229600" cy="457200"/>
          </a:xfrm>
          <a:prstGeom prst="rect">
            <a:avLst/>
          </a:prstGeom>
          <a:noFill/>
        </p:spPr>
        <p:txBody>
          <a:bodyPr wrap="square">
            <a:spAutoFit/>
          </a:bodyPr>
          <a:lstStyle/>
          <a:p>
            <a:pPr algn="ctr"/>
            <a:r>
              <a:rPr sz="1300" b="0" i="0">
                <a:solidFill>
                  <a:srgbClr val="AAAAAA"/>
                </a:solidFill>
              </a:rPr>
              <a:t>melksham-mentalhealth.us  |  Melksham-mental-health@outlook.com</a:t>
            </a:r>
          </a:p>
        </p:txBody>
      </p:sp>
      <p:sp>
        <p:nvSpPr>
          <p:cNvPr id="9" name="TextBox 8"/>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
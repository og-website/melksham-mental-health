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39</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Medication in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Psychiatric medication is an important tool in the treatment of many mental health conditions. This module provides a clear, accessible overview of the major classes of psychiatric medication, their mechanisms, benefits, side effects and the importance of informed consent and shared decision-making.</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Identify the major classes of psychiatric medication and their indications</a:t>
            </a:r>
          </a:p>
          <a:p>
            <a:pPr>
              <a:spcBef>
                <a:spcPts val="400"/>
              </a:spcBef>
            </a:pPr>
            <a:r>
              <a:rPr sz="1700">
                <a:solidFill>
                  <a:srgbClr val="F0F0F0"/>
                </a:solidFill>
              </a:rPr>
              <a:t>• Understand the mechanisms of action of antidepressants, antipsychotics and mood stabilisers</a:t>
            </a:r>
          </a:p>
          <a:p>
            <a:pPr>
              <a:spcBef>
                <a:spcPts val="400"/>
              </a:spcBef>
            </a:pPr>
            <a:r>
              <a:rPr sz="1700">
                <a:solidFill>
                  <a:srgbClr val="F0F0F0"/>
                </a:solidFill>
              </a:rPr>
              <a:t>• Explore the common side effects and how to manage them</a:t>
            </a:r>
          </a:p>
          <a:p>
            <a:pPr>
              <a:spcBef>
                <a:spcPts val="400"/>
              </a:spcBef>
            </a:pPr>
            <a:r>
              <a:rPr sz="1700">
                <a:solidFill>
                  <a:srgbClr val="F0F0F0"/>
                </a:solidFill>
              </a:rPr>
              <a:t>• Understand the importance of informed consent and shared decision-making</a:t>
            </a:r>
          </a:p>
          <a:p>
            <a:pPr>
              <a:spcBef>
                <a:spcPts val="400"/>
              </a:spcBef>
            </a:pPr>
            <a:r>
              <a:rPr sz="1700">
                <a:solidFill>
                  <a:srgbClr val="F0F0F0"/>
                </a:solidFill>
              </a:rPr>
              <a:t>• Develop skills for supporting someone on psychiatric medication</a:t>
            </a:r>
          </a:p>
          <a:p>
            <a:pPr>
              <a:spcBef>
                <a:spcPts val="400"/>
              </a:spcBef>
            </a:pPr>
            <a:r>
              <a:rPr sz="1700">
                <a:solidFill>
                  <a:srgbClr val="F0F0F0"/>
                </a:solidFill>
              </a:rPr>
              <a:t>• Know the resources for medication information and support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39: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Antidepressants: SSRIs, SNRIs, TCAs, MAOIs — mechanisms and indications</a:t>
            </a:r>
          </a:p>
          <a:p>
            <a:pPr>
              <a:spcBef>
                <a:spcPts val="400"/>
              </a:spcBef>
            </a:pPr>
            <a:r>
              <a:rPr sz="1700">
                <a:solidFill>
                  <a:srgbClr val="F0F0F0"/>
                </a:solidFill>
              </a:rPr>
              <a:t>• Antipsychotics: first and second generation — mechanisms, indications and side effects</a:t>
            </a:r>
          </a:p>
          <a:p>
            <a:pPr>
              <a:spcBef>
                <a:spcPts val="400"/>
              </a:spcBef>
            </a:pPr>
            <a:r>
              <a:rPr sz="1700">
                <a:solidFill>
                  <a:srgbClr val="F0F0F0"/>
                </a:solidFill>
              </a:rPr>
              <a:t>• Mood stabilisers: lithium, valproate, lamotrigine — mechanisms and monitoring</a:t>
            </a:r>
          </a:p>
          <a:p>
            <a:pPr>
              <a:spcBef>
                <a:spcPts val="400"/>
              </a:spcBef>
            </a:pPr>
            <a:r>
              <a:rPr sz="1700">
                <a:solidFill>
                  <a:srgbClr val="F0F0F0"/>
                </a:solidFill>
              </a:rPr>
              <a:t>• Anxiolytics: benzodiazepines, pregabalin, buspirone — short-term use and dependence risk</a:t>
            </a:r>
          </a:p>
          <a:p>
            <a:pPr>
              <a:spcBef>
                <a:spcPts val="400"/>
              </a:spcBef>
            </a:pPr>
            <a:r>
              <a:rPr sz="1700">
                <a:solidFill>
                  <a:srgbClr val="F0F0F0"/>
                </a:solidFill>
              </a:rPr>
              <a:t>• Stimulants: methylphenidate, lisdexamfetamine — for ADHD</a:t>
            </a:r>
          </a:p>
          <a:p>
            <a:pPr>
              <a:spcBef>
                <a:spcPts val="400"/>
              </a:spcBef>
            </a:pPr>
            <a:r>
              <a:rPr sz="1700">
                <a:solidFill>
                  <a:srgbClr val="F0F0F0"/>
                </a:solidFill>
              </a:rPr>
              <a:t>• Informed consent: the right to information, alternatives and refusal</a:t>
            </a:r>
          </a:p>
          <a:p>
            <a:pPr>
              <a:spcBef>
                <a:spcPts val="400"/>
              </a:spcBef>
            </a:pPr>
            <a:r>
              <a:rPr sz="1700">
                <a:solidFill>
                  <a:srgbClr val="F0F0F0"/>
                </a:solidFill>
              </a:rPr>
              <a:t>• Shared decision-making: collaborative prescribing and medication reviews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50–60% of people with depression respond to their first antidepressant (NICE)</a:t>
            </a:r>
          </a:p>
          <a:p>
            <a:pPr>
              <a:spcBef>
                <a:spcPts val="400"/>
              </a:spcBef>
            </a:pPr>
            <a:r>
              <a:rPr sz="1700">
                <a:solidFill>
                  <a:srgbClr val="F0F0F0"/>
                </a:solidFill>
              </a:rPr>
              <a:t>• Lithium reduces suicide risk by 60% in bipolar disorder (Cipriani et al., 2013)</a:t>
            </a:r>
          </a:p>
          <a:p>
            <a:pPr>
              <a:spcBef>
                <a:spcPts val="400"/>
              </a:spcBef>
            </a:pPr>
            <a:r>
              <a:rPr sz="1700">
                <a:solidFill>
                  <a:srgbClr val="F0F0F0"/>
                </a:solidFill>
              </a:rPr>
              <a:t>• Antipsychotics are effective for positive symptoms in 70% of people with schizophrenia</a:t>
            </a:r>
          </a:p>
          <a:p>
            <a:pPr>
              <a:spcBef>
                <a:spcPts val="400"/>
              </a:spcBef>
            </a:pPr>
            <a:r>
              <a:rPr sz="1700">
                <a:solidFill>
                  <a:srgbClr val="F0F0F0"/>
                </a:solidFill>
              </a:rPr>
              <a:t>• 30% of people stop taking psychiatric medication within 3 months (NICE)</a:t>
            </a:r>
          </a:p>
          <a:p>
            <a:pPr>
              <a:spcBef>
                <a:spcPts val="400"/>
              </a:spcBef>
            </a:pPr>
            <a:r>
              <a:rPr sz="1700">
                <a:solidFill>
                  <a:srgbClr val="F0F0F0"/>
                </a:solidFill>
              </a:rPr>
              <a:t>• Medication side effects are the most common reason for non-adherence</a:t>
            </a:r>
          </a:p>
          <a:p>
            <a:pPr>
              <a:spcBef>
                <a:spcPts val="400"/>
              </a:spcBef>
            </a:pPr>
            <a:r>
              <a:rPr sz="1700">
                <a:solidFill>
                  <a:srgbClr val="F0F0F0"/>
                </a:solidFill>
              </a:rPr>
              <a:t>• Clozapine is effective for 30–60% of people with treatment-resistant schizophrenia</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guidelines provide evidence-based prescribing recommendations for all conditions</a:t>
            </a:r>
          </a:p>
          <a:p>
            <a:pPr>
              <a:spcBef>
                <a:spcPts val="400"/>
              </a:spcBef>
            </a:pPr>
            <a:r>
              <a:rPr sz="1700">
                <a:solidFill>
                  <a:srgbClr val="F0F0F0"/>
                </a:solidFill>
              </a:rPr>
              <a:t>• Shared decision-making significantly improves medication adherence and outcomes</a:t>
            </a:r>
          </a:p>
          <a:p>
            <a:pPr>
              <a:spcBef>
                <a:spcPts val="400"/>
              </a:spcBef>
            </a:pPr>
            <a:r>
              <a:rPr sz="1700">
                <a:solidFill>
                  <a:srgbClr val="F0F0F0"/>
                </a:solidFill>
              </a:rPr>
              <a:t>• Regular medication reviews reduce polypharmacy and side effect burden</a:t>
            </a:r>
          </a:p>
          <a:p>
            <a:pPr>
              <a:spcBef>
                <a:spcPts val="400"/>
              </a:spcBef>
            </a:pPr>
            <a:r>
              <a:rPr sz="1700">
                <a:solidFill>
                  <a:srgbClr val="F0F0F0"/>
                </a:solidFill>
              </a:rPr>
              <a:t>• Psychoeducation about medication improves adherence and reduces relapse</a:t>
            </a:r>
          </a:p>
          <a:p>
            <a:pPr>
              <a:spcBef>
                <a:spcPts val="400"/>
              </a:spcBef>
            </a:pPr>
            <a:r>
              <a:rPr sz="1700">
                <a:solidFill>
                  <a:srgbClr val="F0F0F0"/>
                </a:solidFill>
              </a:rPr>
              <a:t>• Deprescribing: safely reducing or stopping medication when appropriate</a:t>
            </a:r>
          </a:p>
          <a:p>
            <a:pPr>
              <a:spcBef>
                <a:spcPts val="400"/>
              </a:spcBef>
            </a:pPr>
            <a:r>
              <a:rPr sz="1700">
                <a:solidFill>
                  <a:srgbClr val="F0F0F0"/>
                </a:solidFill>
              </a:rPr>
              <a:t>• Medication is most effective when combined with psychological therapy and social support</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David, 45, was prescribed sertraline for depression but stopped taking it after two weeks due to initial side effects (nausea and insomnia). His GP had not warned him about these common early side effects. After a medication review, David was given clear information about what to expect and how to manage side effects. He restarted sertraline and persisted through the initial side effects. After six weeks, his depression improved significantly.</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Psychoeducation: providing clear information about medication, side effects and expectations</a:t>
            </a:r>
          </a:p>
          <a:p>
            <a:pPr>
              <a:spcBef>
                <a:spcPts val="400"/>
              </a:spcBef>
            </a:pPr>
            <a:r>
              <a:rPr sz="1700">
                <a:solidFill>
                  <a:srgbClr val="F0F0F0"/>
                </a:solidFill>
              </a:rPr>
              <a:t>• Shared decision-making: involving people in prescribing decisions</a:t>
            </a:r>
          </a:p>
          <a:p>
            <a:pPr>
              <a:spcBef>
                <a:spcPts val="400"/>
              </a:spcBef>
            </a:pPr>
            <a:r>
              <a:rPr sz="1700">
                <a:solidFill>
                  <a:srgbClr val="F0F0F0"/>
                </a:solidFill>
              </a:rPr>
              <a:t>• Medication reviews: regular reviews to optimise treatment and reduce side effects</a:t>
            </a:r>
          </a:p>
          <a:p>
            <a:pPr>
              <a:spcBef>
                <a:spcPts val="400"/>
              </a:spcBef>
            </a:pPr>
            <a:r>
              <a:rPr sz="1700">
                <a:solidFill>
                  <a:srgbClr val="F0F0F0"/>
                </a:solidFill>
              </a:rPr>
              <a:t>• Adherence support: reminders, pill organisers and medication apps</a:t>
            </a:r>
          </a:p>
          <a:p>
            <a:pPr>
              <a:spcBef>
                <a:spcPts val="400"/>
              </a:spcBef>
            </a:pPr>
            <a:r>
              <a:rPr sz="1700">
                <a:solidFill>
                  <a:srgbClr val="F0F0F0"/>
                </a:solidFill>
              </a:rPr>
              <a:t>• Managing side effects: practical strategies for common psychiatric medication side effects</a:t>
            </a:r>
          </a:p>
          <a:p>
            <a:pPr>
              <a:spcBef>
                <a:spcPts val="400"/>
              </a:spcBef>
            </a:pPr>
            <a:r>
              <a:rPr sz="1700">
                <a:solidFill>
                  <a:srgbClr val="F0F0F0"/>
                </a:solidFill>
              </a:rPr>
              <a:t>• Deprescribing: safely reducing or stopping medication when appropriate</a:t>
            </a:r>
          </a:p>
          <a:p>
            <a:pPr>
              <a:spcBef>
                <a:spcPts val="400"/>
              </a:spcBef>
            </a:pPr>
            <a:r>
              <a:rPr sz="1700">
                <a:solidFill>
                  <a:srgbClr val="F0F0F0"/>
                </a:solidFill>
              </a:rPr>
              <a:t>• Peer support: sharing experiences of psychiatric medication with others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Medication information exercise: Participants research one psychiatric medication using the NHS or BNF website and present key information: what it treats, how it works, common side effects and monitoring requirements. Discuss: How can we support someone to make an informed decision about psychiatric medication?</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concerns do people commonly have about psychiatric medication?</a:t>
            </a:r>
          </a:p>
          <a:p>
            <a:pPr>
              <a:spcBef>
                <a:spcPts val="400"/>
              </a:spcBef>
            </a:pPr>
            <a:r>
              <a:rPr sz="1700">
                <a:solidFill>
                  <a:srgbClr val="F0F0F0"/>
                </a:solidFill>
              </a:rPr>
              <a:t>• How can we support someone who is reluctant to take psychiatric medication?</a:t>
            </a:r>
          </a:p>
          <a:p>
            <a:pPr>
              <a:spcBef>
                <a:spcPts val="400"/>
              </a:spcBef>
            </a:pPr>
            <a:r>
              <a:rPr sz="1700">
                <a:solidFill>
                  <a:srgbClr val="F0F0F0"/>
                </a:solidFill>
              </a:rPr>
              <a:t>• What is shared decision-making and why is it important?</a:t>
            </a:r>
          </a:p>
          <a:p>
            <a:pPr>
              <a:spcBef>
                <a:spcPts val="400"/>
              </a:spcBef>
            </a:pPr>
            <a:r>
              <a:rPr sz="1700">
                <a:solidFill>
                  <a:srgbClr val="F0F0F0"/>
                </a:solidFill>
              </a:rPr>
              <a:t>• How do we balance the benefits and risks of psychiatric medication?</a:t>
            </a:r>
          </a:p>
          <a:p>
            <a:pPr>
              <a:spcBef>
                <a:spcPts val="400"/>
              </a:spcBef>
            </a:pPr>
            <a:r>
              <a:rPr sz="1700">
                <a:solidFill>
                  <a:srgbClr val="F0F0F0"/>
                </a:solidFill>
              </a:rPr>
              <a:t>• Who can people speak to about their psychiatric medication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NHS: Antidepressants (nhs.uk/mental-health/talking-therapies-medicine-treatments/medicines-and-psychiatry/antidepressants)</a:t>
            </a:r>
          </a:p>
          <a:p>
            <a:pPr>
              <a:spcBef>
                <a:spcPts val="400"/>
              </a:spcBef>
            </a:pPr>
            <a:r>
              <a:rPr sz="1400">
                <a:solidFill>
                  <a:srgbClr val="F0F0F0"/>
                </a:solidFill>
              </a:rPr>
              <a:t>• BNF: bnf.nice.org.uk</a:t>
            </a:r>
          </a:p>
          <a:p>
            <a:pPr>
              <a:spcBef>
                <a:spcPts val="400"/>
              </a:spcBef>
            </a:pPr>
            <a:r>
              <a:rPr sz="1400">
                <a:solidFill>
                  <a:srgbClr val="F0F0F0"/>
                </a:solidFill>
              </a:rPr>
              <a:t>• Mind UK: Psychiatric medication (mind.org.uk)</a:t>
            </a:r>
          </a:p>
          <a:p>
            <a:pPr>
              <a:spcBef>
                <a:spcPts val="400"/>
              </a:spcBef>
            </a:pPr>
            <a:r>
              <a:rPr sz="1400">
                <a:solidFill>
                  <a:srgbClr val="F0F0F0"/>
                </a:solidFill>
              </a:rPr>
              <a:t>• NICE: Medicines and prescribing (nice.org.uk)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39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Medication in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39: Medication in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
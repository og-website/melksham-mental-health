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8</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Trauma and Stress: Domestic and Intimate Partner Violence</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Domestic and intimate partner violence (IPV) is a significant public health issue with profound mental health consequences. This module explores the prevalence, types, risk factors and psychological impact of domestic abuse, and provides guidance on safety planning and referral pathways.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prevalence and types of domestic and intimate partner violence</a:t>
            </a:r>
          </a:p>
          <a:p>
            <a:pPr>
              <a:spcBef>
                <a:spcPts val="400"/>
              </a:spcBef>
            </a:pPr>
            <a:r>
              <a:rPr sz="1700">
                <a:solidFill>
                  <a:srgbClr val="F0F0F0"/>
                </a:solidFill>
              </a:rPr>
              <a:t>• Identify the psychological impact: PTSD, depression, anxiety and complex trauma</a:t>
            </a:r>
          </a:p>
          <a:p>
            <a:pPr>
              <a:spcBef>
                <a:spcPts val="400"/>
              </a:spcBef>
            </a:pPr>
            <a:r>
              <a:rPr sz="1700">
                <a:solidFill>
                  <a:srgbClr val="F0F0F0"/>
                </a:solidFill>
              </a:rPr>
              <a:t>• Recognise the cycle of abuse and coercive control</a:t>
            </a:r>
          </a:p>
          <a:p>
            <a:pPr>
              <a:spcBef>
                <a:spcPts val="400"/>
              </a:spcBef>
            </a:pPr>
            <a:r>
              <a:rPr sz="1700">
                <a:solidFill>
                  <a:srgbClr val="F0F0F0"/>
                </a:solidFill>
              </a:rPr>
              <a:t>• Understand why survivors stay and the barriers to leaving</a:t>
            </a:r>
          </a:p>
          <a:p>
            <a:pPr>
              <a:spcBef>
                <a:spcPts val="400"/>
              </a:spcBef>
            </a:pPr>
            <a:r>
              <a:rPr sz="1700">
                <a:solidFill>
                  <a:srgbClr val="F0F0F0"/>
                </a:solidFill>
              </a:rPr>
              <a:t>• Develop skills for trauma-informed, non-judgemental support</a:t>
            </a:r>
          </a:p>
          <a:p>
            <a:pPr>
              <a:spcBef>
                <a:spcPts val="400"/>
              </a:spcBef>
            </a:pPr>
            <a:r>
              <a:rPr sz="1700">
                <a:solidFill>
                  <a:srgbClr val="F0F0F0"/>
                </a:solidFill>
              </a:rPr>
              <a:t>• Know the referral pathways and safety planning resources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8: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Types of abuse: physical, sexual, psychological, financial and coercive control</a:t>
            </a:r>
          </a:p>
          <a:p>
            <a:pPr>
              <a:spcBef>
                <a:spcPts val="400"/>
              </a:spcBef>
            </a:pPr>
            <a:r>
              <a:rPr sz="1700">
                <a:solidFill>
                  <a:srgbClr val="F0F0F0"/>
                </a:solidFill>
              </a:rPr>
              <a:t>• Prevalence: 1 in 4 women and 1 in 6 men experience domestic abuse in their lifetime</a:t>
            </a:r>
          </a:p>
          <a:p>
            <a:pPr>
              <a:spcBef>
                <a:spcPts val="400"/>
              </a:spcBef>
            </a:pPr>
            <a:r>
              <a:rPr sz="1700">
                <a:solidFill>
                  <a:srgbClr val="F0F0F0"/>
                </a:solidFill>
              </a:rPr>
              <a:t>• The cycle of abuse: tension building, incident, reconciliation, calm</a:t>
            </a:r>
          </a:p>
          <a:p>
            <a:pPr>
              <a:spcBef>
                <a:spcPts val="400"/>
              </a:spcBef>
            </a:pPr>
            <a:r>
              <a:rPr sz="1700">
                <a:solidFill>
                  <a:srgbClr val="F0F0F0"/>
                </a:solidFill>
              </a:rPr>
              <a:t>• Coercive control: a pattern of behaviour that seeks to take away the victim's freedom</a:t>
            </a:r>
          </a:p>
          <a:p>
            <a:pPr>
              <a:spcBef>
                <a:spcPts val="400"/>
              </a:spcBef>
            </a:pPr>
            <a:r>
              <a:rPr sz="1700">
                <a:solidFill>
                  <a:srgbClr val="F0F0F0"/>
                </a:solidFill>
              </a:rPr>
              <a:t>• Psychological impact: PTSD, depression, anxiety, complex trauma and dissociation</a:t>
            </a:r>
          </a:p>
          <a:p>
            <a:pPr>
              <a:spcBef>
                <a:spcPts val="400"/>
              </a:spcBef>
            </a:pPr>
            <a:r>
              <a:rPr sz="1700">
                <a:solidFill>
                  <a:srgbClr val="F0F0F0"/>
                </a:solidFill>
              </a:rPr>
              <a:t>• Why survivors stay: fear, financial dependence, children, love, shame, immigration status</a:t>
            </a:r>
          </a:p>
          <a:p>
            <a:pPr>
              <a:spcBef>
                <a:spcPts val="400"/>
              </a:spcBef>
            </a:pPr>
            <a:r>
              <a:rPr sz="1700">
                <a:solidFill>
                  <a:srgbClr val="F0F0F0"/>
                </a:solidFill>
              </a:rPr>
              <a:t>• Safety planning: practical steps to increase safety for survivors and their children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1 in 4 women and 1 in 6 men experience domestic abuse in their lifetime (ONS)</a:t>
            </a:r>
          </a:p>
          <a:p>
            <a:pPr>
              <a:spcBef>
                <a:spcPts val="400"/>
              </a:spcBef>
            </a:pPr>
            <a:r>
              <a:rPr sz="1700">
                <a:solidFill>
                  <a:srgbClr val="F0F0F0"/>
                </a:solidFill>
              </a:rPr>
              <a:t>• Domestic abuse accounts for 16% of all violent crime in England and Wales (ONS 2023)</a:t>
            </a:r>
          </a:p>
          <a:p>
            <a:pPr>
              <a:spcBef>
                <a:spcPts val="400"/>
              </a:spcBef>
            </a:pPr>
            <a:r>
              <a:rPr sz="1700">
                <a:solidFill>
                  <a:srgbClr val="F0F0F0"/>
                </a:solidFill>
              </a:rPr>
              <a:t>• Two women are killed by a partner or ex-partner every week in England and Wales</a:t>
            </a:r>
          </a:p>
          <a:p>
            <a:pPr>
              <a:spcBef>
                <a:spcPts val="400"/>
              </a:spcBef>
            </a:pPr>
            <a:r>
              <a:rPr sz="1700">
                <a:solidFill>
                  <a:srgbClr val="F0F0F0"/>
                </a:solidFill>
              </a:rPr>
              <a:t>• PTSD is present in 60–84% of domestic abuse survivors (Golding, 1999)</a:t>
            </a:r>
          </a:p>
          <a:p>
            <a:pPr>
              <a:spcBef>
                <a:spcPts val="400"/>
              </a:spcBef>
            </a:pPr>
            <a:r>
              <a:rPr sz="1700">
                <a:solidFill>
                  <a:srgbClr val="F0F0F0"/>
                </a:solidFill>
              </a:rPr>
              <a:t>• Domestic abuse costs the UK £66 billion per year (Home Office, 2019)</a:t>
            </a:r>
          </a:p>
          <a:p>
            <a:pPr>
              <a:spcBef>
                <a:spcPts val="400"/>
              </a:spcBef>
            </a:pPr>
            <a:r>
              <a:rPr sz="1700">
                <a:solidFill>
                  <a:srgbClr val="F0F0F0"/>
                </a:solidFill>
              </a:rPr>
              <a:t>• Domestic abuse calls to police increased by 9% during COVID-19 lockdowns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Coercive control became a criminal offence in England and Wales in 2015</a:t>
            </a:r>
          </a:p>
          <a:p>
            <a:pPr>
              <a:spcBef>
                <a:spcPts val="400"/>
              </a:spcBef>
            </a:pPr>
            <a:r>
              <a:rPr sz="1700">
                <a:solidFill>
                  <a:srgbClr val="F0F0F0"/>
                </a:solidFill>
              </a:rPr>
              <a:t>• NICE (PH50): recommends routine enquiry about domestic abuse in health settings</a:t>
            </a:r>
          </a:p>
          <a:p>
            <a:pPr>
              <a:spcBef>
                <a:spcPts val="400"/>
              </a:spcBef>
            </a:pPr>
            <a:r>
              <a:rPr sz="1700">
                <a:solidFill>
                  <a:srgbClr val="F0F0F0"/>
                </a:solidFill>
              </a:rPr>
              <a:t>• IDVA support significantly reduces repeat victimisation and improves safety</a:t>
            </a:r>
          </a:p>
          <a:p>
            <a:pPr>
              <a:spcBef>
                <a:spcPts val="400"/>
              </a:spcBef>
            </a:pPr>
            <a:r>
              <a:rPr sz="1700">
                <a:solidFill>
                  <a:srgbClr val="F0F0F0"/>
                </a:solidFill>
              </a:rPr>
              <a:t>• Trauma-focused therapy (EMDR, trauma-focused CBT) is effective for PTSD in survivors</a:t>
            </a:r>
          </a:p>
          <a:p>
            <a:pPr>
              <a:spcBef>
                <a:spcPts val="400"/>
              </a:spcBef>
            </a:pPr>
            <a:r>
              <a:rPr sz="1700">
                <a:solidFill>
                  <a:srgbClr val="F0F0F0"/>
                </a:solidFill>
              </a:rPr>
              <a:t>• MARAC (Multi-Agency Risk Assessment Conference) reduces repeat abuse by 60%</a:t>
            </a:r>
          </a:p>
          <a:p>
            <a:pPr>
              <a:spcBef>
                <a:spcPts val="400"/>
              </a:spcBef>
            </a:pPr>
            <a:r>
              <a:rPr sz="1700">
                <a:solidFill>
                  <a:srgbClr val="F0F0F0"/>
                </a:solidFill>
              </a:rPr>
              <a:t>• Children in households with domestic abuse are 3–4 times more likely to develop mental health problems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Emma, 29, had been in a relationship with a controlling partner for five years. He monitored her phone, controlled her finances and isolated her from friends and family. Emma didn't recognise this as abuse until a health visitor asked about her relationship during a routine appointment. With support from a local IDVA, Emma developed a safety plan and eventually moved to a refuge with her two children. She accessed trauma-focused therapy and began rebuilding her life.</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Safety planning: identifying safe places, trusted contacts and emergency resources</a:t>
            </a:r>
          </a:p>
          <a:p>
            <a:pPr>
              <a:spcBef>
                <a:spcPts val="400"/>
              </a:spcBef>
            </a:pPr>
            <a:r>
              <a:rPr sz="1700">
                <a:solidFill>
                  <a:srgbClr val="F0F0F0"/>
                </a:solidFill>
              </a:rPr>
              <a:t>• IDVA (Independent Domestic Violence Advisor) support: specialist advocacy</a:t>
            </a:r>
          </a:p>
          <a:p>
            <a:pPr>
              <a:spcBef>
                <a:spcPts val="400"/>
              </a:spcBef>
            </a:pPr>
            <a:r>
              <a:rPr sz="1700">
                <a:solidFill>
                  <a:srgbClr val="F0F0F0"/>
                </a:solidFill>
              </a:rPr>
              <a:t>• Refuge and emergency accommodation: local and national options</a:t>
            </a:r>
          </a:p>
          <a:p>
            <a:pPr>
              <a:spcBef>
                <a:spcPts val="400"/>
              </a:spcBef>
            </a:pPr>
            <a:r>
              <a:rPr sz="1700">
                <a:solidFill>
                  <a:srgbClr val="F0F0F0"/>
                </a:solidFill>
              </a:rPr>
              <a:t>• Trauma-focused therapy: EMDR, trauma-focused CBT for PTSD symptoms</a:t>
            </a:r>
          </a:p>
          <a:p>
            <a:pPr>
              <a:spcBef>
                <a:spcPts val="400"/>
              </a:spcBef>
            </a:pPr>
            <a:r>
              <a:rPr sz="1700">
                <a:solidFill>
                  <a:srgbClr val="F0F0F0"/>
                </a:solidFill>
              </a:rPr>
              <a:t>• Legal support: non-molestation orders, occupation orders, MARAC referrals</a:t>
            </a:r>
          </a:p>
          <a:p>
            <a:pPr>
              <a:spcBef>
                <a:spcPts val="400"/>
              </a:spcBef>
            </a:pPr>
            <a:r>
              <a:rPr sz="1700">
                <a:solidFill>
                  <a:srgbClr val="F0F0F0"/>
                </a:solidFill>
              </a:rPr>
              <a:t>• Financial support: benefits advice, emergency funds, housing support</a:t>
            </a:r>
          </a:p>
          <a:p>
            <a:pPr>
              <a:spcBef>
                <a:spcPts val="400"/>
              </a:spcBef>
            </a:pPr>
            <a:r>
              <a:rPr sz="1700">
                <a:solidFill>
                  <a:srgbClr val="F0F0F0"/>
                </a:solidFill>
              </a:rPr>
              <a:t>• Children's services: supporting children affected by domestic abuse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Safety planning workshop: Participants learn the components of a safety plan (safe places, trusted contacts, important documents, emergency numbers). Discuss: What makes it difficult for survivors to leave? How can we support someone without increasing their risk?</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misconceptions exist about domestic abuse and why survivors stay?</a:t>
            </a:r>
          </a:p>
          <a:p>
            <a:pPr>
              <a:spcBef>
                <a:spcPts val="400"/>
              </a:spcBef>
            </a:pPr>
            <a:r>
              <a:rPr sz="1700">
                <a:solidFill>
                  <a:srgbClr val="F0F0F0"/>
                </a:solidFill>
              </a:rPr>
              <a:t>• How does coercive control differ from physical abuse?</a:t>
            </a:r>
          </a:p>
          <a:p>
            <a:pPr>
              <a:spcBef>
                <a:spcPts val="400"/>
              </a:spcBef>
            </a:pPr>
            <a:r>
              <a:rPr sz="1700">
                <a:solidFill>
                  <a:srgbClr val="F0F0F0"/>
                </a:solidFill>
              </a:rPr>
              <a:t>• What role can friends, family and professionals play in supporting survivors?</a:t>
            </a:r>
          </a:p>
          <a:p>
            <a:pPr>
              <a:spcBef>
                <a:spcPts val="400"/>
              </a:spcBef>
            </a:pPr>
            <a:r>
              <a:rPr sz="1700">
                <a:solidFill>
                  <a:srgbClr val="F0F0F0"/>
                </a:solidFill>
              </a:rPr>
              <a:t>• How does domestic abuse affect children in the household?</a:t>
            </a:r>
          </a:p>
          <a:p>
            <a:pPr>
              <a:spcBef>
                <a:spcPts val="400"/>
              </a:spcBef>
            </a:pPr>
            <a:r>
              <a:rPr sz="1700">
                <a:solidFill>
                  <a:srgbClr val="F0F0F0"/>
                </a:solidFill>
              </a:rPr>
              <a:t>• What domestic abuse services are available in Melksham and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National Domestic Abuse Helpline: 0808 2000 247 (free, 24/7)</a:t>
            </a:r>
          </a:p>
          <a:p>
            <a:pPr>
              <a:spcBef>
                <a:spcPts val="400"/>
              </a:spcBef>
            </a:pPr>
            <a:r>
              <a:rPr sz="1400">
                <a:solidFill>
                  <a:srgbClr val="F0F0F0"/>
                </a:solidFill>
              </a:rPr>
              <a:t>• Refuge: refuge.org.uk</a:t>
            </a:r>
          </a:p>
          <a:p>
            <a:pPr>
              <a:spcBef>
                <a:spcPts val="400"/>
              </a:spcBef>
            </a:pPr>
            <a:r>
              <a:rPr sz="1400">
                <a:solidFill>
                  <a:srgbClr val="F0F0F0"/>
                </a:solidFill>
              </a:rPr>
              <a:t>• Women's Aid: womensaid.org.uk</a:t>
            </a:r>
          </a:p>
          <a:p>
            <a:pPr>
              <a:spcBef>
                <a:spcPts val="400"/>
              </a:spcBef>
            </a:pPr>
            <a:r>
              <a:rPr sz="1400">
                <a:solidFill>
                  <a:srgbClr val="F0F0F0"/>
                </a:solidFill>
              </a:rPr>
              <a:t>• Mankind Initiative (for male survivors): 01823 334244</a:t>
            </a:r>
          </a:p>
          <a:p>
            <a:pPr>
              <a:spcBef>
                <a:spcPts val="400"/>
              </a:spcBef>
            </a:pPr>
            <a:r>
              <a:rPr sz="1400">
                <a:solidFill>
                  <a:srgbClr val="F0F0F0"/>
                </a:solidFill>
              </a:rPr>
              <a:t>• Wiltshire Domestic Abuse Support Service: wiltshiredomesticabuse.co.uk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8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Trauma and Stress: Domestic and Intimate Partner Violence</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8: Trauma and Stress: Domestic and Intimate Partner Violence</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
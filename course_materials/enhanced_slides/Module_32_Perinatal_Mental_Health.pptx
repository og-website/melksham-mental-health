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32</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Perinatal Mental Health</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The perinatal period — pregnancy and the first year after birth — is a time of significant psychological vulnerability. This module explores perinatal mental health conditions including antenatal and postnatal depression, anxiety, OCD, PTSD and postpartum psychosis, alongside the specialist support available.</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the perinatal period and understand its mental health significance</a:t>
            </a:r>
          </a:p>
          <a:p>
            <a:pPr>
              <a:spcBef>
                <a:spcPts val="400"/>
              </a:spcBef>
            </a:pPr>
            <a:r>
              <a:rPr sz="1700">
                <a:solidFill>
                  <a:srgbClr val="F0F0F0"/>
                </a:solidFill>
              </a:rPr>
              <a:t>• Identify perinatal mental health conditions: depression, anxiety, OCD, PTSD, psychosis</a:t>
            </a:r>
          </a:p>
          <a:p>
            <a:pPr>
              <a:spcBef>
                <a:spcPts val="400"/>
              </a:spcBef>
            </a:pPr>
            <a:r>
              <a:rPr sz="1700">
                <a:solidFill>
                  <a:srgbClr val="F0F0F0"/>
                </a:solidFill>
              </a:rPr>
              <a:t>• Understand the risk factors for perinatal mental health problems</a:t>
            </a:r>
          </a:p>
          <a:p>
            <a:pPr>
              <a:spcBef>
                <a:spcPts val="400"/>
              </a:spcBef>
            </a:pPr>
            <a:r>
              <a:rPr sz="1700">
                <a:solidFill>
                  <a:srgbClr val="F0F0F0"/>
                </a:solidFill>
              </a:rPr>
              <a:t>• Explore evidence-based treatments safe in pregnancy and breastfeeding</a:t>
            </a:r>
          </a:p>
          <a:p>
            <a:pPr>
              <a:spcBef>
                <a:spcPts val="400"/>
              </a:spcBef>
            </a:pPr>
            <a:r>
              <a:rPr sz="1700">
                <a:solidFill>
                  <a:srgbClr val="F0F0F0"/>
                </a:solidFill>
              </a:rPr>
              <a:t>• Develop skills for identifying and supporting perinatal mental health difficulties</a:t>
            </a:r>
          </a:p>
          <a:p>
            <a:pPr>
              <a:spcBef>
                <a:spcPts val="400"/>
              </a:spcBef>
            </a:pPr>
            <a:r>
              <a:rPr sz="1700">
                <a:solidFill>
                  <a:srgbClr val="F0F0F0"/>
                </a:solidFill>
              </a:rPr>
              <a:t>• Know the perinatal mental health services available in Wiltshire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32: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Antenatal depression: depression during pregnancy; often unrecognised</a:t>
            </a:r>
          </a:p>
          <a:p>
            <a:pPr>
              <a:spcBef>
                <a:spcPts val="400"/>
              </a:spcBef>
            </a:pPr>
            <a:r>
              <a:rPr sz="1700">
                <a:solidFill>
                  <a:srgbClr val="F0F0F0"/>
                </a:solidFill>
              </a:rPr>
              <a:t>• Postnatal depression: depression in the first year after birth; affects 10–15% of mothers</a:t>
            </a:r>
          </a:p>
          <a:p>
            <a:pPr>
              <a:spcBef>
                <a:spcPts val="400"/>
              </a:spcBef>
            </a:pPr>
            <a:r>
              <a:rPr sz="1700">
                <a:solidFill>
                  <a:srgbClr val="F0F0F0"/>
                </a:solidFill>
              </a:rPr>
              <a:t>• Perinatal anxiety: the most common perinatal mental health condition</a:t>
            </a:r>
          </a:p>
          <a:p>
            <a:pPr>
              <a:spcBef>
                <a:spcPts val="400"/>
              </a:spcBef>
            </a:pPr>
            <a:r>
              <a:rPr sz="1700">
                <a:solidFill>
                  <a:srgbClr val="F0F0F0"/>
                </a:solidFill>
              </a:rPr>
              <a:t>• Perinatal OCD: intrusive thoughts about harming the baby; causes significant shame</a:t>
            </a:r>
          </a:p>
          <a:p>
            <a:pPr>
              <a:spcBef>
                <a:spcPts val="400"/>
              </a:spcBef>
            </a:pPr>
            <a:r>
              <a:rPr sz="1700">
                <a:solidFill>
                  <a:srgbClr val="F0F0F0"/>
                </a:solidFill>
              </a:rPr>
              <a:t>• Birth trauma and PTSD: following traumatic birth experiences</a:t>
            </a:r>
          </a:p>
          <a:p>
            <a:pPr>
              <a:spcBef>
                <a:spcPts val="400"/>
              </a:spcBef>
            </a:pPr>
            <a:r>
              <a:rPr sz="1700">
                <a:solidFill>
                  <a:srgbClr val="F0F0F0"/>
                </a:solidFill>
              </a:rPr>
              <a:t>• Postpartum psychosis: rare but serious; requires emergency psychiatric care</a:t>
            </a:r>
          </a:p>
          <a:p>
            <a:pPr>
              <a:spcBef>
                <a:spcPts val="400"/>
              </a:spcBef>
            </a:pPr>
            <a:r>
              <a:rPr sz="1700">
                <a:solidFill>
                  <a:srgbClr val="F0F0F0"/>
                </a:solidFill>
              </a:rPr>
              <a:t>• Edinburgh Postnatal Depression Scale (EPDS): routine screening tool</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1 in 5 women experience a mental health problem during pregnancy or the first year after birth</a:t>
            </a:r>
          </a:p>
          <a:p>
            <a:pPr>
              <a:spcBef>
                <a:spcPts val="400"/>
              </a:spcBef>
            </a:pPr>
            <a:r>
              <a:rPr sz="1700">
                <a:solidFill>
                  <a:srgbClr val="F0F0F0"/>
                </a:solidFill>
              </a:rPr>
              <a:t>• Perinatal mental health problems affect 1 in 10 fathers (NHS England)</a:t>
            </a:r>
          </a:p>
          <a:p>
            <a:pPr>
              <a:spcBef>
                <a:spcPts val="400"/>
              </a:spcBef>
            </a:pPr>
            <a:r>
              <a:rPr sz="1700">
                <a:solidFill>
                  <a:srgbClr val="F0F0F0"/>
                </a:solidFill>
              </a:rPr>
              <a:t>• Postpartum psychosis affects 1–2 in 1,000 births; requires emergency care</a:t>
            </a:r>
          </a:p>
          <a:p>
            <a:pPr>
              <a:spcBef>
                <a:spcPts val="400"/>
              </a:spcBef>
            </a:pPr>
            <a:r>
              <a:rPr sz="1700">
                <a:solidFill>
                  <a:srgbClr val="F0F0F0"/>
                </a:solidFill>
              </a:rPr>
              <a:t>• Untreated perinatal mental health problems cost the UK £8.1 billion per year (LSE, 2014)</a:t>
            </a:r>
          </a:p>
          <a:p>
            <a:pPr>
              <a:spcBef>
                <a:spcPts val="400"/>
              </a:spcBef>
            </a:pPr>
            <a:r>
              <a:rPr sz="1700">
                <a:solidFill>
                  <a:srgbClr val="F0F0F0"/>
                </a:solidFill>
              </a:rPr>
              <a:t>• Only 50% of perinatal mental health problems are identified in clinical settings</a:t>
            </a:r>
          </a:p>
          <a:p>
            <a:pPr>
              <a:spcBef>
                <a:spcPts val="400"/>
              </a:spcBef>
            </a:pPr>
            <a:r>
              <a:rPr sz="1700">
                <a:solidFill>
                  <a:srgbClr val="F0F0F0"/>
                </a:solidFill>
              </a:rPr>
              <a:t>• Perinatal mental health problems are the leading cause of maternal death in the UK</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NICE (NG192): recommends specialist perinatal mental health services for all areas</a:t>
            </a:r>
          </a:p>
          <a:p>
            <a:pPr>
              <a:spcBef>
                <a:spcPts val="400"/>
              </a:spcBef>
            </a:pPr>
            <a:r>
              <a:rPr sz="1700">
                <a:solidFill>
                  <a:srgbClr val="F0F0F0"/>
                </a:solidFill>
              </a:rPr>
              <a:t>• CBT is effective and safe for perinatal depression and anxiety</a:t>
            </a:r>
          </a:p>
          <a:p>
            <a:pPr>
              <a:spcBef>
                <a:spcPts val="400"/>
              </a:spcBef>
            </a:pPr>
            <a:r>
              <a:rPr sz="1700">
                <a:solidFill>
                  <a:srgbClr val="F0F0F0"/>
                </a:solidFill>
              </a:rPr>
              <a:t>• Some antidepressants (SSRIs) are safe in pregnancy and breastfeeding</a:t>
            </a:r>
          </a:p>
          <a:p>
            <a:pPr>
              <a:spcBef>
                <a:spcPts val="400"/>
              </a:spcBef>
            </a:pPr>
            <a:r>
              <a:rPr sz="1700">
                <a:solidFill>
                  <a:srgbClr val="F0F0F0"/>
                </a:solidFill>
              </a:rPr>
              <a:t>• Mother-infant therapy improves attachment and infant outcomes</a:t>
            </a:r>
          </a:p>
          <a:p>
            <a:pPr>
              <a:spcBef>
                <a:spcPts val="400"/>
              </a:spcBef>
            </a:pPr>
            <a:r>
              <a:rPr sz="1700">
                <a:solidFill>
                  <a:srgbClr val="F0F0F0"/>
                </a:solidFill>
              </a:rPr>
              <a:t>• Peer support (PANDAS, NCT) reduces isolation and improves wellbeing</a:t>
            </a:r>
          </a:p>
          <a:p>
            <a:pPr>
              <a:spcBef>
                <a:spcPts val="400"/>
              </a:spcBef>
            </a:pPr>
            <a:r>
              <a:rPr sz="1700">
                <a:solidFill>
                  <a:srgbClr val="F0F0F0"/>
                </a:solidFill>
              </a:rPr>
              <a:t>• Early identification using the EPDS significantly improves outcomes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Sophie, 28, developed severe postnatal depression after the birth of her first child. She felt disconnected from her baby and experienced intrusive thoughts about harming him, which caused her intense shame. Her health visitor administered the EPDS, which indicated severe depression. Sophie was referred to the specialist perinatal mental health team, who provided CBT and medication. Mother-infant therapy helped Sophie develop a secure bond with her son. Sophie recovered fully within 12 months.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CBT for perinatal depression and anxiety: evidence-based and safe</a:t>
            </a:r>
          </a:p>
          <a:p>
            <a:pPr>
              <a:spcBef>
                <a:spcPts val="400"/>
              </a:spcBef>
            </a:pPr>
            <a:r>
              <a:rPr sz="1700">
                <a:solidFill>
                  <a:srgbClr val="F0F0F0"/>
                </a:solidFill>
              </a:rPr>
              <a:t>• Medication: SSRIs (sertraline, fluoxetine) — safe in pregnancy and breastfeeding</a:t>
            </a:r>
          </a:p>
          <a:p>
            <a:pPr>
              <a:spcBef>
                <a:spcPts val="400"/>
              </a:spcBef>
            </a:pPr>
            <a:r>
              <a:rPr sz="1700">
                <a:solidFill>
                  <a:srgbClr val="F0F0F0"/>
                </a:solidFill>
              </a:rPr>
              <a:t>• Mother-infant therapy: improving attachment and infant outcomes</a:t>
            </a:r>
          </a:p>
          <a:p>
            <a:pPr>
              <a:spcBef>
                <a:spcPts val="400"/>
              </a:spcBef>
            </a:pPr>
            <a:r>
              <a:rPr sz="1700">
                <a:solidFill>
                  <a:srgbClr val="F0F0F0"/>
                </a:solidFill>
              </a:rPr>
              <a:t>• Peer support: PANDAS Foundation, NCT, local postnatal groups</a:t>
            </a:r>
          </a:p>
          <a:p>
            <a:pPr>
              <a:spcBef>
                <a:spcPts val="400"/>
              </a:spcBef>
            </a:pPr>
            <a:r>
              <a:rPr sz="1700">
                <a:solidFill>
                  <a:srgbClr val="F0F0F0"/>
                </a:solidFill>
              </a:rPr>
              <a:t>• Mindfulness-based cognitive therapy (MBCT): preventing relapse in recurrent depression</a:t>
            </a:r>
          </a:p>
          <a:p>
            <a:pPr>
              <a:spcBef>
                <a:spcPts val="400"/>
              </a:spcBef>
            </a:pPr>
            <a:r>
              <a:rPr sz="1700">
                <a:solidFill>
                  <a:srgbClr val="F0F0F0"/>
                </a:solidFill>
              </a:rPr>
              <a:t>• Partner support: involving partners in perinatal mental health care</a:t>
            </a:r>
          </a:p>
          <a:p>
            <a:pPr>
              <a:spcBef>
                <a:spcPts val="400"/>
              </a:spcBef>
            </a:pPr>
            <a:r>
              <a:rPr sz="1700">
                <a:solidFill>
                  <a:srgbClr val="F0F0F0"/>
                </a:solidFill>
              </a:rPr>
              <a:t>• Crisis care: postpartum psychosis requires emergency psychiatric assessment</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EPDS practice: Participants learn to administer and score the Edinburgh Postnatal Depression Scale (EPDS). Discuss: How would you sensitively raise concerns about perinatal mental health with a new parent? What barriers prevent parents from disclosing mental health difficulties?</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are the barriers to identifying and treating perinatal mental health problems?</a:t>
            </a:r>
          </a:p>
          <a:p>
            <a:pPr>
              <a:spcBef>
                <a:spcPts val="400"/>
              </a:spcBef>
            </a:pPr>
            <a:r>
              <a:rPr sz="1700">
                <a:solidFill>
                  <a:srgbClr val="F0F0F0"/>
                </a:solidFill>
              </a:rPr>
              <a:t>• How does perinatal mental health affect the parent-infant relationship?</a:t>
            </a:r>
          </a:p>
          <a:p>
            <a:pPr>
              <a:spcBef>
                <a:spcPts val="400"/>
              </a:spcBef>
            </a:pPr>
            <a:r>
              <a:rPr sz="1700">
                <a:solidFill>
                  <a:srgbClr val="F0F0F0"/>
                </a:solidFill>
              </a:rPr>
              <a:t>• How can partners and families support someone with postnatal depression?</a:t>
            </a:r>
          </a:p>
          <a:p>
            <a:pPr>
              <a:spcBef>
                <a:spcPts val="400"/>
              </a:spcBef>
            </a:pPr>
            <a:r>
              <a:rPr sz="1700">
                <a:solidFill>
                  <a:srgbClr val="F0F0F0"/>
                </a:solidFill>
              </a:rPr>
              <a:t>• What is the difference between 'baby blues' and postnatal depression?</a:t>
            </a:r>
          </a:p>
          <a:p>
            <a:pPr>
              <a:spcBef>
                <a:spcPts val="400"/>
              </a:spcBef>
            </a:pPr>
            <a:r>
              <a:rPr sz="1700">
                <a:solidFill>
                  <a:srgbClr val="F0F0F0"/>
                </a:solidFill>
              </a:rPr>
              <a:t>• What perinatal mental health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NG192: Antenatal and postnatal mental health (2014, updated 2020)</a:t>
            </a:r>
          </a:p>
          <a:p>
            <a:pPr>
              <a:spcBef>
                <a:spcPts val="400"/>
              </a:spcBef>
            </a:pPr>
            <a:r>
              <a:rPr sz="1400">
                <a:solidFill>
                  <a:srgbClr val="F0F0F0"/>
                </a:solidFill>
              </a:rPr>
              <a:t>• PANDAS Foundation: pandasfoundation.org.uk / 0808 1961 776</a:t>
            </a:r>
          </a:p>
          <a:p>
            <a:pPr>
              <a:spcBef>
                <a:spcPts val="400"/>
              </a:spcBef>
            </a:pPr>
            <a:r>
              <a:rPr sz="1400">
                <a:solidFill>
                  <a:srgbClr val="F0F0F0"/>
                </a:solidFill>
              </a:rPr>
              <a:t>• Postpartum Support International: postpartum.net</a:t>
            </a:r>
          </a:p>
          <a:p>
            <a:pPr>
              <a:spcBef>
                <a:spcPts val="400"/>
              </a:spcBef>
            </a:pPr>
            <a:r>
              <a:rPr sz="1400">
                <a:solidFill>
                  <a:srgbClr val="F0F0F0"/>
                </a:solidFill>
              </a:rPr>
              <a:t>• Mind UK: Postnatal depression (mind.org.uk)</a:t>
            </a:r>
          </a:p>
          <a:p>
            <a:pPr>
              <a:spcBef>
                <a:spcPts val="400"/>
              </a:spcBef>
            </a:pPr>
            <a:r>
              <a:rPr sz="1400">
                <a:solidFill>
                  <a:srgbClr val="F0F0F0"/>
                </a:solidFill>
              </a:rPr>
              <a:t>• NHS: Postnatal depression (nhs.uk/conditions/post-natal-depression)</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32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Perinatal Mental Health</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32: Perinatal Mental Health</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
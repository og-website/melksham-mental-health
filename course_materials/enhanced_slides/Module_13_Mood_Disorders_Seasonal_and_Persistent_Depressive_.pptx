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Rectangle 3"/>
          <p:cNvSpPr/>
          <p:nvPr/>
        </p:nvSpPr>
        <p:spPr>
          <a:xfrm>
            <a:off x="0" y="0"/>
            <a:ext cx="9144000" cy="182880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0000"/>
            <a:ext cx="7589520" cy="548640"/>
          </a:xfrm>
          <a:prstGeom prst="rect">
            <a:avLst/>
          </a:prstGeom>
          <a:noFill/>
        </p:spPr>
        <p:txBody>
          <a:bodyPr wrap="square">
            <a:spAutoFit/>
          </a:bodyPr>
          <a:lstStyle/>
          <a:p>
            <a:pPr algn="l"/>
            <a:r>
              <a:rPr sz="3600" b="1" i="0">
                <a:solidFill>
                  <a:srgbClr val="1A1A1A"/>
                </a:solidFill>
              </a:rPr>
              <a:t>Module 13</a:t>
            </a:r>
          </a:p>
        </p:txBody>
      </p:sp>
      <p:sp>
        <p:nvSpPr>
          <p:cNvPr id="6" name="TextBox 5"/>
          <p:cNvSpPr txBox="1"/>
          <p:nvPr/>
        </p:nvSpPr>
        <p:spPr>
          <a:xfrm>
            <a:off x="457200" y="640080"/>
            <a:ext cx="7589520" cy="914400"/>
          </a:xfrm>
          <a:prstGeom prst="rect">
            <a:avLst/>
          </a:prstGeom>
          <a:noFill/>
        </p:spPr>
        <p:txBody>
          <a:bodyPr wrap="square">
            <a:spAutoFit/>
          </a:bodyPr>
          <a:lstStyle/>
          <a:p>
            <a:pPr algn="l"/>
            <a:r>
              <a:rPr sz="2600" b="0" i="0">
                <a:solidFill>
                  <a:srgbClr val="1A1A1A"/>
                </a:solidFill>
              </a:rPr>
              <a:t>Mood Disorders: Seasonal and Persistent Depressive Disorders</a:t>
            </a:r>
          </a:p>
        </p:txBody>
      </p:sp>
      <p:sp>
        <p:nvSpPr>
          <p:cNvPr id="7" name="TextBox 6"/>
          <p:cNvSpPr txBox="1"/>
          <p:nvPr/>
        </p:nvSpPr>
        <p:spPr>
          <a:xfrm>
            <a:off x="457200" y="2100000"/>
            <a:ext cx="8229600" cy="548640"/>
          </a:xfrm>
          <a:prstGeom prst="rect">
            <a:avLst/>
          </a:prstGeom>
          <a:noFill/>
        </p:spPr>
        <p:txBody>
          <a:bodyPr wrap="square">
            <a:spAutoFit/>
          </a:bodyPr>
          <a:lstStyle/>
          <a:p>
            <a:pPr algn="l"/>
            <a:r>
              <a:rPr sz="2000" b="1" i="0">
                <a:solidFill>
                  <a:srgbClr val="FF6B00"/>
                </a:solidFill>
              </a:rPr>
              <a:t>Melksham Mental Health — Comprehensive Course</a:t>
            </a:r>
          </a:p>
        </p:txBody>
      </p:sp>
      <p:sp>
        <p:nvSpPr>
          <p:cNvPr id="8" name="TextBox 7"/>
          <p:cNvSpPr txBox="1"/>
          <p:nvPr/>
        </p:nvSpPr>
        <p:spPr>
          <a:xfrm>
            <a:off x="457200" y="2650000"/>
            <a:ext cx="8229600" cy="457200"/>
          </a:xfrm>
          <a:prstGeom prst="rect">
            <a:avLst/>
          </a:prstGeom>
          <a:noFill/>
        </p:spPr>
        <p:txBody>
          <a:bodyPr wrap="square">
            <a:spAutoFit/>
          </a:bodyPr>
          <a:lstStyle/>
          <a:p>
            <a:pPr algn="l"/>
            <a:r>
              <a:rPr sz="1600" b="0" i="0">
                <a:solidFill>
                  <a:srgbClr val="AAAAAA"/>
                </a:solidFill>
              </a:rPr>
              <a:t>2-hour session  •  Includes 30-minute group discussion</a:t>
            </a:r>
          </a:p>
        </p:txBody>
      </p:sp>
      <p:sp>
        <p:nvSpPr>
          <p:cNvPr id="9" name="TextBox 8"/>
          <p:cNvSpPr txBox="1"/>
          <p:nvPr/>
        </p:nvSpPr>
        <p:spPr>
          <a:xfrm>
            <a:off x="457200" y="5958000"/>
            <a:ext cx="8229600" cy="457200"/>
          </a:xfrm>
          <a:prstGeom prst="rect">
            <a:avLst/>
          </a:prstGeom>
          <a:noFill/>
        </p:spPr>
        <p:txBody>
          <a:bodyPr wrap="square">
            <a:spAutoFit/>
          </a:bodyPr>
          <a:lstStyle/>
          <a:p>
            <a:pPr algn="ctr"/>
            <a:r>
              <a:rPr sz="1200" b="0" i="0">
                <a:solidFill>
                  <a:srgbClr val="AAAAAA"/>
                </a:solidFill>
              </a:rPr>
              <a:t>melksham-mentalhealth.us  |  Melksham-mental-health@outlook.com</a:t>
            </a:r>
          </a:p>
        </p:txBody>
      </p:sp>
      <p:sp>
        <p:nvSpPr>
          <p:cNvPr id="10" name="TextBox 9"/>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Session Overview</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00000"/>
            <a:ext cx="8229600" cy="1400000"/>
          </a:xfrm>
          <a:prstGeom prst="rect">
            <a:avLst/>
          </a:prstGeom>
          <a:noFill/>
        </p:spPr>
        <p:txBody>
          <a:bodyPr wrap="square">
            <a:spAutoFit/>
          </a:bodyPr>
          <a:lstStyle/>
          <a:p>
            <a:pPr algn="l"/>
            <a:r>
              <a:rPr sz="1500" b="0" i="0">
                <a:solidFill>
                  <a:srgbClr val="F0F0F0"/>
                </a:solidFill>
              </a:rPr>
              <a:t>Seasonal affective disorder (SAD), dysthymia and cyclothymia are often overlooked mood disorders that cause significant distress and impairment. This module explores their features, causes and evidence-based treatments including light therapy and behavioural activation.</a:t>
            </a:r>
          </a:p>
        </p:txBody>
      </p:sp>
      <p:sp>
        <p:nvSpPr>
          <p:cNvPr id="7" name="TextBox 6"/>
          <p:cNvSpPr txBox="1"/>
          <p:nvPr/>
        </p:nvSpPr>
        <p:spPr>
          <a:xfrm>
            <a:off x="457200" y="2700000"/>
            <a:ext cx="8229600" cy="3200000"/>
          </a:xfrm>
          <a:prstGeom prst="rect">
            <a:avLst/>
          </a:prstGeom>
          <a:noFill/>
        </p:spPr>
        <p:txBody>
          <a:bodyPr wrap="square">
            <a:spAutoFit/>
          </a:bodyPr>
          <a:lstStyle/>
          <a:p>
            <a:pPr>
              <a:spcBef>
                <a:spcPts val="400"/>
              </a:spcBef>
            </a:pPr>
            <a:r>
              <a:rPr sz="1700">
                <a:solidFill>
                  <a:srgbClr val="F0F0F0"/>
                </a:solidFill>
              </a:rPr>
              <a:t>• Introduction &amp; Objectives  (15 min)</a:t>
            </a:r>
          </a:p>
          <a:p>
            <a:pPr>
              <a:spcBef>
                <a:spcPts val="400"/>
              </a:spcBef>
            </a:pPr>
            <a:r>
              <a:rPr sz="1700">
                <a:solidFill>
                  <a:srgbClr val="F0F0F0"/>
                </a:solidFill>
              </a:rPr>
              <a:t>• Evidence-Based Content  (45 min)</a:t>
            </a:r>
          </a:p>
          <a:p>
            <a:pPr>
              <a:spcBef>
                <a:spcPts val="400"/>
              </a:spcBef>
            </a:pPr>
            <a:r>
              <a:rPr sz="1700">
                <a:solidFill>
                  <a:srgbClr val="F0F0F0"/>
                </a:solidFill>
              </a:rPr>
              <a:t>• Case Study  (15 min)</a:t>
            </a:r>
          </a:p>
          <a:p>
            <a:pPr>
              <a:spcBef>
                <a:spcPts val="400"/>
              </a:spcBef>
            </a:pPr>
            <a:r>
              <a:rPr sz="1700">
                <a:solidFill>
                  <a:srgbClr val="F0F0F0"/>
                </a:solidFill>
              </a:rPr>
              <a:t>• Interactive Activity  (30 min)</a:t>
            </a:r>
          </a:p>
          <a:p>
            <a:pPr>
              <a:spcBef>
                <a:spcPts val="400"/>
              </a:spcBef>
            </a:pPr>
            <a:r>
              <a:rPr sz="1700">
                <a:solidFill>
                  <a:srgbClr val="F0F0F0"/>
                </a:solidFill>
              </a:rPr>
              <a:t>• Group Discussion  (30 min)</a:t>
            </a:r>
          </a:p>
          <a:p>
            <a:pPr>
              <a:spcBef>
                <a:spcPts val="400"/>
              </a:spcBef>
            </a:pPr>
            <a:r>
              <a:rPr sz="1700">
                <a:solidFill>
                  <a:srgbClr val="F0F0F0"/>
                </a:solidFill>
              </a:rPr>
              <a:t>• Wrap-Up &amp; Resources  (15 min)</a:t>
            </a:r>
          </a:p>
        </p:txBody>
      </p:sp>
      <p:sp>
        <p:nvSpPr>
          <p:cNvPr id="8" name="TextBox 7"/>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Learning Objectives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Define seasonal affective disorder (SAD) and understand its seasonal pattern</a:t>
            </a:r>
          </a:p>
          <a:p>
            <a:pPr>
              <a:spcBef>
                <a:spcPts val="400"/>
              </a:spcBef>
            </a:pPr>
            <a:r>
              <a:rPr sz="1700">
                <a:solidFill>
                  <a:srgbClr val="F0F0F0"/>
                </a:solidFill>
              </a:rPr>
              <a:t>• Identify the diagnostic criteria for persistent depressive disorder (dysthymia)</a:t>
            </a:r>
          </a:p>
          <a:p>
            <a:pPr>
              <a:spcBef>
                <a:spcPts val="400"/>
              </a:spcBef>
            </a:pPr>
            <a:r>
              <a:rPr sz="1700">
                <a:solidFill>
                  <a:srgbClr val="F0F0F0"/>
                </a:solidFill>
              </a:rPr>
              <a:t>• Understand cyclothymia and its relationship to bipolar disorder</a:t>
            </a:r>
          </a:p>
          <a:p>
            <a:pPr>
              <a:spcBef>
                <a:spcPts val="400"/>
              </a:spcBef>
            </a:pPr>
            <a:r>
              <a:rPr sz="1700">
                <a:solidFill>
                  <a:srgbClr val="F0F0F0"/>
                </a:solidFill>
              </a:rPr>
              <a:t>• Explore the role of circadian rhythms and melatonin in SAD</a:t>
            </a:r>
          </a:p>
          <a:p>
            <a:pPr>
              <a:spcBef>
                <a:spcPts val="400"/>
              </a:spcBef>
            </a:pPr>
            <a:r>
              <a:rPr sz="1700">
                <a:solidFill>
                  <a:srgbClr val="F0F0F0"/>
                </a:solidFill>
              </a:rPr>
              <a:t>• Learn evidence-based treatments: light therapy, CBT, antidepressants</a:t>
            </a:r>
          </a:p>
          <a:p>
            <a:pPr>
              <a:spcBef>
                <a:spcPts val="400"/>
              </a:spcBef>
            </a:pPr>
            <a:r>
              <a:rPr sz="1700">
                <a:solidFill>
                  <a:srgbClr val="F0F0F0"/>
                </a:solidFill>
              </a:rPr>
              <a:t>• Develop behavioural activation strategies for low mood and low energy</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Module 13: Key Topics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Seasonal affective disorder: recurrent depression with seasonal onset (typically winter)</a:t>
            </a:r>
          </a:p>
          <a:p>
            <a:pPr>
              <a:spcBef>
                <a:spcPts val="400"/>
              </a:spcBef>
            </a:pPr>
            <a:r>
              <a:rPr sz="1700">
                <a:solidFill>
                  <a:srgbClr val="F0F0F0"/>
                </a:solidFill>
              </a:rPr>
              <a:t>• Biological mechanisms: reduced light exposure disrupts circadian rhythms and serotonin</a:t>
            </a:r>
          </a:p>
          <a:p>
            <a:pPr>
              <a:spcBef>
                <a:spcPts val="400"/>
              </a:spcBef>
            </a:pPr>
            <a:r>
              <a:rPr sz="1700">
                <a:solidFill>
                  <a:srgbClr val="F0F0F0"/>
                </a:solidFill>
              </a:rPr>
              <a:t>• SAD symptoms: low mood, hypersomnia, carbohydrate craving, social withdrawal</a:t>
            </a:r>
          </a:p>
          <a:p>
            <a:pPr>
              <a:spcBef>
                <a:spcPts val="400"/>
              </a:spcBef>
            </a:pPr>
            <a:r>
              <a:rPr sz="1700">
                <a:solidFill>
                  <a:srgbClr val="F0F0F0"/>
                </a:solidFill>
              </a:rPr>
              <a:t>• Persistent depressive disorder (dysthymia): chronic low mood lasting 2+ years</a:t>
            </a:r>
          </a:p>
          <a:p>
            <a:pPr>
              <a:spcBef>
                <a:spcPts val="400"/>
              </a:spcBef>
            </a:pPr>
            <a:r>
              <a:rPr sz="1700">
                <a:solidFill>
                  <a:srgbClr val="F0F0F0"/>
                </a:solidFill>
              </a:rPr>
              <a:t>• Cyclothymia: chronic fluctuations between hypomanic and depressive symptoms</a:t>
            </a:r>
          </a:p>
          <a:p>
            <a:pPr>
              <a:spcBef>
                <a:spcPts val="400"/>
              </a:spcBef>
            </a:pPr>
            <a:r>
              <a:rPr sz="1700">
                <a:solidFill>
                  <a:srgbClr val="F0F0F0"/>
                </a:solidFill>
              </a:rPr>
              <a:t>• Light therapy: 10,000 lux light box for 30 minutes each morning</a:t>
            </a:r>
          </a:p>
          <a:p>
            <a:pPr>
              <a:spcBef>
                <a:spcPts val="400"/>
              </a:spcBef>
            </a:pPr>
            <a:r>
              <a:rPr sz="1700">
                <a:solidFill>
                  <a:srgbClr val="F0F0F0"/>
                </a:solidFill>
              </a:rPr>
              <a:t>• Behavioural activation: scheduling activities to counteract low motivation</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Key Statistics &amp; Prevalence</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SAD affects approximately 3% of the UK population (NHS)</a:t>
            </a:r>
          </a:p>
          <a:p>
            <a:pPr>
              <a:spcBef>
                <a:spcPts val="400"/>
              </a:spcBef>
            </a:pPr>
            <a:r>
              <a:rPr sz="1700">
                <a:solidFill>
                  <a:srgbClr val="F0F0F0"/>
                </a:solidFill>
              </a:rPr>
              <a:t>• A further 20% experience sub-syndromal SAD or 'winter blues'</a:t>
            </a:r>
          </a:p>
          <a:p>
            <a:pPr>
              <a:spcBef>
                <a:spcPts val="400"/>
              </a:spcBef>
            </a:pPr>
            <a:r>
              <a:rPr sz="1700">
                <a:solidFill>
                  <a:srgbClr val="F0F0F0"/>
                </a:solidFill>
              </a:rPr>
              <a:t>• Light therapy is effective for 50–80% of people with SAD (NICE)</a:t>
            </a:r>
          </a:p>
          <a:p>
            <a:pPr>
              <a:spcBef>
                <a:spcPts val="400"/>
              </a:spcBef>
            </a:pPr>
            <a:r>
              <a:rPr sz="1700">
                <a:solidFill>
                  <a:srgbClr val="F0F0F0"/>
                </a:solidFill>
              </a:rPr>
              <a:t>• Dysthymia affects 3–6% of the population; often undiagnosed for years</a:t>
            </a:r>
          </a:p>
          <a:p>
            <a:pPr>
              <a:spcBef>
                <a:spcPts val="400"/>
              </a:spcBef>
            </a:pPr>
            <a:r>
              <a:rPr sz="1700">
                <a:solidFill>
                  <a:srgbClr val="F0F0F0"/>
                </a:solidFill>
              </a:rPr>
              <a:t>• Cyclothymia affects 0.4–1% of the population</a:t>
            </a:r>
          </a:p>
          <a:p>
            <a:pPr>
              <a:spcBef>
                <a:spcPts val="400"/>
              </a:spcBef>
            </a:pPr>
            <a:r>
              <a:rPr sz="1700">
                <a:solidFill>
                  <a:srgbClr val="F0F0F0"/>
                </a:solidFill>
              </a:rPr>
              <a:t>• SAD is 4 times more common in women than men</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Evidence &amp; Research</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000000"/>
          </a:xfrm>
          <a:prstGeom prst="rect">
            <a:avLst/>
          </a:prstGeom>
          <a:noFill/>
        </p:spPr>
        <p:txBody>
          <a:bodyPr wrap="square">
            <a:spAutoFit/>
          </a:bodyPr>
          <a:lstStyle/>
          <a:p>
            <a:pPr>
              <a:spcBef>
                <a:spcPts val="400"/>
              </a:spcBef>
            </a:pPr>
            <a:r>
              <a:rPr sz="1700">
                <a:solidFill>
                  <a:srgbClr val="F0F0F0"/>
                </a:solidFill>
              </a:rPr>
              <a:t>• Antidepressants (SSRIs) are effective for SAD when light therapy is insufficient</a:t>
            </a:r>
          </a:p>
          <a:p>
            <a:pPr>
              <a:spcBef>
                <a:spcPts val="400"/>
              </a:spcBef>
            </a:pPr>
            <a:r>
              <a:rPr sz="1700">
                <a:solidFill>
                  <a:srgbClr val="F0F0F0"/>
                </a:solidFill>
              </a:rPr>
              <a:t>• People with dysthymia have a 75% lifetime risk of developing major depression</a:t>
            </a:r>
          </a:p>
          <a:p>
            <a:pPr>
              <a:spcBef>
                <a:spcPts val="400"/>
              </a:spcBef>
            </a:pPr>
            <a:r>
              <a:rPr sz="1700">
                <a:solidFill>
                  <a:srgbClr val="F0F0F0"/>
                </a:solidFill>
              </a:rPr>
              <a:t>• Cyclothymia has a 15–50% risk of progressing to bipolar disorder</a:t>
            </a:r>
          </a:p>
          <a:p>
            <a:pPr>
              <a:spcBef>
                <a:spcPts val="400"/>
              </a:spcBef>
            </a:pPr>
            <a:r>
              <a:rPr sz="1700">
                <a:solidFill>
                  <a:srgbClr val="F0F0F0"/>
                </a:solidFill>
              </a:rPr>
              <a:t>• CBT for SAD addresses seasonal negative thought patterns effectively</a:t>
            </a:r>
          </a:p>
          <a:p>
            <a:pPr>
              <a:spcBef>
                <a:spcPts val="400"/>
              </a:spcBef>
            </a:pPr>
            <a:r>
              <a:rPr sz="1700">
                <a:solidFill>
                  <a:srgbClr val="F0F0F0"/>
                </a:solidFill>
              </a:rPr>
              <a:t>• Exercise in natural daylight improves mood and circadian rhythms</a:t>
            </a:r>
          </a:p>
          <a:p>
            <a:pPr>
              <a:spcBef>
                <a:spcPts val="400"/>
              </a:spcBef>
            </a:pPr>
            <a:r>
              <a:rPr sz="1700">
                <a:solidFill>
                  <a:srgbClr val="F0F0F0"/>
                </a:solidFill>
              </a:rPr>
              <a:t>• Consistent sleep schedule is essential for managing seasonal mood disorders</a:t>
            </a:r>
          </a:p>
        </p:txBody>
      </p:sp>
      <p:sp>
        <p:nvSpPr>
          <p:cNvPr id="7" name="TextBox 6"/>
          <p:cNvSpPr txBox="1"/>
          <p:nvPr/>
        </p:nvSpPr>
        <p:spPr>
          <a:xfrm>
            <a:off x="457200" y="5400000"/>
            <a:ext cx="8229600" cy="457200"/>
          </a:xfrm>
          <a:prstGeom prst="rect">
            <a:avLst/>
          </a:prstGeom>
          <a:noFill/>
        </p:spPr>
        <p:txBody>
          <a:bodyPr wrap="square">
            <a:spAutoFit/>
          </a:bodyPr>
          <a:lstStyle/>
          <a:p>
            <a:pPr algn="l"/>
            <a:r>
              <a:rPr sz="1300" b="1" i="0">
                <a:solidFill>
                  <a:srgbClr val="FF6B00"/>
                </a:solidFill>
              </a:rPr>
              <a:t>This content does not replace professional mental health advice.</a:t>
            </a:r>
          </a:p>
        </p:txBody>
      </p:sp>
      <p:sp>
        <p:nvSpPr>
          <p:cNvPr id="8" name="TextBox 7"/>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Case Study</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200000"/>
          </a:xfrm>
          <a:prstGeom prst="rect">
            <a:avLst/>
          </a:prstGeom>
          <a:noFill/>
        </p:spPr>
        <p:txBody>
          <a:bodyPr wrap="square">
            <a:spAutoFit/>
          </a:bodyPr>
          <a:lstStyle/>
          <a:p>
            <a:pPr algn="l"/>
            <a:r>
              <a:rPr sz="1500" b="0" i="0">
                <a:solidFill>
                  <a:srgbClr val="F0F0F0"/>
                </a:solidFill>
              </a:rPr>
              <a:t>Helen, 38, noticed that every October she became increasingly low, withdrawn and exhausted, craving carbohydrates and sleeping 10+ hours per night. After years of struggling, she was diagnosed with SAD. Helen purchased a 10,000 lux light box and used it every morning from September to March. She also began CBT to address the negative thought patterns that developed during winter months. Helen now manages her SAD proactively and reports significantly improved winters.</a:t>
            </a:r>
          </a:p>
        </p:txBody>
      </p:sp>
      <p:sp>
        <p:nvSpPr>
          <p:cNvPr id="7" name="TextBox 6"/>
          <p:cNvSpPr txBox="1"/>
          <p:nvPr/>
        </p:nvSpPr>
        <p:spPr>
          <a:xfrm>
            <a:off x="457200" y="5600000"/>
            <a:ext cx="8229600" cy="457200"/>
          </a:xfrm>
          <a:prstGeom prst="rect">
            <a:avLst/>
          </a:prstGeom>
          <a:noFill/>
        </p:spPr>
        <p:txBody>
          <a:bodyPr wrap="square">
            <a:spAutoFit/>
          </a:bodyPr>
          <a:lstStyle/>
          <a:p>
            <a:pPr algn="l"/>
            <a:r>
              <a:rPr sz="1100" b="0" i="1">
                <a:solidFill>
                  <a:srgbClr val="AAAAAA"/>
                </a:solidFill>
              </a:rPr>
              <a:t>Names and details are fictional. Any resemblance to real persons is coincidental.</a:t>
            </a:r>
          </a:p>
        </p:txBody>
      </p:sp>
      <p:sp>
        <p:nvSpPr>
          <p:cNvPr id="8" name="TextBox 7"/>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Coping Strategies &amp; Interventions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Light therapy: 10,000 lux light box for 30 minutes each morning from September</a:t>
            </a:r>
          </a:p>
          <a:p>
            <a:pPr>
              <a:spcBef>
                <a:spcPts val="400"/>
              </a:spcBef>
            </a:pPr>
            <a:r>
              <a:rPr sz="1700">
                <a:solidFill>
                  <a:srgbClr val="F0F0F0"/>
                </a:solidFill>
              </a:rPr>
              <a:t>• Behavioural activation: scheduling pleasurable activities during low-mood periods</a:t>
            </a:r>
          </a:p>
          <a:p>
            <a:pPr>
              <a:spcBef>
                <a:spcPts val="400"/>
              </a:spcBef>
            </a:pPr>
            <a:r>
              <a:rPr sz="1700">
                <a:solidFill>
                  <a:srgbClr val="F0F0F0"/>
                </a:solidFill>
              </a:rPr>
              <a:t>• CBT for SAD: addressing seasonal negative thought patterns</a:t>
            </a:r>
          </a:p>
          <a:p>
            <a:pPr>
              <a:spcBef>
                <a:spcPts val="400"/>
              </a:spcBef>
            </a:pPr>
            <a:r>
              <a:rPr sz="1700">
                <a:solidFill>
                  <a:srgbClr val="F0F0F0"/>
                </a:solidFill>
              </a:rPr>
              <a:t>• Antidepressants: SSRIs (fluoxetine, sertraline) for moderate-severe SAD</a:t>
            </a:r>
          </a:p>
          <a:p>
            <a:pPr>
              <a:spcBef>
                <a:spcPts val="400"/>
              </a:spcBef>
            </a:pPr>
            <a:r>
              <a:rPr sz="1700">
                <a:solidFill>
                  <a:srgbClr val="F0F0F0"/>
                </a:solidFill>
              </a:rPr>
              <a:t>• Exercise: outdoor exercise in natural daylight improves mood and circadian rhythms</a:t>
            </a:r>
          </a:p>
          <a:p>
            <a:pPr>
              <a:spcBef>
                <a:spcPts val="400"/>
              </a:spcBef>
            </a:pPr>
            <a:r>
              <a:rPr sz="1700">
                <a:solidFill>
                  <a:srgbClr val="F0F0F0"/>
                </a:solidFill>
              </a:rPr>
              <a:t>• Social engagement: maintaining social connections through winter months</a:t>
            </a:r>
          </a:p>
          <a:p>
            <a:pPr>
              <a:spcBef>
                <a:spcPts val="400"/>
              </a:spcBef>
            </a:pPr>
            <a:r>
              <a:rPr sz="1700">
                <a:solidFill>
                  <a:srgbClr val="F0F0F0"/>
                </a:solidFill>
              </a:rPr>
              <a:t>• Sleep hygiene: consistent sleep schedule to regulate circadian rhythms</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Interactive Activity</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2800000"/>
          </a:xfrm>
          <a:prstGeom prst="rect">
            <a:avLst/>
          </a:prstGeom>
          <a:noFill/>
        </p:spPr>
        <p:txBody>
          <a:bodyPr wrap="square">
            <a:spAutoFit/>
          </a:bodyPr>
          <a:lstStyle/>
          <a:p>
            <a:pPr algn="l"/>
            <a:r>
              <a:rPr sz="1700" b="0" i="0">
                <a:solidFill>
                  <a:srgbClr val="F0F0F0"/>
                </a:solidFill>
              </a:rPr>
              <a:t>Light therapy demonstration: Participants learn how to use a light therapy lamp correctly (timing, distance, duration). Discuss: How does seasonal change affect your mood and energy? What strategies help you maintain wellbeing through winter?</a:t>
            </a:r>
          </a:p>
        </p:txBody>
      </p:sp>
      <p:sp>
        <p:nvSpPr>
          <p:cNvPr id="7" name="TextBox 6"/>
          <p:cNvSpPr txBox="1"/>
          <p:nvPr/>
        </p:nvSpPr>
        <p:spPr>
          <a:xfrm>
            <a:off x="457200" y="4200000"/>
            <a:ext cx="8229600" cy="365760"/>
          </a:xfrm>
          <a:prstGeom prst="rect">
            <a:avLst/>
          </a:prstGeom>
          <a:noFill/>
        </p:spPr>
        <p:txBody>
          <a:bodyPr wrap="square">
            <a:spAutoFit/>
          </a:bodyPr>
          <a:lstStyle/>
          <a:p>
            <a:pPr algn="l"/>
            <a:r>
              <a:rPr sz="1600" b="1" i="0">
                <a:solidFill>
                  <a:srgbClr val="FF6B00"/>
                </a:solidFill>
              </a:rPr>
              <a:t>Instructions:</a:t>
            </a:r>
          </a:p>
        </p:txBody>
      </p:sp>
      <p:sp>
        <p:nvSpPr>
          <p:cNvPr id="8" name="TextBox 7"/>
          <p:cNvSpPr txBox="1"/>
          <p:nvPr/>
        </p:nvSpPr>
        <p:spPr>
          <a:xfrm>
            <a:off x="457200" y="4600000"/>
            <a:ext cx="8229600" cy="1500000"/>
          </a:xfrm>
          <a:prstGeom prst="rect">
            <a:avLst/>
          </a:prstGeom>
          <a:noFill/>
        </p:spPr>
        <p:txBody>
          <a:bodyPr wrap="square">
            <a:spAutoFit/>
          </a:bodyPr>
          <a:lstStyle/>
          <a:p>
            <a:pPr>
              <a:spcBef>
                <a:spcPts val="400"/>
              </a:spcBef>
            </a:pPr>
            <a:r>
              <a:rPr sz="1500">
                <a:solidFill>
                  <a:srgbClr val="AAAAAA"/>
                </a:solidFill>
              </a:rPr>
              <a:t>• Take 5 minutes to reflect individually or in pairs</a:t>
            </a:r>
          </a:p>
          <a:p>
            <a:pPr>
              <a:spcBef>
                <a:spcPts val="400"/>
              </a:spcBef>
            </a:pPr>
            <a:r>
              <a:rPr sz="1500">
                <a:solidFill>
                  <a:srgbClr val="AAAAAA"/>
                </a:solidFill>
              </a:rPr>
              <a:t>• Share your thoughts with the group (optional — sharing is never required)</a:t>
            </a:r>
          </a:p>
          <a:p>
            <a:pPr>
              <a:spcBef>
                <a:spcPts val="400"/>
              </a:spcBef>
            </a:pPr>
            <a:r>
              <a:rPr sz="1500">
                <a:solidFill>
                  <a:srgbClr val="AAAAAA"/>
                </a:solidFill>
              </a:rPr>
              <a:t>• Facilitator will guide and support the discussion</a:t>
            </a:r>
          </a:p>
        </p:txBody>
      </p:sp>
      <p:sp>
        <p:nvSpPr>
          <p:cNvPr id="9" name="TextBox 8"/>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Group Discussion (30 minutes)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57200"/>
          </a:xfrm>
          <a:prstGeom prst="rect">
            <a:avLst/>
          </a:prstGeom>
          <a:noFill/>
        </p:spPr>
        <p:txBody>
          <a:bodyPr wrap="square">
            <a:spAutoFit/>
          </a:bodyPr>
          <a:lstStyle/>
          <a:p>
            <a:pPr algn="l"/>
            <a:r>
              <a:rPr sz="1800" b="1" i="0">
                <a:solidFill>
                  <a:srgbClr val="00BFBF"/>
                </a:solidFill>
              </a:rPr>
              <a:t>Reflection Questions</a:t>
            </a:r>
          </a:p>
        </p:txBody>
      </p:sp>
      <p:sp>
        <p:nvSpPr>
          <p:cNvPr id="7" name="TextBox 6"/>
          <p:cNvSpPr txBox="1"/>
          <p:nvPr/>
        </p:nvSpPr>
        <p:spPr>
          <a:xfrm>
            <a:off x="457200" y="1800000"/>
            <a:ext cx="8229600" cy="4000000"/>
          </a:xfrm>
          <a:prstGeom prst="rect">
            <a:avLst/>
          </a:prstGeom>
          <a:noFill/>
        </p:spPr>
        <p:txBody>
          <a:bodyPr wrap="square">
            <a:spAutoFit/>
          </a:bodyPr>
          <a:lstStyle/>
          <a:p>
            <a:pPr>
              <a:spcBef>
                <a:spcPts val="400"/>
              </a:spcBef>
            </a:pPr>
            <a:r>
              <a:rPr sz="1700">
                <a:solidFill>
                  <a:srgbClr val="F0F0F0"/>
                </a:solidFill>
              </a:rPr>
              <a:t>• How does the changing of seasons affect your mood and energy levels?</a:t>
            </a:r>
          </a:p>
          <a:p>
            <a:pPr>
              <a:spcBef>
                <a:spcPts val="400"/>
              </a:spcBef>
            </a:pPr>
            <a:r>
              <a:rPr sz="1700">
                <a:solidFill>
                  <a:srgbClr val="F0F0F0"/>
                </a:solidFill>
              </a:rPr>
              <a:t>• What is the difference between 'winter blues' and seasonal affective disorder?</a:t>
            </a:r>
          </a:p>
          <a:p>
            <a:pPr>
              <a:spcBef>
                <a:spcPts val="400"/>
              </a:spcBef>
            </a:pPr>
            <a:r>
              <a:rPr sz="1700">
                <a:solidFill>
                  <a:srgbClr val="F0F0F0"/>
                </a:solidFill>
              </a:rPr>
              <a:t>• How does dysthymia differ from major depression in terms of lived experience?</a:t>
            </a:r>
          </a:p>
          <a:p>
            <a:pPr>
              <a:spcBef>
                <a:spcPts val="400"/>
              </a:spcBef>
            </a:pPr>
            <a:r>
              <a:rPr sz="1700">
                <a:solidFill>
                  <a:srgbClr val="F0F0F0"/>
                </a:solidFill>
              </a:rPr>
              <a:t>• What lifestyle changes could help manage seasonal mood changes?</a:t>
            </a:r>
          </a:p>
          <a:p>
            <a:pPr>
              <a:spcBef>
                <a:spcPts val="400"/>
              </a:spcBef>
            </a:pPr>
            <a:r>
              <a:rPr sz="1700">
                <a:solidFill>
                  <a:srgbClr val="F0F0F0"/>
                </a:solidFill>
              </a:rPr>
              <a:t>• What NHS support is available for SAD in Wiltshire?</a:t>
            </a:r>
          </a:p>
        </p:txBody>
      </p:sp>
      <p:sp>
        <p:nvSpPr>
          <p:cNvPr id="8" name="TextBox 7"/>
          <p:cNvSpPr txBox="1"/>
          <p:nvPr/>
        </p:nvSpPr>
        <p:spPr>
          <a:xfrm>
            <a:off x="457200" y="5958000"/>
            <a:ext cx="8229600" cy="457200"/>
          </a:xfrm>
          <a:prstGeom prst="rect">
            <a:avLst/>
          </a:prstGeom>
          <a:noFill/>
        </p:spPr>
        <p:txBody>
          <a:bodyPr wrap="square">
            <a:spAutoFit/>
          </a:bodyPr>
          <a:lstStyle/>
          <a:p>
            <a:pPr algn="ctr"/>
            <a:r>
              <a:rPr sz="1400" b="1" i="0">
                <a:solidFill>
                  <a:srgbClr val="FF6B00"/>
                </a:solidFill>
              </a:rPr>
              <a:t>Remember: You are never alone. Help is always available.</a:t>
            </a:r>
          </a:p>
        </p:txBody>
      </p:sp>
      <p:sp>
        <p:nvSpPr>
          <p:cNvPr id="9" name="TextBox 8"/>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Resources &amp; Further Support</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365760"/>
          </a:xfrm>
          <a:prstGeom prst="rect">
            <a:avLst/>
          </a:prstGeom>
          <a:noFill/>
        </p:spPr>
        <p:txBody>
          <a:bodyPr wrap="square">
            <a:spAutoFit/>
          </a:bodyPr>
          <a:lstStyle/>
          <a:p>
            <a:pPr algn="l"/>
            <a:r>
              <a:rPr sz="1800" b="1" i="0">
                <a:solidFill>
                  <a:srgbClr val="00BFBF"/>
                </a:solidFill>
              </a:rPr>
              <a:t>Key References</a:t>
            </a:r>
          </a:p>
        </p:txBody>
      </p:sp>
      <p:sp>
        <p:nvSpPr>
          <p:cNvPr id="7" name="TextBox 6"/>
          <p:cNvSpPr txBox="1"/>
          <p:nvPr/>
        </p:nvSpPr>
        <p:spPr>
          <a:xfrm>
            <a:off x="457200" y="1700000"/>
            <a:ext cx="8229600" cy="2200000"/>
          </a:xfrm>
          <a:prstGeom prst="rect">
            <a:avLst/>
          </a:prstGeom>
          <a:noFill/>
        </p:spPr>
        <p:txBody>
          <a:bodyPr wrap="square">
            <a:spAutoFit/>
          </a:bodyPr>
          <a:lstStyle/>
          <a:p>
            <a:pPr>
              <a:spcBef>
                <a:spcPts val="400"/>
              </a:spcBef>
            </a:pPr>
            <a:r>
              <a:rPr sz="1400">
                <a:solidFill>
                  <a:srgbClr val="F0F0F0"/>
                </a:solidFill>
              </a:rPr>
              <a:t>• NICE: Seasonal affective disorder (cks.nice.org.uk/topics/seasonal-affective-disorder)</a:t>
            </a:r>
          </a:p>
          <a:p>
            <a:pPr>
              <a:spcBef>
                <a:spcPts val="400"/>
              </a:spcBef>
            </a:pPr>
            <a:r>
              <a:rPr sz="1400">
                <a:solidFill>
                  <a:srgbClr val="F0F0F0"/>
                </a:solidFill>
              </a:rPr>
              <a:t>• Mind UK: Seasonal affective disorder (mind.org.uk)</a:t>
            </a:r>
          </a:p>
          <a:p>
            <a:pPr>
              <a:spcBef>
                <a:spcPts val="400"/>
              </a:spcBef>
            </a:pPr>
            <a:r>
              <a:rPr sz="1400">
                <a:solidFill>
                  <a:srgbClr val="F0F0F0"/>
                </a:solidFill>
              </a:rPr>
              <a:t>• NHS: Seasonal affective disorder (nhs.uk/conditions/seasonal-affective-disorder-sad)</a:t>
            </a:r>
          </a:p>
          <a:p>
            <a:pPr>
              <a:spcBef>
                <a:spcPts val="400"/>
              </a:spcBef>
            </a:pPr>
            <a:r>
              <a:rPr sz="1400">
                <a:solidFill>
                  <a:srgbClr val="F0F0F0"/>
                </a:solidFill>
              </a:rPr>
              <a:t>• Seasonal Affective Disorder Association: sada.org.uk</a:t>
            </a:r>
          </a:p>
          <a:p>
            <a:pPr>
              <a:spcBef>
                <a:spcPts val="400"/>
              </a:spcBef>
            </a:pPr>
            <a:r>
              <a:rPr sz="1400">
                <a:solidFill>
                  <a:srgbClr val="F0F0F0"/>
                </a:solidFill>
              </a:rPr>
              <a:t>• Samaritans: 116 123 (free, 24/7)</a:t>
            </a:r>
          </a:p>
        </p:txBody>
      </p:sp>
      <p:sp>
        <p:nvSpPr>
          <p:cNvPr id="8" name="TextBox 7"/>
          <p:cNvSpPr txBox="1"/>
          <p:nvPr/>
        </p:nvSpPr>
        <p:spPr>
          <a:xfrm>
            <a:off x="457200" y="4000000"/>
            <a:ext cx="8229600" cy="365760"/>
          </a:xfrm>
          <a:prstGeom prst="rect">
            <a:avLst/>
          </a:prstGeom>
          <a:noFill/>
        </p:spPr>
        <p:txBody>
          <a:bodyPr wrap="square">
            <a:spAutoFit/>
          </a:bodyPr>
          <a:lstStyle/>
          <a:p>
            <a:pPr algn="l"/>
            <a:r>
              <a:rPr sz="1800" b="1" i="0">
                <a:solidFill>
                  <a:srgbClr val="FF6B00"/>
                </a:solidFill>
              </a:rPr>
              <a:t>Crisis Support</a:t>
            </a:r>
          </a:p>
        </p:txBody>
      </p:sp>
      <p:sp>
        <p:nvSpPr>
          <p:cNvPr id="9" name="TextBox 8"/>
          <p:cNvSpPr txBox="1"/>
          <p:nvPr/>
        </p:nvSpPr>
        <p:spPr>
          <a:xfrm>
            <a:off x="457200" y="4450000"/>
            <a:ext cx="8229600" cy="1800000"/>
          </a:xfrm>
          <a:prstGeom prst="rect">
            <a:avLst/>
          </a:prstGeom>
          <a:noFill/>
        </p:spPr>
        <p:txBody>
          <a:bodyPr wrap="square">
            <a:spAutoFit/>
          </a:bodyPr>
          <a:lstStyle/>
          <a:p>
            <a:pPr>
              <a:spcBef>
                <a:spcPts val="400"/>
              </a:spcBef>
            </a:pPr>
            <a:r>
              <a:rPr sz="1300">
                <a:solidFill>
                  <a:srgbClr val="AAAAAA"/>
                </a:solidFill>
              </a:rPr>
              <a:t>• Emergency: 999</a:t>
            </a:r>
          </a:p>
          <a:p>
            <a:pPr>
              <a:spcBef>
                <a:spcPts val="400"/>
              </a:spcBef>
            </a:pPr>
            <a:r>
              <a:rPr sz="1300">
                <a:solidFill>
                  <a:srgbClr val="AAAAAA"/>
                </a:solidFill>
              </a:rPr>
              <a:t>• NHS 111: 24/7 urgent mental health support</a:t>
            </a:r>
          </a:p>
          <a:p>
            <a:pPr>
              <a:spcBef>
                <a:spcPts val="400"/>
              </a:spcBef>
            </a:pPr>
            <a:r>
              <a:rPr sz="1300">
                <a:solidFill>
                  <a:srgbClr val="AAAAAA"/>
                </a:solidFill>
              </a:rPr>
              <a:t>• Samaritans: 116 123 (free, 24/7)</a:t>
            </a:r>
          </a:p>
          <a:p>
            <a:pPr>
              <a:spcBef>
                <a:spcPts val="400"/>
              </a:spcBef>
            </a:pPr>
            <a:r>
              <a:rPr sz="1300">
                <a:solidFill>
                  <a:srgbClr val="AAAAAA"/>
                </a:solidFill>
              </a:rPr>
              <a:t>• Shout Crisis Text: Text SHOUT to 85258</a:t>
            </a:r>
          </a:p>
          <a:p>
            <a:pPr>
              <a:spcBef>
                <a:spcPts val="400"/>
              </a:spcBef>
            </a:pPr>
            <a:r>
              <a:rPr sz="1300">
                <a:solidFill>
                  <a:srgbClr val="AAAAAA"/>
                </a:solidFill>
              </a:rPr>
              <a:t>• Wiltshire Crisis Line: 0800 953 0110 (24/7)</a:t>
            </a:r>
          </a:p>
          <a:p>
            <a:pPr>
              <a:spcBef>
                <a:spcPts val="400"/>
              </a:spcBef>
            </a:pPr>
            <a:r>
              <a:rPr sz="1300">
                <a:solidFill>
                  <a:srgbClr val="AAAAAA"/>
                </a:solidFill>
              </a:rPr>
              <a:t>• PAPYRUS (under 35): 0800 068 4141</a:t>
            </a:r>
          </a:p>
        </p:txBody>
      </p:sp>
      <p:sp>
        <p:nvSpPr>
          <p:cNvPr id="10" name="TextBox 9"/>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Rectangle 3"/>
          <p:cNvSpPr/>
          <p:nvPr/>
        </p:nvSpPr>
        <p:spPr>
          <a:xfrm>
            <a:off x="0" y="0"/>
            <a:ext cx="9144000" cy="182880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0000"/>
            <a:ext cx="7589520" cy="640080"/>
          </a:xfrm>
          <a:prstGeom prst="rect">
            <a:avLst/>
          </a:prstGeom>
          <a:noFill/>
        </p:spPr>
        <p:txBody>
          <a:bodyPr wrap="square">
            <a:spAutoFit/>
          </a:bodyPr>
          <a:lstStyle/>
          <a:p>
            <a:pPr algn="l"/>
            <a:r>
              <a:rPr sz="3400" b="1" i="0">
                <a:solidFill>
                  <a:srgbClr val="1A1A1A"/>
                </a:solidFill>
              </a:rPr>
              <a:t>Module 13 Complete</a:t>
            </a:r>
          </a:p>
        </p:txBody>
      </p:sp>
      <p:sp>
        <p:nvSpPr>
          <p:cNvPr id="6" name="TextBox 5"/>
          <p:cNvSpPr txBox="1"/>
          <p:nvPr/>
        </p:nvSpPr>
        <p:spPr>
          <a:xfrm>
            <a:off x="457200" y="700000"/>
            <a:ext cx="7589520" cy="640080"/>
          </a:xfrm>
          <a:prstGeom prst="rect">
            <a:avLst/>
          </a:prstGeom>
          <a:noFill/>
        </p:spPr>
        <p:txBody>
          <a:bodyPr wrap="square">
            <a:spAutoFit/>
          </a:bodyPr>
          <a:lstStyle/>
          <a:p>
            <a:pPr algn="l"/>
            <a:r>
              <a:rPr sz="2000" b="0" i="0">
                <a:solidFill>
                  <a:srgbClr val="1A1A1A"/>
                </a:solidFill>
              </a:rPr>
              <a:t>Mood Disorders: Seasonal and Persistent Depressive Disorders</a:t>
            </a:r>
          </a:p>
        </p:txBody>
      </p:sp>
      <p:sp>
        <p:nvSpPr>
          <p:cNvPr id="7" name="TextBox 6"/>
          <p:cNvSpPr txBox="1"/>
          <p:nvPr/>
        </p:nvSpPr>
        <p:spPr>
          <a:xfrm>
            <a:off x="457200" y="2100000"/>
            <a:ext cx="8229600" cy="3200000"/>
          </a:xfrm>
          <a:prstGeom prst="rect">
            <a:avLst/>
          </a:prstGeom>
          <a:noFill/>
        </p:spPr>
        <p:txBody>
          <a:bodyPr wrap="square">
            <a:spAutoFit/>
          </a:bodyPr>
          <a:lstStyle/>
          <a:p>
            <a:pPr>
              <a:spcBef>
                <a:spcPts val="400"/>
              </a:spcBef>
            </a:pPr>
            <a:r>
              <a:rPr sz="1700">
                <a:solidFill>
                  <a:srgbClr val="F0F0F0"/>
                </a:solidFill>
              </a:rPr>
              <a:t>• You have completed Module 13: Mood Disorders: Seasonal and Persistent Depressive Disorders</a:t>
            </a:r>
          </a:p>
          <a:p>
            <a:pPr>
              <a:spcBef>
                <a:spcPts val="400"/>
              </a:spcBef>
            </a:pPr>
            <a:r>
              <a:rPr sz="1700">
                <a:solidFill>
                  <a:srgbClr val="F0F0F0"/>
                </a:solidFill>
              </a:rPr>
              <a:t>• Key concepts and evidence-based strategies have been explored</a:t>
            </a:r>
          </a:p>
          <a:p>
            <a:pPr>
              <a:spcBef>
                <a:spcPts val="400"/>
              </a:spcBef>
            </a:pPr>
            <a:r>
              <a:rPr sz="1700">
                <a:solidFill>
                  <a:srgbClr val="F0F0F0"/>
                </a:solidFill>
              </a:rPr>
              <a:t>• Please complete the post-session reflection form</a:t>
            </a:r>
          </a:p>
          <a:p>
            <a:pPr>
              <a:spcBef>
                <a:spcPts val="400"/>
              </a:spcBef>
            </a:pPr>
            <a:r>
              <a:rPr sz="1700">
                <a:solidFill>
                  <a:srgbClr val="F0F0F0"/>
                </a:solidFill>
              </a:rPr>
              <a:t>• Access course materials and handouts in the Members Portal</a:t>
            </a:r>
          </a:p>
          <a:p>
            <a:pPr>
              <a:spcBef>
                <a:spcPts val="400"/>
              </a:spcBef>
            </a:pPr>
            <a:r>
              <a:rPr sz="1700">
                <a:solidFill>
                  <a:srgbClr val="F0F0F0"/>
                </a:solidFill>
              </a:rPr>
              <a:t>• Our next session builds on today's learning</a:t>
            </a:r>
          </a:p>
        </p:txBody>
      </p:sp>
      <p:sp>
        <p:nvSpPr>
          <p:cNvPr id="8" name="TextBox 7"/>
          <p:cNvSpPr txBox="1"/>
          <p:nvPr/>
        </p:nvSpPr>
        <p:spPr>
          <a:xfrm>
            <a:off x="457200" y="5958000"/>
            <a:ext cx="8229600" cy="457200"/>
          </a:xfrm>
          <a:prstGeom prst="rect">
            <a:avLst/>
          </a:prstGeom>
          <a:noFill/>
        </p:spPr>
        <p:txBody>
          <a:bodyPr wrap="square">
            <a:spAutoFit/>
          </a:bodyPr>
          <a:lstStyle/>
          <a:p>
            <a:pPr algn="ctr"/>
            <a:r>
              <a:rPr sz="1300" b="0" i="0">
                <a:solidFill>
                  <a:srgbClr val="AAAAAA"/>
                </a:solidFill>
              </a:rPr>
              <a:t>melksham-mentalhealth.us  |  Melksham-mental-health@outlook.com</a:t>
            </a:r>
          </a:p>
        </p:txBody>
      </p:sp>
      <p:sp>
        <p:nvSpPr>
          <p:cNvPr id="9" name="TextBox 8"/>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